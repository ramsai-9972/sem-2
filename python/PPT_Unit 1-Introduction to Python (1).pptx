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2"/>
  </p:notesMasterIdLst>
  <p:handoutMasterIdLst>
    <p:handoutMasterId r:id="rId83"/>
  </p:handoutMasterIdLst>
  <p:sldIdLst>
    <p:sldId id="256" r:id="rId2"/>
    <p:sldId id="275" r:id="rId3"/>
    <p:sldId id="314" r:id="rId4"/>
    <p:sldId id="258" r:id="rId5"/>
    <p:sldId id="276" r:id="rId6"/>
    <p:sldId id="397" r:id="rId7"/>
    <p:sldId id="398" r:id="rId8"/>
    <p:sldId id="399" r:id="rId9"/>
    <p:sldId id="315" r:id="rId10"/>
    <p:sldId id="317" r:id="rId11"/>
    <p:sldId id="320" r:id="rId12"/>
    <p:sldId id="321" r:id="rId13"/>
    <p:sldId id="325" r:id="rId14"/>
    <p:sldId id="327" r:id="rId15"/>
    <p:sldId id="322" r:id="rId16"/>
    <p:sldId id="328" r:id="rId17"/>
    <p:sldId id="333" r:id="rId18"/>
    <p:sldId id="335" r:id="rId19"/>
    <p:sldId id="336" r:id="rId20"/>
    <p:sldId id="337" r:id="rId21"/>
    <p:sldId id="330" r:id="rId22"/>
    <p:sldId id="339" r:id="rId23"/>
    <p:sldId id="340" r:id="rId24"/>
    <p:sldId id="341" r:id="rId25"/>
    <p:sldId id="343" r:id="rId26"/>
    <p:sldId id="344" r:id="rId27"/>
    <p:sldId id="347" r:id="rId28"/>
    <p:sldId id="348" r:id="rId29"/>
    <p:sldId id="349" r:id="rId30"/>
    <p:sldId id="392" r:id="rId31"/>
    <p:sldId id="350" r:id="rId32"/>
    <p:sldId id="351" r:id="rId33"/>
    <p:sldId id="353" r:id="rId34"/>
    <p:sldId id="354" r:id="rId35"/>
    <p:sldId id="356" r:id="rId36"/>
    <p:sldId id="400" r:id="rId37"/>
    <p:sldId id="355" r:id="rId38"/>
    <p:sldId id="357" r:id="rId39"/>
    <p:sldId id="393" r:id="rId40"/>
    <p:sldId id="394" r:id="rId41"/>
    <p:sldId id="395" r:id="rId42"/>
    <p:sldId id="396" r:id="rId43"/>
    <p:sldId id="390" r:id="rId44"/>
    <p:sldId id="391" r:id="rId45"/>
    <p:sldId id="358" r:id="rId46"/>
    <p:sldId id="359" r:id="rId47"/>
    <p:sldId id="402" r:id="rId48"/>
    <p:sldId id="403" r:id="rId49"/>
    <p:sldId id="401" r:id="rId50"/>
    <p:sldId id="404" r:id="rId51"/>
    <p:sldId id="405" r:id="rId52"/>
    <p:sldId id="406" r:id="rId53"/>
    <p:sldId id="360" r:id="rId54"/>
    <p:sldId id="361" r:id="rId55"/>
    <p:sldId id="362" r:id="rId56"/>
    <p:sldId id="363" r:id="rId57"/>
    <p:sldId id="364" r:id="rId58"/>
    <p:sldId id="365" r:id="rId59"/>
    <p:sldId id="366" r:id="rId60"/>
    <p:sldId id="367" r:id="rId61"/>
    <p:sldId id="368" r:id="rId62"/>
    <p:sldId id="369" r:id="rId63"/>
    <p:sldId id="370" r:id="rId64"/>
    <p:sldId id="371" r:id="rId65"/>
    <p:sldId id="372" r:id="rId66"/>
    <p:sldId id="373" r:id="rId67"/>
    <p:sldId id="374" r:id="rId68"/>
    <p:sldId id="375" r:id="rId69"/>
    <p:sldId id="376" r:id="rId70"/>
    <p:sldId id="377" r:id="rId71"/>
    <p:sldId id="378" r:id="rId72"/>
    <p:sldId id="379" r:id="rId73"/>
    <p:sldId id="380" r:id="rId74"/>
    <p:sldId id="381" r:id="rId75"/>
    <p:sldId id="382" r:id="rId76"/>
    <p:sldId id="383" r:id="rId77"/>
    <p:sldId id="384" r:id="rId78"/>
    <p:sldId id="385" r:id="rId79"/>
    <p:sldId id="386" r:id="rId80"/>
    <p:sldId id="272" r:id="rId8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73" autoAdjust="0"/>
    <p:restoredTop sz="93634" autoAdjust="0"/>
  </p:normalViewPr>
  <p:slideViewPr>
    <p:cSldViewPr snapToGrid="0">
      <p:cViewPr varScale="1">
        <p:scale>
          <a:sx n="64" d="100"/>
          <a:sy n="64" d="100"/>
        </p:scale>
        <p:origin x="1168" y="48"/>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91" d="100"/>
          <a:sy n="91" d="100"/>
        </p:scale>
        <p:origin x="3750" y="10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1EDE6AC-9ACF-4929-B820-39B657DA30CA}" type="datetimeFigureOut">
              <a:rPr lang="en-IN" smtClean="0"/>
              <a:t>23-01-2026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76649FB-1A5C-4ADE-AC4E-C740F5198A2A}" type="slidenum">
              <a:rPr lang="en-IN" smtClean="0"/>
              <a:t>‹#›</a:t>
            </a:fld>
            <a:endParaRPr lang="en-IN"/>
          </a:p>
        </p:txBody>
      </p:sp>
    </p:spTree>
    <p:extLst>
      <p:ext uri="{BB962C8B-B14F-4D97-AF65-F5344CB8AC3E}">
        <p14:creationId xmlns:p14="http://schemas.microsoft.com/office/powerpoint/2010/main" val="2015040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B90AC0-D5C3-AD43-91A3-7D18C836627E}" type="datetimeFigureOut">
              <a:rPr lang="en-US" smtClean="0"/>
              <a:t>1/23/2026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2E4CE2-CEC8-754E-B21E-2BD547D16516}" type="slidenum">
              <a:rPr lang="en-US" smtClean="0"/>
              <a:t>‹#›</a:t>
            </a:fld>
            <a:endParaRPr lang="en-US"/>
          </a:p>
        </p:txBody>
      </p:sp>
    </p:spTree>
    <p:extLst>
      <p:ext uri="{BB962C8B-B14F-4D97-AF65-F5344CB8AC3E}">
        <p14:creationId xmlns:p14="http://schemas.microsoft.com/office/powerpoint/2010/main" val="3183492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D2E4CE2-CEC8-754E-B21E-2BD547D16516}" type="slidenum">
              <a:rPr lang="en-US" smtClean="0"/>
              <a:t>10</a:t>
            </a:fld>
            <a:endParaRPr lang="en-US"/>
          </a:p>
        </p:txBody>
      </p:sp>
    </p:spTree>
    <p:extLst>
      <p:ext uri="{BB962C8B-B14F-4D97-AF65-F5344CB8AC3E}">
        <p14:creationId xmlns:p14="http://schemas.microsoft.com/office/powerpoint/2010/main" val="33985993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object 3"/>
          <p:cNvSpPr/>
          <p:nvPr userDrawn="1"/>
        </p:nvSpPr>
        <p:spPr>
          <a:xfrm>
            <a:off x="4" y="1955845"/>
            <a:ext cx="9143999" cy="1935817"/>
          </a:xfrm>
          <a:custGeom>
            <a:avLst/>
            <a:gdLst/>
            <a:ahLst/>
            <a:cxnLst/>
            <a:rect l="l" t="t" r="r" b="b"/>
            <a:pathLst>
              <a:path w="7556500" h="2628900">
                <a:moveTo>
                  <a:pt x="0" y="2628900"/>
                </a:moveTo>
                <a:lnTo>
                  <a:pt x="0" y="0"/>
                </a:lnTo>
                <a:lnTo>
                  <a:pt x="7556500" y="0"/>
                </a:lnTo>
                <a:lnTo>
                  <a:pt x="7556500" y="2628900"/>
                </a:lnTo>
                <a:lnTo>
                  <a:pt x="0" y="2628900"/>
                </a:lnTo>
                <a:close/>
              </a:path>
            </a:pathLst>
          </a:custGeom>
          <a:solidFill>
            <a:srgbClr val="1F487C"/>
          </a:solidFill>
        </p:spPr>
        <p:txBody>
          <a:bodyPr wrap="square" lIns="0" tIns="0" rIns="0" bIns="0" rtlCol="0"/>
          <a:lstStyle/>
          <a:p>
            <a:endParaRPr sz="865"/>
          </a:p>
        </p:txBody>
      </p:sp>
      <p:sp>
        <p:nvSpPr>
          <p:cNvPr id="9" name="Rectangle 8"/>
          <p:cNvSpPr/>
          <p:nvPr userDrawn="1"/>
        </p:nvSpPr>
        <p:spPr>
          <a:xfrm>
            <a:off x="603478" y="2256535"/>
            <a:ext cx="7887578" cy="1338828"/>
          </a:xfrm>
          <a:prstGeom prst="rect">
            <a:avLst/>
          </a:prstGeom>
        </p:spPr>
        <p:txBody>
          <a:bodyPr wrap="square">
            <a:spAutoFit/>
          </a:bodyPr>
          <a:lstStyle/>
          <a:p>
            <a:pPr algn="ctr"/>
            <a:r>
              <a:rPr lang="en-US" sz="4050" b="1" dirty="0">
                <a:solidFill>
                  <a:srgbClr val="FFFFFF"/>
                </a:solidFill>
                <a:latin typeface="Calibri" panose="020F0502020204030204" pitchFamily="34" charset="0"/>
                <a:ea typeface="Calibri" panose="020F0502020204030204" pitchFamily="34" charset="0"/>
                <a:cs typeface="Times New Roman" panose="02020603050405020304" pitchFamily="18" charset="0"/>
              </a:rPr>
              <a:t>Introduction &amp;</a:t>
            </a:r>
            <a:r>
              <a:rPr lang="en-US" sz="4050" dirty="0">
                <a:latin typeface="Calibri" panose="020F0502020204030204" pitchFamily="34" charset="0"/>
                <a:ea typeface="Calibri" panose="020F0502020204030204" pitchFamily="34" charset="0"/>
                <a:cs typeface="Times New Roman" panose="02020603050405020304" pitchFamily="18" charset="0"/>
              </a:rPr>
              <a:t> </a:t>
            </a:r>
            <a:r>
              <a:rPr lang="en-US" sz="4050" b="1" dirty="0">
                <a:solidFill>
                  <a:srgbClr val="FFFFFF"/>
                </a:solidFill>
                <a:latin typeface="Calibri" panose="020F0502020204030204" pitchFamily="34" charset="0"/>
                <a:ea typeface="Calibri" panose="020F0502020204030204" pitchFamily="34" charset="0"/>
                <a:cs typeface="Times New Roman" panose="02020603050405020304" pitchFamily="18" charset="0"/>
              </a:rPr>
              <a:t>Programming with </a:t>
            </a:r>
            <a:br>
              <a:rPr lang="en-US" sz="4050" b="1" dirty="0">
                <a:solidFill>
                  <a:srgbClr val="FFFFFF"/>
                </a:solidFill>
                <a:latin typeface="Calibri" panose="020F0502020204030204" pitchFamily="34" charset="0"/>
                <a:ea typeface="Calibri" panose="020F0502020204030204" pitchFamily="34" charset="0"/>
                <a:cs typeface="Times New Roman" panose="02020603050405020304" pitchFamily="18" charset="0"/>
              </a:rPr>
            </a:br>
            <a:r>
              <a:rPr lang="en-US" sz="4050" b="1" dirty="0">
                <a:solidFill>
                  <a:srgbClr val="FFFFFF"/>
                </a:solidFill>
                <a:latin typeface="Calibri" panose="020F0502020204030204" pitchFamily="34" charset="0"/>
                <a:ea typeface="Calibri" panose="020F0502020204030204" pitchFamily="34" charset="0"/>
                <a:cs typeface="Times New Roman" panose="02020603050405020304" pitchFamily="18" charset="0"/>
              </a:rPr>
              <a:t>ESP8266</a:t>
            </a:r>
            <a:endParaRPr lang="en-US" sz="405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2755" y="250378"/>
            <a:ext cx="8438496" cy="695162"/>
          </a:xfrm>
          <a:prstGeom prst="rect">
            <a:avLst/>
          </a:prstGeom>
        </p:spPr>
      </p:pic>
    </p:spTree>
    <p:extLst>
      <p:ext uri="{BB962C8B-B14F-4D97-AF65-F5344CB8AC3E}">
        <p14:creationId xmlns:p14="http://schemas.microsoft.com/office/powerpoint/2010/main" val="2040585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dex Layout">
    <p:spTree>
      <p:nvGrpSpPr>
        <p:cNvPr id="1" name=""/>
        <p:cNvGrpSpPr/>
        <p:nvPr/>
      </p:nvGrpSpPr>
      <p:grpSpPr>
        <a:xfrm>
          <a:off x="0" y="0"/>
          <a:ext cx="0" cy="0"/>
          <a:chOff x="0" y="0"/>
          <a:chExt cx="0" cy="0"/>
        </a:xfrm>
      </p:grpSpPr>
      <p:grpSp>
        <p:nvGrpSpPr>
          <p:cNvPr id="3" name="object 10"/>
          <p:cNvGrpSpPr/>
          <p:nvPr userDrawn="1"/>
        </p:nvGrpSpPr>
        <p:grpSpPr>
          <a:xfrm>
            <a:off x="445191" y="0"/>
            <a:ext cx="8698811" cy="6857999"/>
            <a:chOff x="-4801433" y="-1782234"/>
            <a:chExt cx="18084927" cy="14257864"/>
          </a:xfrm>
        </p:grpSpPr>
        <p:sp>
          <p:nvSpPr>
            <p:cNvPr id="4" name="object 11"/>
            <p:cNvSpPr/>
            <p:nvPr/>
          </p:nvSpPr>
          <p:spPr>
            <a:xfrm>
              <a:off x="-4801433" y="1790698"/>
              <a:ext cx="12600815" cy="983098"/>
            </a:xfrm>
            <a:custGeom>
              <a:avLst/>
              <a:gdLst/>
              <a:ahLst/>
              <a:cxnLst/>
              <a:rect l="l" t="t" r="r" b="b"/>
              <a:pathLst>
                <a:path w="4610100" h="660400">
                  <a:moveTo>
                    <a:pt x="0" y="660400"/>
                  </a:moveTo>
                  <a:lnTo>
                    <a:pt x="4610100" y="660400"/>
                  </a:lnTo>
                  <a:lnTo>
                    <a:pt x="4610100" y="0"/>
                  </a:lnTo>
                  <a:lnTo>
                    <a:pt x="0" y="0"/>
                  </a:lnTo>
                  <a:lnTo>
                    <a:pt x="0" y="660400"/>
                  </a:lnTo>
                  <a:close/>
                </a:path>
              </a:pathLst>
            </a:custGeom>
            <a:solidFill>
              <a:srgbClr val="646464"/>
            </a:solidFill>
          </p:spPr>
          <p:txBody>
            <a:bodyPr wrap="square" lIns="0" tIns="0" rIns="0" bIns="0" rtlCol="0"/>
            <a:lstStyle/>
            <a:p>
              <a:endParaRPr sz="865"/>
            </a:p>
          </p:txBody>
        </p:sp>
        <p:sp>
          <p:nvSpPr>
            <p:cNvPr id="5" name="object 12"/>
            <p:cNvSpPr/>
            <p:nvPr/>
          </p:nvSpPr>
          <p:spPr>
            <a:xfrm>
              <a:off x="8339276" y="-1782234"/>
              <a:ext cx="4944218" cy="14257864"/>
            </a:xfrm>
            <a:custGeom>
              <a:avLst/>
              <a:gdLst/>
              <a:ahLst/>
              <a:cxnLst/>
              <a:rect l="l" t="t" r="r" b="b"/>
              <a:pathLst>
                <a:path w="2387600" h="10693400">
                  <a:moveTo>
                    <a:pt x="0" y="0"/>
                  </a:moveTo>
                  <a:lnTo>
                    <a:pt x="2387600" y="0"/>
                  </a:lnTo>
                  <a:lnTo>
                    <a:pt x="2387600" y="10693400"/>
                  </a:lnTo>
                  <a:lnTo>
                    <a:pt x="0" y="10693400"/>
                  </a:lnTo>
                  <a:lnTo>
                    <a:pt x="0" y="0"/>
                  </a:lnTo>
                  <a:close/>
                </a:path>
              </a:pathLst>
            </a:custGeom>
            <a:solidFill>
              <a:srgbClr val="1F487C"/>
            </a:solidFill>
          </p:spPr>
          <p:txBody>
            <a:bodyPr wrap="square" lIns="0" tIns="0" rIns="0" bIns="0" rtlCol="0"/>
            <a:lstStyle/>
            <a:p>
              <a:endParaRPr sz="865"/>
            </a:p>
          </p:txBody>
        </p:sp>
      </p:grpSp>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645166" y="253736"/>
            <a:ext cx="2161851" cy="863775"/>
          </a:xfrm>
          <a:prstGeom prst="rect">
            <a:avLst/>
          </a:prstGeom>
        </p:spPr>
      </p:pic>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52755" y="253736"/>
            <a:ext cx="4597617" cy="691804"/>
          </a:xfrm>
          <a:prstGeom prst="rect">
            <a:avLst/>
          </a:prstGeom>
        </p:spPr>
      </p:pic>
    </p:spTree>
    <p:extLst>
      <p:ext uri="{BB962C8B-B14F-4D97-AF65-F5344CB8AC3E}">
        <p14:creationId xmlns:p14="http://schemas.microsoft.com/office/powerpoint/2010/main" val="361731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Layout">
    <p:spTree>
      <p:nvGrpSpPr>
        <p:cNvPr id="1" name=""/>
        <p:cNvGrpSpPr/>
        <p:nvPr/>
      </p:nvGrpSpPr>
      <p:grpSpPr>
        <a:xfrm>
          <a:off x="0" y="0"/>
          <a:ext cx="0" cy="0"/>
          <a:chOff x="0" y="0"/>
          <a:chExt cx="0" cy="0"/>
        </a:xfrm>
      </p:grpSpPr>
      <p:sp>
        <p:nvSpPr>
          <p:cNvPr id="3" name="object 3"/>
          <p:cNvSpPr/>
          <p:nvPr userDrawn="1"/>
        </p:nvSpPr>
        <p:spPr>
          <a:xfrm>
            <a:off x="1" y="6493764"/>
            <a:ext cx="9143999" cy="419100"/>
          </a:xfrm>
          <a:custGeom>
            <a:avLst/>
            <a:gdLst/>
            <a:ahLst/>
            <a:cxnLst/>
            <a:rect l="l" t="t" r="r" b="b"/>
            <a:pathLst>
              <a:path w="7556500" h="393700">
                <a:moveTo>
                  <a:pt x="7556500" y="0"/>
                </a:moveTo>
                <a:lnTo>
                  <a:pt x="0" y="0"/>
                </a:lnTo>
                <a:lnTo>
                  <a:pt x="0" y="393700"/>
                </a:lnTo>
                <a:lnTo>
                  <a:pt x="7556500" y="393700"/>
                </a:lnTo>
                <a:lnTo>
                  <a:pt x="7556500" y="0"/>
                </a:lnTo>
                <a:close/>
              </a:path>
            </a:pathLst>
          </a:custGeom>
          <a:solidFill>
            <a:srgbClr val="1F487C"/>
          </a:solidFill>
        </p:spPr>
        <p:txBody>
          <a:bodyPr wrap="square" lIns="0" tIns="0" rIns="0" bIns="0" rtlCol="0"/>
          <a:lstStyle/>
          <a:p>
            <a:endParaRPr sz="865"/>
          </a:p>
        </p:txBody>
      </p:sp>
      <p:sp>
        <p:nvSpPr>
          <p:cNvPr id="6" name="Rectangle 5"/>
          <p:cNvSpPr/>
          <p:nvPr userDrawn="1"/>
        </p:nvSpPr>
        <p:spPr>
          <a:xfrm>
            <a:off x="344873" y="3245670"/>
            <a:ext cx="2761065" cy="403059"/>
          </a:xfrm>
          <a:prstGeom prst="rect">
            <a:avLst/>
          </a:prstGeom>
        </p:spPr>
        <p:txBody>
          <a:bodyPr wrap="square">
            <a:spAutoFit/>
          </a:bodyPr>
          <a:lstStyle/>
          <a:p>
            <a:r>
              <a:rPr lang="en-US" sz="1154" b="1" dirty="0"/>
              <a:t> </a:t>
            </a:r>
            <a:r>
              <a:rPr lang="en-US" sz="865" dirty="0"/>
              <a:t/>
            </a:r>
            <a:br>
              <a:rPr lang="en-US" sz="865" dirty="0"/>
            </a:br>
            <a:endParaRPr lang="en-US" sz="865"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2755" y="250378"/>
            <a:ext cx="8438496" cy="695162"/>
          </a:xfrm>
          <a:prstGeom prst="rect">
            <a:avLst/>
          </a:prstGeom>
        </p:spPr>
      </p:pic>
    </p:spTree>
    <p:extLst>
      <p:ext uri="{BB962C8B-B14F-4D97-AF65-F5344CB8AC3E}">
        <p14:creationId xmlns:p14="http://schemas.microsoft.com/office/powerpoint/2010/main" val="16523353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ndslide Layout">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563911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object 3"/>
          <p:cNvSpPr/>
          <p:nvPr userDrawn="1"/>
        </p:nvSpPr>
        <p:spPr>
          <a:xfrm>
            <a:off x="1" y="6493764"/>
            <a:ext cx="9143999" cy="419100"/>
          </a:xfrm>
          <a:custGeom>
            <a:avLst/>
            <a:gdLst/>
            <a:ahLst/>
            <a:cxnLst/>
            <a:rect l="l" t="t" r="r" b="b"/>
            <a:pathLst>
              <a:path w="7556500" h="393700">
                <a:moveTo>
                  <a:pt x="7556500" y="0"/>
                </a:moveTo>
                <a:lnTo>
                  <a:pt x="0" y="0"/>
                </a:lnTo>
                <a:lnTo>
                  <a:pt x="0" y="393700"/>
                </a:lnTo>
                <a:lnTo>
                  <a:pt x="7556500" y="393700"/>
                </a:lnTo>
                <a:lnTo>
                  <a:pt x="7556500" y="0"/>
                </a:lnTo>
                <a:close/>
              </a:path>
            </a:pathLst>
          </a:custGeom>
          <a:solidFill>
            <a:srgbClr val="1F487C"/>
          </a:solidFill>
        </p:spPr>
        <p:txBody>
          <a:bodyPr wrap="square" lIns="0" tIns="0" rIns="0" bIns="0" rtlCol="0"/>
          <a:lstStyle/>
          <a:p>
            <a:endParaRPr sz="865"/>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2755" y="250378"/>
            <a:ext cx="8438496" cy="695162"/>
          </a:xfrm>
          <a:prstGeom prst="rect">
            <a:avLst/>
          </a:prstGeom>
        </p:spPr>
      </p:pic>
    </p:spTree>
    <p:extLst>
      <p:ext uri="{BB962C8B-B14F-4D97-AF65-F5344CB8AC3E}">
        <p14:creationId xmlns:p14="http://schemas.microsoft.com/office/powerpoint/2010/main" val="257217958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934578"/>
            <a:ext cx="7886700" cy="117800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2249992"/>
            <a:ext cx="7886700" cy="4095629"/>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02655420"/>
      </p:ext>
    </p:extLst>
  </p:cSld>
  <p:clrMap bg1="lt1" tx1="dk1" bg2="lt2" tx2="dk2" accent1="accent1" accent2="accent2" accent3="accent3" accent4="accent4" accent5="accent5" accent6="accent6" hlink="hlink" folHlink="folHlink"/>
  <p:sldLayoutIdLst>
    <p:sldLayoutId id="2147483661" r:id="rId1"/>
    <p:sldLayoutId id="2147483672" r:id="rId2"/>
    <p:sldLayoutId id="2147483673" r:id="rId3"/>
    <p:sldLayoutId id="2147483674" r:id="rId4"/>
    <p:sldLayoutId id="2147483662"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hyperlink" Target="https://www.geeksforgeeks.org/python/indentation-in-python/" TargetMode="External"/><Relationship Id="rId2" Type="http://schemas.openxmlformats.org/officeDocument/2006/relationships/hyperlink" Target="https://www.geeksforgeeks.org/python/what-is-python-interpreter/" TargetMode="Externa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hyperlink" Target="https://www.geeksforgeeks.org/python/python-comments/" TargetMode="Externa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hyperlink" Target="https://www.w3schools.com/python/python_operators_arithmetic.asp" TargetMode="Externa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www.w3schools.com/python/python_operators_arithmetic.asp" TargetMode="External"/><Relationship Id="rId1" Type="http://schemas.openxmlformats.org/officeDocument/2006/relationships/slideLayout" Target="../slideLayouts/slideLayout5.xml"/><Relationship Id="rId4" Type="http://schemas.openxmlformats.org/officeDocument/2006/relationships/image" Target="../media/image34.png"/></Relationships>
</file>

<file path=ppt/slides/_rels/slide5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4" y="1955845"/>
            <a:ext cx="9143999" cy="1935817"/>
          </a:xfrm>
          <a:custGeom>
            <a:avLst/>
            <a:gdLst/>
            <a:ahLst/>
            <a:cxnLst/>
            <a:rect l="l" t="t" r="r" b="b"/>
            <a:pathLst>
              <a:path w="7556500" h="2628900">
                <a:moveTo>
                  <a:pt x="0" y="2628900"/>
                </a:moveTo>
                <a:lnTo>
                  <a:pt x="0" y="0"/>
                </a:lnTo>
                <a:lnTo>
                  <a:pt x="7556500" y="0"/>
                </a:lnTo>
                <a:lnTo>
                  <a:pt x="7556500" y="2628900"/>
                </a:lnTo>
                <a:lnTo>
                  <a:pt x="0" y="2628900"/>
                </a:lnTo>
                <a:close/>
              </a:path>
            </a:pathLst>
          </a:custGeom>
          <a:solidFill>
            <a:srgbClr val="1F487C"/>
          </a:solidFill>
        </p:spPr>
        <p:txBody>
          <a:bodyPr wrap="square" lIns="0" tIns="0" rIns="0" bIns="0" rtlCol="0"/>
          <a:lstStyle/>
          <a:p>
            <a:endParaRPr lang="en-IN" sz="865"/>
          </a:p>
        </p:txBody>
      </p:sp>
      <p:sp>
        <p:nvSpPr>
          <p:cNvPr id="5" name="Rectangle 4"/>
          <p:cNvSpPr/>
          <p:nvPr/>
        </p:nvSpPr>
        <p:spPr>
          <a:xfrm>
            <a:off x="603478" y="2256535"/>
            <a:ext cx="7887578" cy="1446550"/>
          </a:xfrm>
          <a:prstGeom prst="rect">
            <a:avLst/>
          </a:prstGeom>
        </p:spPr>
        <p:txBody>
          <a:bodyPr wrap="square">
            <a:spAutoFit/>
          </a:bodyPr>
          <a:lstStyle/>
          <a:p>
            <a:pPr algn="ctr">
              <a:spcBef>
                <a:spcPct val="0"/>
              </a:spcBef>
              <a:buFontTx/>
              <a:buNone/>
            </a:pPr>
            <a:r>
              <a:rPr lang="en-IN" sz="4400" b="1" dirty="0">
                <a:solidFill>
                  <a:schemeClr val="bg1"/>
                </a:solidFill>
                <a:latin typeface="Arial" panose="020B0604020202020204" pitchFamily="34" charset="0"/>
              </a:rPr>
              <a:t>UNIT 1</a:t>
            </a:r>
          </a:p>
          <a:p>
            <a:pPr algn="ctr">
              <a:spcBef>
                <a:spcPct val="0"/>
              </a:spcBef>
              <a:buFontTx/>
              <a:buNone/>
            </a:pPr>
            <a:r>
              <a:rPr lang="en-IN" sz="4400" b="1" dirty="0">
                <a:solidFill>
                  <a:schemeClr val="bg1"/>
                </a:solidFill>
                <a:latin typeface="Arial" panose="020B0604020202020204" pitchFamily="34" charset="0"/>
              </a:rPr>
              <a:t>Introduction to Python</a:t>
            </a:r>
            <a:endParaRPr lang="en-IN" altLang="en-US" sz="4400" b="1" dirty="0">
              <a:solidFill>
                <a:schemeClr val="bg1"/>
              </a:solidFill>
              <a:latin typeface="Arial" panose="020B0604020202020204" pitchFamily="34" charset="0"/>
            </a:endParaRPr>
          </a:p>
        </p:txBody>
      </p:sp>
      <p:sp>
        <p:nvSpPr>
          <p:cNvPr id="7" name="Rectangle 6"/>
          <p:cNvSpPr/>
          <p:nvPr/>
        </p:nvSpPr>
        <p:spPr>
          <a:xfrm>
            <a:off x="342741" y="5601409"/>
            <a:ext cx="3832829" cy="1015663"/>
          </a:xfrm>
          <a:prstGeom prst="rect">
            <a:avLst/>
          </a:prstGeom>
        </p:spPr>
        <p:txBody>
          <a:bodyPr wrap="square">
            <a:spAutoFit/>
          </a:bodyPr>
          <a:lstStyle/>
          <a:p>
            <a:r>
              <a:rPr lang="en-US" sz="2700" b="1" dirty="0">
                <a:latin typeface="Calibri" panose="020F0502020204030204" pitchFamily="34" charset="0"/>
                <a:ea typeface="Calibri" panose="020F0502020204030204" pitchFamily="34" charset="0"/>
                <a:cs typeface="Times New Roman" panose="02020603050405020304" pitchFamily="18" charset="0"/>
              </a:rPr>
              <a:t>Prof. </a:t>
            </a:r>
            <a:r>
              <a:rPr lang="en-US" sz="2700" b="1" dirty="0" err="1">
                <a:latin typeface="Calibri" panose="020F0502020204030204" pitchFamily="34" charset="0"/>
                <a:ea typeface="Calibri" panose="020F0502020204030204" pitchFamily="34" charset="0"/>
                <a:cs typeface="Times New Roman" panose="02020603050405020304" pitchFamily="18" charset="0"/>
              </a:rPr>
              <a:t>Sheekha</a:t>
            </a:r>
            <a:r>
              <a:rPr lang="en-US" sz="2700" b="1" dirty="0">
                <a:latin typeface="Calibri" panose="020F0502020204030204" pitchFamily="34" charset="0"/>
                <a:ea typeface="Calibri" panose="020F0502020204030204" pitchFamily="34" charset="0"/>
                <a:cs typeface="Times New Roman" panose="02020603050405020304" pitchFamily="18" charset="0"/>
              </a:rPr>
              <a:t> Raina</a:t>
            </a:r>
            <a:r>
              <a:rPr lang="en-US" sz="1058" b="1" dirty="0">
                <a:latin typeface="Calibri" panose="020F0502020204030204" pitchFamily="34" charset="0"/>
                <a:ea typeface="Calibri" panose="020F0502020204030204" pitchFamily="34" charset="0"/>
                <a:cs typeface="Times New Roman" panose="02020603050405020304" pitchFamily="18" charset="0"/>
              </a:rPr>
              <a:t/>
            </a:r>
            <a:br>
              <a:rPr lang="en-US" sz="1058" b="1" dirty="0">
                <a:latin typeface="Calibri" panose="020F0502020204030204" pitchFamily="34" charset="0"/>
                <a:ea typeface="Calibri" panose="020F0502020204030204" pitchFamily="34" charset="0"/>
                <a:cs typeface="Times New Roman" panose="02020603050405020304" pitchFamily="18" charset="0"/>
              </a:rPr>
            </a:br>
            <a:r>
              <a:rPr lang="en-US" b="1" dirty="0">
                <a:latin typeface="Calibri" panose="020F0502020204030204" pitchFamily="34" charset="0"/>
                <a:ea typeface="Calibri" panose="020F0502020204030204" pitchFamily="34" charset="0"/>
                <a:cs typeface="Times New Roman" panose="02020603050405020304" pitchFamily="18" charset="0"/>
              </a:rPr>
              <a:t>Assistant Professor</a:t>
            </a:r>
            <a:endParaRPr lang="en-US" dirty="0">
              <a:latin typeface="Calibri" panose="020F0502020204030204" pitchFamily="34" charset="0"/>
              <a:ea typeface="Calibri" panose="020F0502020204030204" pitchFamily="34" charset="0"/>
              <a:cs typeface="Times New Roman" panose="02020603050405020304" pitchFamily="18" charset="0"/>
            </a:endParaRPr>
          </a:p>
          <a:p>
            <a:r>
              <a:rPr lang="en-US" sz="1500" b="1" dirty="0">
                <a:latin typeface="Calibri" panose="020F0502020204030204" pitchFamily="34" charset="0"/>
                <a:ea typeface="Calibri" panose="020F0502020204030204" pitchFamily="34" charset="0"/>
                <a:cs typeface="Times New Roman" panose="02020603050405020304" pitchFamily="18" charset="0"/>
              </a:rPr>
              <a:t>AI&amp;ML Department</a:t>
            </a:r>
            <a:endParaRPr lang="en-US" sz="15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66123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DDD1C7-30A8-6F0B-4F00-4DF1E563DD59}"/>
              </a:ext>
            </a:extLst>
          </p:cNvPr>
          <p:cNvSpPr txBox="1"/>
          <p:nvPr/>
        </p:nvSpPr>
        <p:spPr>
          <a:xfrm>
            <a:off x="509733" y="1758619"/>
            <a:ext cx="6074228" cy="2308324"/>
          </a:xfrm>
          <a:prstGeom prst="rect">
            <a:avLst/>
          </a:prstGeom>
          <a:noFill/>
        </p:spPr>
        <p:txBody>
          <a:bodyPr wrap="square">
            <a:spAutoFit/>
          </a:bodyPr>
          <a:lstStyle/>
          <a:p>
            <a:r>
              <a:rPr lang="en-US" b="1" dirty="0">
                <a:solidFill>
                  <a:schemeClr val="bg1"/>
                </a:solidFill>
              </a:rPr>
              <a:t>Content </a:t>
            </a:r>
          </a:p>
          <a:p>
            <a:endParaRPr lang="en-US" dirty="0"/>
          </a:p>
          <a:p>
            <a:endParaRPr lang="en-US" dirty="0"/>
          </a:p>
          <a:p>
            <a:endParaRPr lang="en-US" dirty="0"/>
          </a:p>
          <a:p>
            <a:endParaRPr lang="en-US" dirty="0"/>
          </a:p>
          <a:p>
            <a:endParaRPr lang="en-US" dirty="0"/>
          </a:p>
          <a:p>
            <a:endParaRPr lang="en-US" dirty="0"/>
          </a:p>
          <a:p>
            <a:endParaRPr lang="en-US" dirty="0"/>
          </a:p>
        </p:txBody>
      </p:sp>
      <p:sp>
        <p:nvSpPr>
          <p:cNvPr id="3" name="TextBox 2">
            <a:extLst>
              <a:ext uri="{FF2B5EF4-FFF2-40B4-BE49-F238E27FC236}">
                <a16:creationId xmlns:a16="http://schemas.microsoft.com/office/drawing/2014/main" id="{8697572B-F8CF-05D5-088E-D3A64E833EAC}"/>
              </a:ext>
            </a:extLst>
          </p:cNvPr>
          <p:cNvSpPr txBox="1"/>
          <p:nvPr/>
        </p:nvSpPr>
        <p:spPr>
          <a:xfrm>
            <a:off x="509733" y="2189506"/>
            <a:ext cx="5908000" cy="3416320"/>
          </a:xfrm>
          <a:prstGeom prst="rect">
            <a:avLst/>
          </a:prstGeom>
          <a:noFill/>
        </p:spPr>
        <p:txBody>
          <a:bodyPr wrap="square">
            <a:spAutoFit/>
          </a:bodyPr>
          <a:lstStyle/>
          <a:p>
            <a:pPr marL="342900" indent="-342900">
              <a:buFontTx/>
              <a:buAutoNum type="arabicPeriod"/>
              <a:defRPr/>
            </a:pPr>
            <a:r>
              <a:rPr lang="en-US" sz="2400" dirty="0">
                <a:solidFill>
                  <a:schemeClr val="dk1"/>
                </a:solidFill>
                <a:ea typeface="Calibri"/>
                <a:cs typeface="Calibri"/>
                <a:sym typeface="Arial"/>
              </a:rPr>
              <a:t>Introduction…………………………………………4</a:t>
            </a:r>
          </a:p>
          <a:p>
            <a:pPr>
              <a:defRPr/>
            </a:pPr>
            <a:r>
              <a:rPr lang="en-US" sz="2400" dirty="0">
                <a:solidFill>
                  <a:schemeClr val="dk1"/>
                </a:solidFill>
                <a:ea typeface="Calibri"/>
                <a:cs typeface="Calibri"/>
                <a:sym typeface="Arial"/>
              </a:rPr>
              <a:t>2. </a:t>
            </a:r>
            <a:r>
              <a:rPr lang="en-US" sz="2400" dirty="0"/>
              <a:t>History and features of Python</a:t>
            </a:r>
            <a:r>
              <a:rPr lang="en-US" sz="2400" dirty="0">
                <a:solidFill>
                  <a:schemeClr val="dk1"/>
                </a:solidFill>
                <a:ea typeface="Calibri"/>
                <a:cs typeface="Calibri"/>
                <a:sym typeface="Arial"/>
              </a:rPr>
              <a:t>……….…….7</a:t>
            </a:r>
          </a:p>
          <a:p>
            <a:pPr>
              <a:defRPr/>
            </a:pPr>
            <a:r>
              <a:rPr lang="en-US" sz="2400" dirty="0">
                <a:solidFill>
                  <a:schemeClr val="dk1"/>
                </a:solidFill>
                <a:ea typeface="Calibri"/>
                <a:cs typeface="Calibri"/>
                <a:sym typeface="Arial"/>
              </a:rPr>
              <a:t>3. </a:t>
            </a:r>
            <a:r>
              <a:rPr lang="en-IN" sz="2400" dirty="0"/>
              <a:t>Installation and execution environment</a:t>
            </a:r>
            <a:r>
              <a:rPr lang="en-US" sz="2400" dirty="0">
                <a:solidFill>
                  <a:schemeClr val="dk1"/>
                </a:solidFill>
                <a:ea typeface="Calibri"/>
                <a:cs typeface="Calibri"/>
                <a:sym typeface="Arial"/>
              </a:rPr>
              <a:t>.26</a:t>
            </a:r>
          </a:p>
          <a:p>
            <a:pPr>
              <a:defRPr/>
            </a:pPr>
            <a:r>
              <a:rPr lang="en-US" sz="2400" dirty="0">
                <a:solidFill>
                  <a:schemeClr val="dk1"/>
                </a:solidFill>
                <a:ea typeface="Calibri"/>
                <a:cs typeface="Calibri"/>
                <a:sym typeface="Arial"/>
              </a:rPr>
              <a:t>4. </a:t>
            </a:r>
            <a:r>
              <a:rPr lang="en-IN" sz="2400" dirty="0"/>
              <a:t>Python syntax and semantics</a:t>
            </a:r>
            <a:r>
              <a:rPr lang="en-US" sz="2400" dirty="0">
                <a:solidFill>
                  <a:schemeClr val="dk1"/>
                </a:solidFill>
                <a:ea typeface="Calibri"/>
                <a:cs typeface="Calibri"/>
                <a:sym typeface="Arial"/>
              </a:rPr>
              <a:t>……………...27</a:t>
            </a:r>
          </a:p>
          <a:p>
            <a:pPr>
              <a:defRPr/>
            </a:pPr>
            <a:r>
              <a:rPr lang="en-US" sz="2400" dirty="0">
                <a:solidFill>
                  <a:schemeClr val="dk1"/>
                </a:solidFill>
                <a:ea typeface="Calibri"/>
                <a:cs typeface="Calibri"/>
                <a:sym typeface="Arial"/>
              </a:rPr>
              <a:t>5.</a:t>
            </a:r>
            <a:r>
              <a:rPr lang="en-IN" sz="2400" dirty="0"/>
              <a:t> Variables, identifiers, keywords…………..36 6. Input/output functions and </a:t>
            </a:r>
            <a:r>
              <a:rPr lang="en-US" sz="2400" dirty="0"/>
              <a:t>Type conversions …………………..</a:t>
            </a:r>
            <a:r>
              <a:rPr lang="en-IN" sz="2400" dirty="0"/>
              <a:t>……………………….40</a:t>
            </a:r>
          </a:p>
          <a:p>
            <a:pPr>
              <a:defRPr/>
            </a:pPr>
            <a:r>
              <a:rPr lang="en-IN" sz="2400" dirty="0"/>
              <a:t>7. </a:t>
            </a:r>
            <a:r>
              <a:rPr lang="en-US" sz="2400" dirty="0"/>
              <a:t>Data types </a:t>
            </a:r>
            <a:r>
              <a:rPr lang="en-IN" sz="2400" dirty="0"/>
              <a:t>……….</a:t>
            </a:r>
            <a:r>
              <a:rPr lang="en-US" sz="2400" dirty="0">
                <a:solidFill>
                  <a:schemeClr val="dk1"/>
                </a:solidFill>
                <a:ea typeface="Calibri"/>
                <a:cs typeface="Calibri"/>
                <a:sym typeface="Arial"/>
              </a:rPr>
              <a:t>………………………...........43</a:t>
            </a:r>
          </a:p>
          <a:p>
            <a:pPr>
              <a:defRPr/>
            </a:pPr>
            <a:r>
              <a:rPr lang="en-US" sz="2400" dirty="0">
                <a:solidFill>
                  <a:schemeClr val="dk1"/>
                </a:solidFill>
                <a:ea typeface="Calibri"/>
                <a:cs typeface="Calibri"/>
                <a:sym typeface="Arial"/>
              </a:rPr>
              <a:t>8. </a:t>
            </a:r>
            <a:r>
              <a:rPr lang="en-IN" sz="2400" dirty="0"/>
              <a:t>Operators and expressions</a:t>
            </a:r>
            <a:r>
              <a:rPr lang="en-US" sz="2400" dirty="0">
                <a:solidFill>
                  <a:schemeClr val="dk1"/>
                </a:solidFill>
                <a:ea typeface="Calibri"/>
                <a:cs typeface="Calibri"/>
                <a:sym typeface="Arial"/>
              </a:rPr>
              <a:t>………………....69</a:t>
            </a:r>
          </a:p>
        </p:txBody>
      </p:sp>
    </p:spTree>
    <p:extLst>
      <p:ext uri="{BB962C8B-B14F-4D97-AF65-F5344CB8AC3E}">
        <p14:creationId xmlns:p14="http://schemas.microsoft.com/office/powerpoint/2010/main" val="22788355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78EE8-1B62-9AB3-1253-B37BF4EC9FC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0A29069-FA71-5A44-B1FE-C30968FB6146}"/>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E7F1ABA6-0F2D-DC43-5E5B-3F75D4C919E3}"/>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CF82663-57F4-CDEA-D918-ED575434F398}"/>
              </a:ext>
            </a:extLst>
          </p:cNvPr>
          <p:cNvSpPr txBox="1"/>
          <p:nvPr/>
        </p:nvSpPr>
        <p:spPr>
          <a:xfrm>
            <a:off x="446942" y="1131297"/>
            <a:ext cx="8254606" cy="5758628"/>
          </a:xfrm>
          <a:prstGeom prst="rect">
            <a:avLst/>
          </a:prstGeom>
          <a:noFill/>
        </p:spPr>
        <p:txBody>
          <a:bodyPr wrap="square">
            <a:spAutoFit/>
          </a:bodyPr>
          <a:lstStyle/>
          <a:p>
            <a:pPr>
              <a:defRPr/>
            </a:pPr>
            <a:r>
              <a:rPr lang="en-US" sz="2400" b="1" dirty="0">
                <a:solidFill>
                  <a:schemeClr val="dk2"/>
                </a:solidFill>
                <a:latin typeface="Calibri"/>
                <a:ea typeface="Calibri"/>
                <a:cs typeface="Calibri"/>
                <a:sym typeface="Arial"/>
              </a:rPr>
              <a:t>Introduction</a:t>
            </a:r>
            <a:endParaRPr lang="en-US" b="1" dirty="0">
              <a:latin typeface="+mj-lt"/>
              <a:cs typeface="Arial" charset="0"/>
            </a:endParaRPr>
          </a:p>
          <a:p>
            <a:pPr marL="342900" indent="-342900">
              <a:buFont typeface="Wingdings" panose="05000000000000000000" pitchFamily="2" charset="2"/>
              <a:buChar char="Ø"/>
            </a:pPr>
            <a:r>
              <a:rPr lang="en-US" altLang="en-US" sz="2000" dirty="0"/>
              <a:t> </a:t>
            </a:r>
            <a:r>
              <a:rPr lang="en-US" sz="2000" dirty="0"/>
              <a:t>Python is a widely used programming language developed by Guido van Rossum and first released in 1991.</a:t>
            </a:r>
          </a:p>
          <a:p>
            <a:endParaRPr lang="en-US" sz="2000" dirty="0"/>
          </a:p>
          <a:p>
            <a:pPr marL="342900" indent="-342900">
              <a:buFont typeface="Wingdings" panose="05000000000000000000" pitchFamily="2" charset="2"/>
              <a:buChar char="Ø"/>
            </a:pPr>
            <a:r>
              <a:rPr lang="en-US" sz="2000" dirty="0"/>
              <a:t> It is commonly applied in areas such as:</a:t>
            </a:r>
          </a:p>
          <a:p>
            <a:pPr marL="800100" lvl="1" indent="-342900">
              <a:buFont typeface="Arial" panose="020B0604020202020204" pitchFamily="34" charset="0"/>
              <a:buChar char="•"/>
            </a:pPr>
            <a:r>
              <a:rPr lang="en-US" sz="2000" dirty="0"/>
              <a:t>Web development (server-side)</a:t>
            </a:r>
          </a:p>
          <a:p>
            <a:pPr marL="800100" lvl="1" indent="-342900">
              <a:buFont typeface="Arial" panose="020B0604020202020204" pitchFamily="34" charset="0"/>
              <a:buChar char="•"/>
            </a:pPr>
            <a:r>
              <a:rPr lang="en-US" sz="2000" dirty="0"/>
              <a:t>Software development</a:t>
            </a:r>
          </a:p>
          <a:p>
            <a:pPr marL="800100" lvl="1" indent="-342900">
              <a:buFont typeface="Arial" panose="020B0604020202020204" pitchFamily="34" charset="0"/>
              <a:buChar char="•"/>
            </a:pPr>
            <a:r>
              <a:rPr lang="en-US" sz="2000" dirty="0"/>
              <a:t>Mathematical computing</a:t>
            </a:r>
          </a:p>
          <a:p>
            <a:pPr marL="800100" lvl="1" indent="-342900">
              <a:buFont typeface="Arial" panose="020B0604020202020204" pitchFamily="34" charset="0"/>
              <a:buChar char="•"/>
            </a:pPr>
            <a:r>
              <a:rPr lang="en-US" sz="2000" dirty="0"/>
              <a:t>System scripting</a:t>
            </a:r>
          </a:p>
          <a:p>
            <a:pPr lvl="1"/>
            <a:endParaRPr lang="en-US" sz="2000" dirty="0"/>
          </a:p>
          <a:p>
            <a:pPr marL="800100" lvl="1" indent="-342900">
              <a:buFont typeface="Wingdings" panose="05000000000000000000" pitchFamily="2" charset="2"/>
              <a:buChar char="Ø"/>
            </a:pPr>
            <a:r>
              <a:rPr lang="en-US" sz="2000" b="1" dirty="0"/>
              <a:t>Web Development (Server-side):</a:t>
            </a:r>
            <a:r>
              <a:rPr lang="en-US" sz="2000" dirty="0"/>
              <a:t/>
            </a:r>
            <a:br>
              <a:rPr lang="en-US" sz="2000" dirty="0"/>
            </a:br>
            <a:r>
              <a:rPr lang="en-US" sz="2000" dirty="0"/>
              <a:t>Python is used to build the backend of websites and web applications. Frameworks like Django and Flask help developers handle tasks such as database management, user authentication, and server logic efficiently.</a:t>
            </a:r>
          </a:p>
          <a:p>
            <a:pPr marL="800100" lvl="1" indent="-342900">
              <a:buFont typeface="Arial" panose="020B0604020202020204" pitchFamily="34" charset="0"/>
              <a:buChar char="•"/>
            </a:pPr>
            <a:endParaRPr lang="en-US" sz="2000" dirty="0"/>
          </a:p>
          <a:p>
            <a:pPr marL="800100" lvl="1" indent="-342900">
              <a:buFont typeface="Arial" panose="020B0604020202020204" pitchFamily="34" charset="0"/>
              <a:buChar char="•"/>
            </a:pPr>
            <a:endParaRPr lang="en-US" sz="2000" dirty="0"/>
          </a:p>
          <a:p>
            <a:pPr>
              <a:lnSpc>
                <a:spcPct val="150000"/>
              </a:lnSpc>
              <a:buFont typeface="Wingdings" panose="05000000000000000000" pitchFamily="2" charset="2"/>
              <a:buChar char="Ø"/>
            </a:pPr>
            <a:endParaRPr lang="en-US" sz="1800" b="1" dirty="0">
              <a:latin typeface="+mj-lt"/>
              <a:cs typeface="Arial" charset="0"/>
            </a:endParaRPr>
          </a:p>
        </p:txBody>
      </p:sp>
    </p:spTree>
    <p:extLst>
      <p:ext uri="{BB962C8B-B14F-4D97-AF65-F5344CB8AC3E}">
        <p14:creationId xmlns:p14="http://schemas.microsoft.com/office/powerpoint/2010/main" val="26028445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841BF07-270E-3FC8-75B1-2D53AB4B9C77}"/>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09A18779-497E-00F7-5755-744714C678A6}"/>
              </a:ext>
            </a:extLst>
          </p:cNvPr>
          <p:cNvSpPr txBox="1"/>
          <p:nvPr/>
        </p:nvSpPr>
        <p:spPr>
          <a:xfrm>
            <a:off x="446942" y="1131297"/>
            <a:ext cx="8254606" cy="5450851"/>
          </a:xfrm>
          <a:prstGeom prst="rect">
            <a:avLst/>
          </a:prstGeom>
          <a:noFill/>
        </p:spPr>
        <p:txBody>
          <a:bodyPr wrap="square">
            <a:spAutoFit/>
          </a:bodyPr>
          <a:lstStyle/>
          <a:p>
            <a:pPr>
              <a:defRPr/>
            </a:pPr>
            <a:r>
              <a:rPr lang="en-US" sz="2400" b="1" dirty="0">
                <a:solidFill>
                  <a:schemeClr val="dk2"/>
                </a:solidFill>
                <a:latin typeface="Calibri"/>
                <a:ea typeface="Calibri"/>
                <a:cs typeface="Calibri"/>
                <a:sym typeface="Arial"/>
              </a:rPr>
              <a:t>Introduction</a:t>
            </a:r>
            <a:endParaRPr lang="en-US" b="1" dirty="0">
              <a:latin typeface="+mj-lt"/>
              <a:cs typeface="Arial" charset="0"/>
            </a:endParaRPr>
          </a:p>
          <a:p>
            <a:pPr marL="342900" indent="-342900">
              <a:buFont typeface="Wingdings" panose="05000000000000000000" pitchFamily="2" charset="2"/>
              <a:buChar char="Ø"/>
            </a:pPr>
            <a:r>
              <a:rPr lang="en-US" altLang="en-US" sz="2000" dirty="0"/>
              <a:t> </a:t>
            </a:r>
            <a:r>
              <a:rPr lang="en-US" sz="2000" b="1" dirty="0"/>
              <a:t>Software Development:</a:t>
            </a:r>
            <a:r>
              <a:rPr lang="en-US" sz="2000" dirty="0"/>
              <a:t/>
            </a:r>
            <a:br>
              <a:rPr lang="en-US" sz="2000" dirty="0"/>
            </a:br>
            <a:r>
              <a:rPr lang="en-US" sz="2000" dirty="0"/>
              <a:t>Python is used to create desktop and standalone software applications. It supports rapid development and testing, making it suitable for building reliable and scalable software solutions.</a:t>
            </a:r>
          </a:p>
          <a:p>
            <a:pPr marL="342900" indent="-342900">
              <a:buFont typeface="Wingdings" panose="05000000000000000000" pitchFamily="2" charset="2"/>
              <a:buChar char="Ø"/>
            </a:pPr>
            <a:endParaRPr lang="en-US" sz="2000" dirty="0"/>
          </a:p>
          <a:p>
            <a:pPr marL="342900" indent="-342900">
              <a:buFont typeface="Wingdings" panose="05000000000000000000" pitchFamily="2" charset="2"/>
              <a:buChar char="Ø"/>
            </a:pPr>
            <a:r>
              <a:rPr lang="en-US" sz="2000" b="1" dirty="0"/>
              <a:t>Mathematical Computing:</a:t>
            </a:r>
            <a:r>
              <a:rPr lang="en-US" sz="2000" dirty="0"/>
              <a:t/>
            </a:r>
            <a:br>
              <a:rPr lang="en-US" sz="2000" dirty="0"/>
            </a:br>
            <a:r>
              <a:rPr lang="en-US" sz="2000" dirty="0"/>
              <a:t>Python is widely used for mathematical calculations, data analysis, and scientific research. Libraries such as NumPy, Pandas, and SciPy help perform complex mathematical operations and data processing.</a:t>
            </a:r>
          </a:p>
          <a:p>
            <a:pPr marL="342900" indent="-342900">
              <a:buFont typeface="Wingdings" panose="05000000000000000000" pitchFamily="2" charset="2"/>
              <a:buChar char="Ø"/>
            </a:pPr>
            <a:endParaRPr lang="en-US" sz="2000" dirty="0"/>
          </a:p>
          <a:p>
            <a:pPr marL="342900" indent="-342900">
              <a:buFont typeface="Wingdings" panose="05000000000000000000" pitchFamily="2" charset="2"/>
              <a:buChar char="Ø"/>
            </a:pPr>
            <a:r>
              <a:rPr lang="en-US" sz="2000" b="1" dirty="0"/>
              <a:t>System Scripting:</a:t>
            </a:r>
            <a:r>
              <a:rPr lang="en-US" sz="2000" dirty="0"/>
              <a:t/>
            </a:r>
            <a:br>
              <a:rPr lang="en-US" sz="2000" dirty="0"/>
            </a:br>
            <a:r>
              <a:rPr lang="en-US" sz="2000" dirty="0"/>
              <a:t>Python is used to automate system-related tasks like file handling, process management, and task scheduling. It helps system administrators save time by automating repetitive operations.</a:t>
            </a:r>
          </a:p>
          <a:p>
            <a:pPr marL="800100" lvl="1" indent="-342900">
              <a:buFont typeface="Arial" panose="020B0604020202020204" pitchFamily="34" charset="0"/>
              <a:buChar char="•"/>
            </a:pPr>
            <a:endParaRPr lang="en-US" sz="2000" dirty="0"/>
          </a:p>
          <a:p>
            <a:pPr>
              <a:lnSpc>
                <a:spcPct val="150000"/>
              </a:lnSpc>
              <a:buFont typeface="Wingdings" panose="05000000000000000000" pitchFamily="2" charset="2"/>
              <a:buChar char="Ø"/>
            </a:pPr>
            <a:endParaRPr lang="en-US" sz="1800" b="1" dirty="0">
              <a:latin typeface="+mj-lt"/>
              <a:cs typeface="Arial" charset="0"/>
            </a:endParaRPr>
          </a:p>
        </p:txBody>
      </p:sp>
    </p:spTree>
    <p:extLst>
      <p:ext uri="{BB962C8B-B14F-4D97-AF65-F5344CB8AC3E}">
        <p14:creationId xmlns:p14="http://schemas.microsoft.com/office/powerpoint/2010/main" val="624708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A6D16-91AB-FB82-1F68-B371C39C363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B98C4A5-2FA6-5E0C-1DDF-BD9CCD0348C7}"/>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38E97BC6-DB81-84B1-0C72-CB3CC3CCEC0E}"/>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C02CB06-173C-9CBE-7611-0FFA9DA57432}"/>
              </a:ext>
            </a:extLst>
          </p:cNvPr>
          <p:cNvSpPr txBox="1"/>
          <p:nvPr/>
        </p:nvSpPr>
        <p:spPr>
          <a:xfrm>
            <a:off x="181475" y="1023575"/>
            <a:ext cx="8795377" cy="5509200"/>
          </a:xfrm>
          <a:prstGeom prst="rect">
            <a:avLst/>
          </a:prstGeom>
          <a:noFill/>
        </p:spPr>
        <p:txBody>
          <a:bodyPr wrap="square">
            <a:spAutoFit/>
          </a:bodyPr>
          <a:lstStyle/>
          <a:p>
            <a:pPr>
              <a:defRPr/>
            </a:pPr>
            <a:r>
              <a:rPr lang="en-US" sz="2400" b="1" dirty="0">
                <a:solidFill>
                  <a:schemeClr val="accent1">
                    <a:lumMod val="50000"/>
                  </a:schemeClr>
                </a:solidFill>
                <a:cs typeface="Arial" charset="0"/>
              </a:rPr>
              <a:t>Key Features of Python Programming Language</a:t>
            </a:r>
          </a:p>
          <a:p>
            <a:pPr>
              <a:defRPr/>
            </a:pPr>
            <a:endParaRPr lang="en-US" sz="2400" b="1" dirty="0">
              <a:solidFill>
                <a:schemeClr val="accent1">
                  <a:lumMod val="50000"/>
                </a:schemeClr>
              </a:solidFill>
              <a:cs typeface="Arial" charset="0"/>
            </a:endParaRPr>
          </a:p>
          <a:p>
            <a:pPr marL="342900" indent="-342900">
              <a:buFont typeface="Wingdings" panose="05000000000000000000" pitchFamily="2" charset="2"/>
              <a:buChar char="Ø"/>
              <a:defRPr/>
            </a:pPr>
            <a:r>
              <a:rPr lang="en-US" sz="2000" dirty="0"/>
              <a:t>Python is a cross-platform programming language that works on Windows, macOS, Linux, Raspberry Pi, and other systems.</a:t>
            </a:r>
          </a:p>
          <a:p>
            <a:pPr>
              <a:defRPr/>
            </a:pPr>
            <a:endParaRPr lang="en-US" sz="2000" dirty="0"/>
          </a:p>
          <a:p>
            <a:pPr marL="342900" indent="-342900">
              <a:buFont typeface="Wingdings" panose="05000000000000000000" pitchFamily="2" charset="2"/>
              <a:buChar char="Ø"/>
              <a:defRPr/>
            </a:pPr>
            <a:r>
              <a:rPr lang="en-US" sz="2000" b="1" dirty="0">
                <a:solidFill>
                  <a:schemeClr val="accent1">
                    <a:lumMod val="50000"/>
                  </a:schemeClr>
                </a:solidFill>
                <a:cs typeface="Arial" charset="0"/>
              </a:rPr>
              <a:t> </a:t>
            </a:r>
            <a:r>
              <a:rPr lang="en-US" sz="2000" dirty="0"/>
              <a:t>It has a simple and easy-to-understand syntax that is similar to the English language.</a:t>
            </a:r>
          </a:p>
          <a:p>
            <a:pPr>
              <a:defRPr/>
            </a:pPr>
            <a:endParaRPr lang="en-US" sz="2000" dirty="0"/>
          </a:p>
          <a:p>
            <a:pPr marL="342900" indent="-342900">
              <a:buFont typeface="Wingdings" panose="05000000000000000000" pitchFamily="2" charset="2"/>
              <a:buChar char="Ø"/>
              <a:defRPr/>
            </a:pPr>
            <a:r>
              <a:rPr lang="en-US" sz="2000" b="1" dirty="0">
                <a:solidFill>
                  <a:schemeClr val="accent1">
                    <a:lumMod val="50000"/>
                  </a:schemeClr>
                </a:solidFill>
                <a:cs typeface="Arial" charset="0"/>
              </a:rPr>
              <a:t> </a:t>
            </a:r>
            <a:r>
              <a:rPr lang="en-US" sz="2000" dirty="0"/>
              <a:t>Python allows developers to write programs using fewer lines of code compared to many other programming languages.</a:t>
            </a:r>
          </a:p>
          <a:p>
            <a:pPr>
              <a:defRPr/>
            </a:pPr>
            <a:endParaRPr lang="en-US" sz="2000" dirty="0"/>
          </a:p>
          <a:p>
            <a:pPr marL="342900" indent="-342900">
              <a:buFont typeface="Wingdings" panose="05000000000000000000" pitchFamily="2" charset="2"/>
              <a:buChar char="Ø"/>
              <a:defRPr/>
            </a:pPr>
            <a:r>
              <a:rPr lang="en-US" sz="2000" b="1" dirty="0">
                <a:solidFill>
                  <a:schemeClr val="accent1">
                    <a:lumMod val="50000"/>
                  </a:schemeClr>
                </a:solidFill>
                <a:cs typeface="Arial" charset="0"/>
              </a:rPr>
              <a:t> </a:t>
            </a:r>
            <a:r>
              <a:rPr lang="en-US" sz="2000" dirty="0"/>
              <a:t>Python is an interpreted language, so code can be executed immediately, making prototyping fast and efficient.</a:t>
            </a:r>
          </a:p>
          <a:p>
            <a:pPr>
              <a:defRPr/>
            </a:pPr>
            <a:endParaRPr lang="en-US" sz="2000" dirty="0"/>
          </a:p>
          <a:p>
            <a:pPr marL="342900" indent="-342900">
              <a:buFont typeface="Wingdings" panose="05000000000000000000" pitchFamily="2" charset="2"/>
              <a:buChar char="Ø"/>
              <a:defRPr/>
            </a:pPr>
            <a:r>
              <a:rPr lang="en-US" sz="2000" b="1" dirty="0">
                <a:solidFill>
                  <a:schemeClr val="accent1">
                    <a:lumMod val="50000"/>
                  </a:schemeClr>
                </a:solidFill>
                <a:cs typeface="Arial" charset="0"/>
              </a:rPr>
              <a:t> </a:t>
            </a:r>
            <a:r>
              <a:rPr lang="en-US" sz="2000" dirty="0"/>
              <a:t>Python supports multiple programming paradigms, including procedural, object-oriented, and functional programming.</a:t>
            </a:r>
            <a:endParaRPr lang="en-US" sz="2000" b="1" dirty="0">
              <a:solidFill>
                <a:schemeClr val="accent1">
                  <a:lumMod val="50000"/>
                </a:schemeClr>
              </a:solidFill>
              <a:cs typeface="Arial" charset="0"/>
            </a:endParaRPr>
          </a:p>
          <a:p>
            <a:pPr>
              <a:defRPr/>
            </a:pPr>
            <a:endParaRPr lang="en-US" sz="2400" b="1" dirty="0">
              <a:solidFill>
                <a:schemeClr val="accent1">
                  <a:lumMod val="50000"/>
                </a:schemeClr>
              </a:solidFill>
              <a:cs typeface="Arial" charset="0"/>
            </a:endParaRPr>
          </a:p>
        </p:txBody>
      </p:sp>
    </p:spTree>
    <p:extLst>
      <p:ext uri="{BB962C8B-B14F-4D97-AF65-F5344CB8AC3E}">
        <p14:creationId xmlns:p14="http://schemas.microsoft.com/office/powerpoint/2010/main" val="15794900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A6D16-91AB-FB82-1F68-B371C39C363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B98C4A5-2FA6-5E0C-1DDF-BD9CCD0348C7}"/>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38E97BC6-DB81-84B1-0C72-CB3CC3CCEC0E}"/>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C02CB06-173C-9CBE-7611-0FFA9DA57432}"/>
              </a:ext>
            </a:extLst>
          </p:cNvPr>
          <p:cNvSpPr txBox="1"/>
          <p:nvPr/>
        </p:nvSpPr>
        <p:spPr>
          <a:xfrm>
            <a:off x="181475" y="1023575"/>
            <a:ext cx="8795377" cy="1200329"/>
          </a:xfrm>
          <a:prstGeom prst="rect">
            <a:avLst/>
          </a:prstGeom>
          <a:noFill/>
        </p:spPr>
        <p:txBody>
          <a:bodyPr wrap="square">
            <a:spAutoFit/>
          </a:bodyPr>
          <a:lstStyle/>
          <a:p>
            <a:pPr>
              <a:defRPr/>
            </a:pPr>
            <a:r>
              <a:rPr lang="en-US" sz="2400" b="1" dirty="0">
                <a:solidFill>
                  <a:schemeClr val="accent1">
                    <a:lumMod val="50000"/>
                  </a:schemeClr>
                </a:solidFill>
                <a:cs typeface="Arial" charset="0"/>
              </a:rPr>
              <a:t>Key Features of Python Programming Language</a:t>
            </a:r>
          </a:p>
          <a:p>
            <a:pPr>
              <a:defRPr/>
            </a:pPr>
            <a:endParaRPr lang="en-US" sz="2400" b="1" dirty="0">
              <a:solidFill>
                <a:schemeClr val="accent1">
                  <a:lumMod val="50000"/>
                </a:schemeClr>
              </a:solidFill>
              <a:cs typeface="Arial" charset="0"/>
            </a:endParaRPr>
          </a:p>
          <a:p>
            <a:pPr>
              <a:defRPr/>
            </a:pPr>
            <a:endParaRPr lang="en-US" sz="2400" b="1" dirty="0">
              <a:solidFill>
                <a:schemeClr val="accent1">
                  <a:lumMod val="50000"/>
                </a:schemeClr>
              </a:solidFill>
              <a:cs typeface="Arial" charset="0"/>
            </a:endParaRPr>
          </a:p>
        </p:txBody>
      </p:sp>
      <p:sp>
        <p:nvSpPr>
          <p:cNvPr id="2" name="Rectangle 1"/>
          <p:cNvSpPr>
            <a:spLocks noChangeArrowheads="1"/>
          </p:cNvSpPr>
          <p:nvPr/>
        </p:nvSpPr>
        <p:spPr bwMode="auto">
          <a:xfrm>
            <a:off x="446942" y="1823795"/>
            <a:ext cx="3937488"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chemeClr val="tx1"/>
                </a:solidFill>
                <a:effectLst/>
                <a:latin typeface="Arial" panose="020B0604020202020204" pitchFamily="34" charset="0"/>
              </a:rPr>
              <a:t>Example 1: Print “Hello World”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chemeClr val="tx1"/>
                </a:solidFill>
                <a:effectLst/>
                <a:latin typeface="Arial" panose="020B0604020202020204" pitchFamily="34" charset="0"/>
              </a:rPr>
              <a:t>C Program</a:t>
            </a:r>
            <a:endParaRPr kumimoji="0" lang="en-US" altLang="en-US" sz="2000" b="0" i="0" u="none" strike="noStrike" cap="none" normalizeH="0" baseline="0" dirty="0" smtClean="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latin typeface="Arial Unicode MS"/>
              </a:rPr>
              <a:t>#include &lt;</a:t>
            </a:r>
            <a:r>
              <a:rPr kumimoji="0" lang="en-US" altLang="en-US" sz="2000" b="0" i="0" u="none" strike="noStrike" cap="none" normalizeH="0" baseline="0" dirty="0" err="1" smtClean="0">
                <a:ln>
                  <a:noFill/>
                </a:ln>
                <a:solidFill>
                  <a:schemeClr val="tx1"/>
                </a:solidFill>
                <a:effectLst/>
                <a:latin typeface="Arial Unicode MS"/>
              </a:rPr>
              <a:t>stdio.h</a:t>
            </a:r>
            <a:r>
              <a:rPr kumimoji="0" lang="en-US" altLang="en-US" sz="2000" b="0" i="0" u="none" strike="noStrike" cap="none" normalizeH="0" baseline="0" dirty="0" smtClean="0">
                <a:ln>
                  <a:noFill/>
                </a:ln>
                <a:solidFill>
                  <a:schemeClr val="tx1"/>
                </a:solidFill>
                <a:effectLst/>
                <a:latin typeface="Arial Unicode MS"/>
              </a:rPr>
              <a:t>&gt;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smtClean="0">
                <a:ln>
                  <a:noFill/>
                </a:ln>
                <a:solidFill>
                  <a:schemeClr val="tx1"/>
                </a:solidFill>
                <a:effectLst/>
                <a:latin typeface="Arial Unicode MS"/>
              </a:rPr>
              <a:t>int</a:t>
            </a:r>
            <a:r>
              <a:rPr kumimoji="0" lang="en-US" altLang="en-US" sz="2000" b="0" i="0" u="none" strike="noStrike" cap="none" normalizeH="0" baseline="0" dirty="0" smtClean="0">
                <a:ln>
                  <a:noFill/>
                </a:ln>
                <a:solidFill>
                  <a:schemeClr val="tx1"/>
                </a:solidFill>
                <a:effectLst/>
                <a:latin typeface="Arial Unicode MS"/>
              </a:rPr>
              <a:t> main()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latin typeface="Arial Unicode MS"/>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smtClean="0">
                <a:ln>
                  <a:noFill/>
                </a:ln>
                <a:solidFill>
                  <a:schemeClr val="tx1"/>
                </a:solidFill>
                <a:effectLst/>
                <a:latin typeface="Arial Unicode MS"/>
              </a:rPr>
              <a:t>printf</a:t>
            </a:r>
            <a:r>
              <a:rPr kumimoji="0" lang="en-US" altLang="en-US" sz="2000" b="0" i="0" u="none" strike="noStrike" cap="none" normalizeH="0" baseline="0" dirty="0" smtClean="0">
                <a:ln>
                  <a:noFill/>
                </a:ln>
                <a:solidFill>
                  <a:schemeClr val="tx1"/>
                </a:solidFill>
                <a:effectLst/>
                <a:latin typeface="Arial Unicode MS"/>
              </a:rPr>
              <a:t>("Hello World");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latin typeface="Arial Unicode MS"/>
              </a:rPr>
              <a:t>return 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latin typeface="Arial Unicode MS"/>
              </a:rPr>
              <a:t> }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smtClean="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chemeClr val="tx1"/>
                </a:solidFill>
                <a:effectLst/>
                <a:latin typeface="Arial" panose="020B0604020202020204" pitchFamily="34" charset="0"/>
              </a:rPr>
              <a:t>Python Program</a:t>
            </a:r>
            <a:endParaRPr kumimoji="0" lang="en-US" altLang="en-US" sz="2000" b="0" i="0" u="none" strike="noStrike" cap="none" normalizeH="0" baseline="0" dirty="0" smtClean="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chemeClr val="tx1"/>
                </a:solidFill>
                <a:effectLst/>
                <a:latin typeface="Arial Unicode MS"/>
              </a:rPr>
              <a:t>print("Hello World")</a:t>
            </a:r>
            <a:endParaRPr kumimoji="0" lang="en-US" altLang="en-US" sz="2000" b="0" i="0" u="none" strike="noStrike" cap="none" normalizeH="0" baseline="0" dirty="0" smtClean="0">
              <a:ln>
                <a:noFill/>
              </a:ln>
              <a:solidFill>
                <a:schemeClr val="tx1"/>
              </a:solidFill>
              <a:effectLst/>
              <a:latin typeface="Arial" panose="020B0604020202020204" pitchFamily="34" charset="0"/>
            </a:endParaRPr>
          </a:p>
        </p:txBody>
      </p:sp>
      <p:sp>
        <p:nvSpPr>
          <p:cNvPr id="5" name="Rectangle 4"/>
          <p:cNvSpPr/>
          <p:nvPr/>
        </p:nvSpPr>
        <p:spPr>
          <a:xfrm>
            <a:off x="5072507" y="1962293"/>
            <a:ext cx="2379177" cy="1015663"/>
          </a:xfrm>
          <a:prstGeom prst="rect">
            <a:avLst/>
          </a:prstGeom>
        </p:spPr>
        <p:txBody>
          <a:bodyPr wrap="none">
            <a:spAutoFit/>
          </a:bodyPr>
          <a:lstStyle/>
          <a:p>
            <a:pPr marL="342900" indent="-342900">
              <a:buFont typeface="Arial" panose="020B0604020202020204" pitchFamily="34" charset="0"/>
              <a:buChar char="•"/>
            </a:pPr>
            <a:r>
              <a:rPr lang="en-IN" sz="2000" b="1" dirty="0"/>
              <a:t>No header </a:t>
            </a:r>
            <a:r>
              <a:rPr lang="en-IN" sz="2000" b="1" dirty="0" smtClean="0"/>
              <a:t>files</a:t>
            </a:r>
          </a:p>
          <a:p>
            <a:pPr marL="342900" indent="-342900">
              <a:buFont typeface="Arial" panose="020B0604020202020204" pitchFamily="34" charset="0"/>
              <a:buChar char="•"/>
            </a:pPr>
            <a:r>
              <a:rPr lang="en-IN" sz="2000" b="1" dirty="0"/>
              <a:t>No main </a:t>
            </a:r>
            <a:r>
              <a:rPr lang="en-IN" sz="2000" b="1" dirty="0" smtClean="0"/>
              <a:t>function</a:t>
            </a:r>
          </a:p>
          <a:p>
            <a:pPr marL="342900" indent="-342900">
              <a:buFont typeface="Arial" panose="020B0604020202020204" pitchFamily="34" charset="0"/>
              <a:buChar char="•"/>
            </a:pPr>
            <a:r>
              <a:rPr lang="en-IN" sz="2000" b="1" dirty="0"/>
              <a:t>No semicolon</a:t>
            </a:r>
          </a:p>
        </p:txBody>
      </p:sp>
    </p:spTree>
    <p:extLst>
      <p:ext uri="{BB962C8B-B14F-4D97-AF65-F5344CB8AC3E}">
        <p14:creationId xmlns:p14="http://schemas.microsoft.com/office/powerpoint/2010/main" val="1207748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A6D16-91AB-FB82-1F68-B371C39C363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B98C4A5-2FA6-5E0C-1DDF-BD9CCD0348C7}"/>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38E97BC6-DB81-84B1-0C72-CB3CC3CCEC0E}"/>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C02CB06-173C-9CBE-7611-0FFA9DA57432}"/>
              </a:ext>
            </a:extLst>
          </p:cNvPr>
          <p:cNvSpPr txBox="1"/>
          <p:nvPr/>
        </p:nvSpPr>
        <p:spPr>
          <a:xfrm>
            <a:off x="181475" y="1023575"/>
            <a:ext cx="8795377" cy="1200329"/>
          </a:xfrm>
          <a:prstGeom prst="rect">
            <a:avLst/>
          </a:prstGeom>
          <a:noFill/>
        </p:spPr>
        <p:txBody>
          <a:bodyPr wrap="square">
            <a:spAutoFit/>
          </a:bodyPr>
          <a:lstStyle/>
          <a:p>
            <a:pPr>
              <a:defRPr/>
            </a:pPr>
            <a:r>
              <a:rPr lang="en-US" sz="2400" b="1" dirty="0">
                <a:solidFill>
                  <a:schemeClr val="accent1">
                    <a:lumMod val="50000"/>
                  </a:schemeClr>
                </a:solidFill>
                <a:cs typeface="Arial" charset="0"/>
              </a:rPr>
              <a:t>Key Features of Python Programming Language</a:t>
            </a:r>
          </a:p>
          <a:p>
            <a:pPr>
              <a:defRPr/>
            </a:pPr>
            <a:endParaRPr lang="en-US" sz="2400" b="1" dirty="0">
              <a:solidFill>
                <a:schemeClr val="accent1">
                  <a:lumMod val="50000"/>
                </a:schemeClr>
              </a:solidFill>
              <a:cs typeface="Arial" charset="0"/>
            </a:endParaRPr>
          </a:p>
          <a:p>
            <a:pPr>
              <a:defRPr/>
            </a:pPr>
            <a:endParaRPr lang="en-US" sz="2400" b="1" dirty="0">
              <a:solidFill>
                <a:schemeClr val="accent1">
                  <a:lumMod val="50000"/>
                </a:schemeClr>
              </a:solidFill>
              <a:cs typeface="Arial" charset="0"/>
            </a:endParaRPr>
          </a:p>
        </p:txBody>
      </p:sp>
      <p:sp>
        <p:nvSpPr>
          <p:cNvPr id="2" name="Rectangle 1"/>
          <p:cNvSpPr/>
          <p:nvPr/>
        </p:nvSpPr>
        <p:spPr>
          <a:xfrm>
            <a:off x="181475" y="1669906"/>
            <a:ext cx="4572000" cy="2862322"/>
          </a:xfrm>
          <a:prstGeom prst="rect">
            <a:avLst/>
          </a:prstGeom>
        </p:spPr>
        <p:txBody>
          <a:bodyPr>
            <a:spAutoFit/>
          </a:bodyPr>
          <a:lstStyle/>
          <a:p>
            <a:r>
              <a:rPr lang="en-US" b="1" dirty="0" smtClean="0"/>
              <a:t>ADD two Numbers in C</a:t>
            </a:r>
          </a:p>
          <a:p>
            <a:endParaRPr lang="en-US" dirty="0" smtClean="0"/>
          </a:p>
          <a:p>
            <a:r>
              <a:rPr lang="en-US" dirty="0" smtClean="0"/>
              <a:t>#</a:t>
            </a:r>
            <a:r>
              <a:rPr lang="en-US" dirty="0"/>
              <a:t>include &lt;</a:t>
            </a:r>
            <a:r>
              <a:rPr lang="en-US" dirty="0" err="1"/>
              <a:t>stdio.h</a:t>
            </a:r>
            <a:r>
              <a:rPr lang="en-US" dirty="0"/>
              <a:t>&gt;</a:t>
            </a:r>
          </a:p>
          <a:p>
            <a:endParaRPr lang="en-US" dirty="0"/>
          </a:p>
          <a:p>
            <a:r>
              <a:rPr lang="en-US" dirty="0" err="1"/>
              <a:t>int</a:t>
            </a:r>
            <a:r>
              <a:rPr lang="en-US" dirty="0"/>
              <a:t> main() {</a:t>
            </a:r>
          </a:p>
          <a:p>
            <a:r>
              <a:rPr lang="en-US" dirty="0"/>
              <a:t>    </a:t>
            </a:r>
            <a:r>
              <a:rPr lang="en-US" dirty="0" err="1"/>
              <a:t>int</a:t>
            </a:r>
            <a:r>
              <a:rPr lang="en-US" dirty="0"/>
              <a:t> a, b;</a:t>
            </a:r>
          </a:p>
          <a:p>
            <a:r>
              <a:rPr lang="en-US" dirty="0"/>
              <a:t>    </a:t>
            </a:r>
            <a:r>
              <a:rPr lang="en-US" dirty="0" err="1"/>
              <a:t>scanf</a:t>
            </a:r>
            <a:r>
              <a:rPr lang="en-US" dirty="0"/>
              <a:t>("%d %d", &amp;a, &amp;b);</a:t>
            </a:r>
          </a:p>
          <a:p>
            <a:r>
              <a:rPr lang="en-US" dirty="0"/>
              <a:t>    </a:t>
            </a:r>
            <a:r>
              <a:rPr lang="en-US" dirty="0" err="1"/>
              <a:t>printf</a:t>
            </a:r>
            <a:r>
              <a:rPr lang="en-US" dirty="0"/>
              <a:t>("%d", a + b);</a:t>
            </a:r>
          </a:p>
          <a:p>
            <a:r>
              <a:rPr lang="en-US" dirty="0"/>
              <a:t>    return 0;</a:t>
            </a:r>
          </a:p>
          <a:p>
            <a:r>
              <a:rPr lang="en-US" dirty="0"/>
              <a:t>}</a:t>
            </a:r>
            <a:endParaRPr lang="en-IN" dirty="0"/>
          </a:p>
        </p:txBody>
      </p:sp>
      <p:sp>
        <p:nvSpPr>
          <p:cNvPr id="3" name="Rectangle 2"/>
          <p:cNvSpPr/>
          <p:nvPr/>
        </p:nvSpPr>
        <p:spPr>
          <a:xfrm>
            <a:off x="4959626" y="1762240"/>
            <a:ext cx="4572000" cy="1477328"/>
          </a:xfrm>
          <a:prstGeom prst="rect">
            <a:avLst/>
          </a:prstGeom>
        </p:spPr>
        <p:txBody>
          <a:bodyPr>
            <a:spAutoFit/>
          </a:bodyPr>
          <a:lstStyle/>
          <a:p>
            <a:r>
              <a:rPr lang="en-US" b="1" dirty="0"/>
              <a:t>ADD two Numbers in </a:t>
            </a:r>
            <a:r>
              <a:rPr lang="en-US" b="1" dirty="0" smtClean="0"/>
              <a:t>Python</a:t>
            </a:r>
            <a:endParaRPr lang="en-US" b="1" dirty="0"/>
          </a:p>
          <a:p>
            <a:endParaRPr lang="en-US" dirty="0" smtClean="0"/>
          </a:p>
          <a:p>
            <a:r>
              <a:rPr lang="en-US" dirty="0" smtClean="0"/>
              <a:t>a </a:t>
            </a:r>
            <a:r>
              <a:rPr lang="en-US" dirty="0"/>
              <a:t>= </a:t>
            </a:r>
            <a:r>
              <a:rPr lang="en-US" dirty="0" err="1"/>
              <a:t>int</a:t>
            </a:r>
            <a:r>
              <a:rPr lang="en-US" dirty="0"/>
              <a:t>(input())</a:t>
            </a:r>
          </a:p>
          <a:p>
            <a:r>
              <a:rPr lang="en-US" dirty="0"/>
              <a:t>b = </a:t>
            </a:r>
            <a:r>
              <a:rPr lang="en-US" dirty="0" err="1"/>
              <a:t>int</a:t>
            </a:r>
            <a:r>
              <a:rPr lang="en-US" dirty="0"/>
              <a:t>(input())</a:t>
            </a:r>
          </a:p>
          <a:p>
            <a:r>
              <a:rPr lang="en-US" dirty="0"/>
              <a:t>print(a + b)</a:t>
            </a:r>
            <a:endParaRPr lang="en-IN" dirty="0"/>
          </a:p>
        </p:txBody>
      </p:sp>
      <p:sp>
        <p:nvSpPr>
          <p:cNvPr id="5" name="Rectangle 4"/>
          <p:cNvSpPr/>
          <p:nvPr/>
        </p:nvSpPr>
        <p:spPr>
          <a:xfrm>
            <a:off x="4870688" y="3971231"/>
            <a:ext cx="3231013" cy="646331"/>
          </a:xfrm>
          <a:prstGeom prst="rect">
            <a:avLst/>
          </a:prstGeom>
        </p:spPr>
        <p:txBody>
          <a:bodyPr wrap="none">
            <a:spAutoFit/>
          </a:bodyPr>
          <a:lstStyle/>
          <a:p>
            <a:pPr marL="285750" indent="-285750">
              <a:buFont typeface="Arial" panose="020B0604020202020204" pitchFamily="34" charset="0"/>
              <a:buChar char="•"/>
            </a:pPr>
            <a:r>
              <a:rPr lang="en-IN" b="1" dirty="0"/>
              <a:t>No data type </a:t>
            </a:r>
            <a:r>
              <a:rPr lang="en-IN" b="1" dirty="0" smtClean="0"/>
              <a:t>declaration</a:t>
            </a:r>
          </a:p>
          <a:p>
            <a:pPr marL="285750" indent="-285750">
              <a:buFont typeface="Arial" panose="020B0604020202020204" pitchFamily="34" charset="0"/>
              <a:buChar char="•"/>
            </a:pPr>
            <a:r>
              <a:rPr lang="en-US" b="1" dirty="0"/>
              <a:t>Input and output are simpler</a:t>
            </a:r>
            <a:endParaRPr lang="en-IN" b="1" dirty="0"/>
          </a:p>
        </p:txBody>
      </p:sp>
    </p:spTree>
    <p:extLst>
      <p:ext uri="{BB962C8B-B14F-4D97-AF65-F5344CB8AC3E}">
        <p14:creationId xmlns:p14="http://schemas.microsoft.com/office/powerpoint/2010/main" val="12948881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A6D16-91AB-FB82-1F68-B371C39C363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B98C4A5-2FA6-5E0C-1DDF-BD9CCD0348C7}"/>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38E97BC6-DB81-84B1-0C72-CB3CC3CCEC0E}"/>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C02CB06-173C-9CBE-7611-0FFA9DA57432}"/>
              </a:ext>
            </a:extLst>
          </p:cNvPr>
          <p:cNvSpPr txBox="1"/>
          <p:nvPr/>
        </p:nvSpPr>
        <p:spPr>
          <a:xfrm>
            <a:off x="181475" y="1023575"/>
            <a:ext cx="8795377" cy="1200329"/>
          </a:xfrm>
          <a:prstGeom prst="rect">
            <a:avLst/>
          </a:prstGeom>
          <a:noFill/>
        </p:spPr>
        <p:txBody>
          <a:bodyPr wrap="square">
            <a:spAutoFit/>
          </a:bodyPr>
          <a:lstStyle/>
          <a:p>
            <a:pPr>
              <a:defRPr/>
            </a:pPr>
            <a:r>
              <a:rPr lang="en-US" sz="2400" b="1" dirty="0">
                <a:solidFill>
                  <a:schemeClr val="accent1">
                    <a:lumMod val="50000"/>
                  </a:schemeClr>
                </a:solidFill>
                <a:cs typeface="Arial" charset="0"/>
              </a:rPr>
              <a:t>Key Features of Python Programming Language</a:t>
            </a:r>
          </a:p>
          <a:p>
            <a:pPr>
              <a:defRPr/>
            </a:pPr>
            <a:endParaRPr lang="en-US" sz="2400" b="1" dirty="0">
              <a:solidFill>
                <a:schemeClr val="accent1">
                  <a:lumMod val="50000"/>
                </a:schemeClr>
              </a:solidFill>
              <a:cs typeface="Arial" charset="0"/>
            </a:endParaRPr>
          </a:p>
          <a:p>
            <a:pPr>
              <a:defRPr/>
            </a:pPr>
            <a:endParaRPr lang="en-US" sz="2400" b="1" dirty="0">
              <a:solidFill>
                <a:schemeClr val="accent1">
                  <a:lumMod val="50000"/>
                </a:schemeClr>
              </a:solidFill>
              <a:cs typeface="Arial" charset="0"/>
            </a:endParaRPr>
          </a:p>
        </p:txBody>
      </p:sp>
      <p:sp>
        <p:nvSpPr>
          <p:cNvPr id="7" name="Rectangle 6"/>
          <p:cNvSpPr/>
          <p:nvPr/>
        </p:nvSpPr>
        <p:spPr>
          <a:xfrm>
            <a:off x="268998" y="1977682"/>
            <a:ext cx="3842270" cy="1477328"/>
          </a:xfrm>
          <a:prstGeom prst="rect">
            <a:avLst/>
          </a:prstGeom>
        </p:spPr>
        <p:txBody>
          <a:bodyPr wrap="none">
            <a:spAutoFit/>
          </a:bodyPr>
          <a:lstStyle/>
          <a:p>
            <a:r>
              <a:rPr lang="en-IN" b="1" dirty="0"/>
              <a:t>Focus on Indentation (Very Important</a:t>
            </a:r>
            <a:r>
              <a:rPr lang="en-IN" dirty="0" smtClean="0"/>
              <a:t>)</a:t>
            </a:r>
          </a:p>
          <a:p>
            <a:endParaRPr lang="en-US" dirty="0"/>
          </a:p>
          <a:p>
            <a:pPr marL="285750" indent="-285750">
              <a:buFont typeface="Arial" panose="020B0604020202020204" pitchFamily="34" charset="0"/>
              <a:buChar char="•"/>
            </a:pPr>
            <a:r>
              <a:rPr lang="en-US" b="1" dirty="0"/>
              <a:t>No {} in </a:t>
            </a:r>
            <a:r>
              <a:rPr lang="en-US" b="1" dirty="0" smtClean="0"/>
              <a:t>Python</a:t>
            </a:r>
          </a:p>
          <a:p>
            <a:pPr marL="285750" indent="-285750">
              <a:buFont typeface="Arial" panose="020B0604020202020204" pitchFamily="34" charset="0"/>
              <a:buChar char="•"/>
            </a:pPr>
            <a:r>
              <a:rPr lang="en-US" b="1" dirty="0"/>
              <a:t>Indentation defines blocks</a:t>
            </a:r>
            <a:endParaRPr lang="en-US" b="1" dirty="0" smtClean="0"/>
          </a:p>
          <a:p>
            <a:endParaRPr lang="en-IN" dirty="0"/>
          </a:p>
        </p:txBody>
      </p:sp>
      <p:sp>
        <p:nvSpPr>
          <p:cNvPr id="10" name="Rectangle 9"/>
          <p:cNvSpPr/>
          <p:nvPr/>
        </p:nvSpPr>
        <p:spPr>
          <a:xfrm>
            <a:off x="384076" y="3659553"/>
            <a:ext cx="1688924" cy="1200329"/>
          </a:xfrm>
          <a:prstGeom prst="rect">
            <a:avLst/>
          </a:prstGeom>
        </p:spPr>
        <p:txBody>
          <a:bodyPr wrap="none">
            <a:spAutoFit/>
          </a:bodyPr>
          <a:lstStyle/>
          <a:p>
            <a:r>
              <a:rPr lang="en-US" b="1" dirty="0"/>
              <a:t>Bad Python </a:t>
            </a:r>
            <a:r>
              <a:rPr lang="en-US" dirty="0" smtClean="0"/>
              <a:t>❌</a:t>
            </a:r>
          </a:p>
          <a:p>
            <a:endParaRPr lang="en-US" dirty="0"/>
          </a:p>
          <a:p>
            <a:r>
              <a:rPr lang="en-US" dirty="0" smtClean="0"/>
              <a:t>if </a:t>
            </a:r>
            <a:r>
              <a:rPr lang="en-US" dirty="0"/>
              <a:t>x &gt; 0</a:t>
            </a:r>
            <a:r>
              <a:rPr lang="en-US" dirty="0" smtClean="0"/>
              <a:t>:</a:t>
            </a:r>
          </a:p>
          <a:p>
            <a:r>
              <a:rPr lang="en-US" dirty="0" smtClean="0"/>
              <a:t>print</a:t>
            </a:r>
            <a:r>
              <a:rPr lang="en-US" dirty="0"/>
              <a:t>("Positive")</a:t>
            </a:r>
            <a:endParaRPr lang="en-IN" dirty="0"/>
          </a:p>
        </p:txBody>
      </p:sp>
      <p:sp>
        <p:nvSpPr>
          <p:cNvPr id="11" name="Rectangle 10"/>
          <p:cNvSpPr/>
          <p:nvPr/>
        </p:nvSpPr>
        <p:spPr>
          <a:xfrm>
            <a:off x="3985476" y="3637162"/>
            <a:ext cx="2150589" cy="1200329"/>
          </a:xfrm>
          <a:prstGeom prst="rect">
            <a:avLst/>
          </a:prstGeom>
        </p:spPr>
        <p:txBody>
          <a:bodyPr wrap="none">
            <a:spAutoFit/>
          </a:bodyPr>
          <a:lstStyle/>
          <a:p>
            <a:r>
              <a:rPr lang="en-IN" b="1" dirty="0"/>
              <a:t>Correct Python </a:t>
            </a:r>
            <a:r>
              <a:rPr lang="en-IN" b="1" dirty="0" smtClean="0"/>
              <a:t>✅</a:t>
            </a:r>
          </a:p>
          <a:p>
            <a:endParaRPr lang="en-IN" dirty="0" smtClean="0"/>
          </a:p>
          <a:p>
            <a:r>
              <a:rPr lang="en-IN" dirty="0" smtClean="0"/>
              <a:t>if </a:t>
            </a:r>
            <a:r>
              <a:rPr lang="en-IN" dirty="0"/>
              <a:t>x &gt; 0:    </a:t>
            </a:r>
            <a:endParaRPr lang="en-IN" dirty="0" smtClean="0"/>
          </a:p>
          <a:p>
            <a:r>
              <a:rPr lang="en-IN" dirty="0"/>
              <a:t>	</a:t>
            </a:r>
            <a:r>
              <a:rPr lang="en-IN" dirty="0" smtClean="0"/>
              <a:t>print</a:t>
            </a:r>
            <a:r>
              <a:rPr lang="en-IN" dirty="0"/>
              <a:t>("Positive")</a:t>
            </a:r>
          </a:p>
        </p:txBody>
      </p:sp>
    </p:spTree>
    <p:extLst>
      <p:ext uri="{BB962C8B-B14F-4D97-AF65-F5344CB8AC3E}">
        <p14:creationId xmlns:p14="http://schemas.microsoft.com/office/powerpoint/2010/main" val="12311340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0823A-C001-B5C8-1A38-C358D4DBD5E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8D86908-159B-4061-8E10-3D44EAD7B678}"/>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9AC6C82E-654B-E8B0-E8F8-89C21B7DB048}"/>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87A5A31-E929-852F-C468-73F4153E797F}"/>
              </a:ext>
            </a:extLst>
          </p:cNvPr>
          <p:cNvSpPr txBox="1"/>
          <p:nvPr/>
        </p:nvSpPr>
        <p:spPr>
          <a:xfrm>
            <a:off x="181475" y="1023575"/>
            <a:ext cx="8795377" cy="1200329"/>
          </a:xfrm>
          <a:prstGeom prst="rect">
            <a:avLst/>
          </a:prstGeom>
          <a:noFill/>
        </p:spPr>
        <p:txBody>
          <a:bodyPr wrap="square">
            <a:spAutoFit/>
          </a:bodyPr>
          <a:lstStyle/>
          <a:p>
            <a:pPr>
              <a:defRPr/>
            </a:pPr>
            <a:r>
              <a:rPr lang="en-US" sz="2400" b="1" dirty="0">
                <a:solidFill>
                  <a:schemeClr val="accent1">
                    <a:lumMod val="50000"/>
                  </a:schemeClr>
                </a:solidFill>
                <a:cs typeface="Arial" charset="0"/>
              </a:rPr>
              <a:t>History of Programming Language</a:t>
            </a:r>
          </a:p>
          <a:p>
            <a:pPr>
              <a:defRPr/>
            </a:pPr>
            <a:endParaRPr lang="en-US" sz="2400" b="1" dirty="0">
              <a:solidFill>
                <a:schemeClr val="accent1">
                  <a:lumMod val="50000"/>
                </a:schemeClr>
              </a:solidFill>
              <a:cs typeface="Arial" charset="0"/>
            </a:endParaRPr>
          </a:p>
          <a:p>
            <a:pPr>
              <a:defRPr/>
            </a:pPr>
            <a:endParaRPr lang="en-US" sz="2400" b="1" dirty="0">
              <a:solidFill>
                <a:schemeClr val="accent1">
                  <a:lumMod val="50000"/>
                </a:schemeClr>
              </a:solidFill>
              <a:cs typeface="Arial" charset="0"/>
            </a:endParaRPr>
          </a:p>
        </p:txBody>
      </p:sp>
      <p:graphicFrame>
        <p:nvGraphicFramePr>
          <p:cNvPr id="2" name="Table 1">
            <a:extLst>
              <a:ext uri="{FF2B5EF4-FFF2-40B4-BE49-F238E27FC236}">
                <a16:creationId xmlns:a16="http://schemas.microsoft.com/office/drawing/2014/main" id="{EDC44866-8B77-1666-405E-6505496CCF1E}"/>
              </a:ext>
            </a:extLst>
          </p:cNvPr>
          <p:cNvGraphicFramePr>
            <a:graphicFrameLocks noGrp="1"/>
          </p:cNvGraphicFramePr>
          <p:nvPr>
            <p:extLst>
              <p:ext uri="{D42A27DB-BD31-4B8C-83A1-F6EECF244321}">
                <p14:modId xmlns:p14="http://schemas.microsoft.com/office/powerpoint/2010/main" val="353846529"/>
              </p:ext>
            </p:extLst>
          </p:nvPr>
        </p:nvGraphicFramePr>
        <p:xfrm>
          <a:off x="539308" y="1732551"/>
          <a:ext cx="8250116" cy="4717739"/>
        </p:xfrm>
        <a:graphic>
          <a:graphicData uri="http://schemas.openxmlformats.org/drawingml/2006/table">
            <a:tbl>
              <a:tblPr firstRow="1" bandRow="1">
                <a:tableStyleId>{5C22544A-7EE6-4342-B048-85BDC9FD1C3A}</a:tableStyleId>
              </a:tblPr>
              <a:tblGrid>
                <a:gridCol w="1498039">
                  <a:extLst>
                    <a:ext uri="{9D8B030D-6E8A-4147-A177-3AD203B41FA5}">
                      <a16:colId xmlns:a16="http://schemas.microsoft.com/office/drawing/2014/main" val="3898556756"/>
                    </a:ext>
                  </a:extLst>
                </a:gridCol>
                <a:gridCol w="6752077">
                  <a:extLst>
                    <a:ext uri="{9D8B030D-6E8A-4147-A177-3AD203B41FA5}">
                      <a16:colId xmlns:a16="http://schemas.microsoft.com/office/drawing/2014/main" val="3658645025"/>
                    </a:ext>
                  </a:extLst>
                </a:gridCol>
              </a:tblGrid>
              <a:tr h="386088">
                <a:tc>
                  <a:txBody>
                    <a:bodyPr/>
                    <a:lstStyle/>
                    <a:p>
                      <a:r>
                        <a:rPr lang="en-IN" sz="2000" dirty="0"/>
                        <a:t>Year/Period</a:t>
                      </a:r>
                    </a:p>
                  </a:txBody>
                  <a:tcPr/>
                </a:tc>
                <a:tc>
                  <a:txBody>
                    <a:bodyPr/>
                    <a:lstStyle/>
                    <a:p>
                      <a:r>
                        <a:rPr lang="en-IN" sz="2000" dirty="0"/>
                        <a:t>Event Description</a:t>
                      </a:r>
                    </a:p>
                  </a:txBody>
                  <a:tcPr/>
                </a:tc>
                <a:extLst>
                  <a:ext uri="{0D108BD9-81ED-4DB2-BD59-A6C34878D82A}">
                    <a16:rowId xmlns:a16="http://schemas.microsoft.com/office/drawing/2014/main" val="1266889795"/>
                  </a:ext>
                </a:extLst>
              </a:tr>
              <a:tr h="980070">
                <a:tc>
                  <a:txBody>
                    <a:bodyPr/>
                    <a:lstStyle/>
                    <a:p>
                      <a:r>
                        <a:rPr lang="en-IN" sz="2000" dirty="0"/>
                        <a:t>Late 1980s</a:t>
                      </a:r>
                    </a:p>
                  </a:txBody>
                  <a:tcPr/>
                </a:tc>
                <a:tc>
                  <a:txBody>
                    <a:bodyPr/>
                    <a:lstStyle/>
                    <a:p>
                      <a:r>
                        <a:rPr lang="en-US" sz="2000" dirty="0"/>
                        <a:t>Guido van Rossum started developing Python at CWI (Netherlands) with the goal of creating a simple and readable language.</a:t>
                      </a:r>
                      <a:endParaRPr lang="en-IN" sz="2000" dirty="0"/>
                    </a:p>
                  </a:txBody>
                  <a:tcPr/>
                </a:tc>
                <a:extLst>
                  <a:ext uri="{0D108BD9-81ED-4DB2-BD59-A6C34878D82A}">
                    <a16:rowId xmlns:a16="http://schemas.microsoft.com/office/drawing/2014/main" val="1647599585"/>
                  </a:ext>
                </a:extLst>
              </a:tr>
              <a:tr h="683079">
                <a:tc>
                  <a:txBody>
                    <a:bodyPr/>
                    <a:lstStyle/>
                    <a:p>
                      <a:r>
                        <a:rPr lang="en-IN" sz="2000" dirty="0"/>
                        <a:t>1991</a:t>
                      </a:r>
                    </a:p>
                  </a:txBody>
                  <a:tcPr/>
                </a:tc>
                <a:tc>
                  <a:txBody>
                    <a:bodyPr/>
                    <a:lstStyle/>
                    <a:p>
                      <a:r>
                        <a:rPr lang="en-US" sz="2000" dirty="0"/>
                        <a:t>Python was officially released for the first time. The name was inspired by </a:t>
                      </a:r>
                      <a:r>
                        <a:rPr lang="en-US" sz="2000" i="1" dirty="0"/>
                        <a:t>Monty Python’s Flying Circus</a:t>
                      </a:r>
                      <a:r>
                        <a:rPr lang="en-US" sz="2000" dirty="0"/>
                        <a:t>.</a:t>
                      </a:r>
                      <a:endParaRPr lang="en-IN" sz="2000" dirty="0"/>
                    </a:p>
                  </a:txBody>
                  <a:tcPr/>
                </a:tc>
                <a:extLst>
                  <a:ext uri="{0D108BD9-81ED-4DB2-BD59-A6C34878D82A}">
                    <a16:rowId xmlns:a16="http://schemas.microsoft.com/office/drawing/2014/main" val="3174597075"/>
                  </a:ext>
                </a:extLst>
              </a:tr>
              <a:tr h="683079">
                <a:tc>
                  <a:txBody>
                    <a:bodyPr/>
                    <a:lstStyle/>
                    <a:p>
                      <a:r>
                        <a:rPr lang="en-IN" sz="2000" dirty="0"/>
                        <a:t>2000</a:t>
                      </a:r>
                    </a:p>
                  </a:txBody>
                  <a:tcPr/>
                </a:tc>
                <a:tc>
                  <a:txBody>
                    <a:bodyPr/>
                    <a:lstStyle/>
                    <a:p>
                      <a:r>
                        <a:rPr lang="en-US" sz="2000" dirty="0"/>
                        <a:t>Python 2.0 was released, introducing features like list comprehensions, garbage collection, and Unicode support.</a:t>
                      </a:r>
                      <a:endParaRPr lang="en-IN" sz="2000" dirty="0"/>
                    </a:p>
                  </a:txBody>
                  <a:tcPr/>
                </a:tc>
                <a:extLst>
                  <a:ext uri="{0D108BD9-81ED-4DB2-BD59-A6C34878D82A}">
                    <a16:rowId xmlns:a16="http://schemas.microsoft.com/office/drawing/2014/main" val="2017170259"/>
                  </a:ext>
                </a:extLst>
              </a:tr>
              <a:tr h="980070">
                <a:tc>
                  <a:txBody>
                    <a:bodyPr/>
                    <a:lstStyle/>
                    <a:p>
                      <a:r>
                        <a:rPr lang="en-IN" sz="2000" dirty="0"/>
                        <a:t>2008</a:t>
                      </a:r>
                    </a:p>
                  </a:txBody>
                  <a:tcPr/>
                </a:tc>
                <a:tc>
                  <a:txBody>
                    <a:bodyPr/>
                    <a:lstStyle/>
                    <a:p>
                      <a:r>
                        <a:rPr lang="en-US" sz="2000" dirty="0"/>
                        <a:t>Python 3.0 was released with significant improvements in design, readability, and Unicode support; however, it was not backward-compatible with Python 2.</a:t>
                      </a:r>
                      <a:endParaRPr lang="en-IN" sz="2000" dirty="0"/>
                    </a:p>
                  </a:txBody>
                  <a:tcPr/>
                </a:tc>
                <a:extLst>
                  <a:ext uri="{0D108BD9-81ED-4DB2-BD59-A6C34878D82A}">
                    <a16:rowId xmlns:a16="http://schemas.microsoft.com/office/drawing/2014/main" val="1286239641"/>
                  </a:ext>
                </a:extLst>
              </a:tr>
              <a:tr h="907739">
                <a:tc>
                  <a:txBody>
                    <a:bodyPr/>
                    <a:lstStyle/>
                    <a:p>
                      <a:r>
                        <a:rPr lang="en-IN" sz="2000" dirty="0"/>
                        <a:t>2010–2020</a:t>
                      </a:r>
                    </a:p>
                  </a:txBody>
                  <a:tcPr/>
                </a:tc>
                <a:tc>
                  <a:txBody>
                    <a:bodyPr/>
                    <a:lstStyle/>
                    <a:p>
                      <a:r>
                        <a:rPr lang="en-US" sz="2000" dirty="0"/>
                        <a:t>Python’s popularity increased rapidly in web development, data science, AI, and automation. </a:t>
                      </a:r>
                      <a:endParaRPr lang="en-IN" sz="2000" dirty="0"/>
                    </a:p>
                  </a:txBody>
                  <a:tcPr/>
                </a:tc>
                <a:extLst>
                  <a:ext uri="{0D108BD9-81ED-4DB2-BD59-A6C34878D82A}">
                    <a16:rowId xmlns:a16="http://schemas.microsoft.com/office/drawing/2014/main" val="2730120267"/>
                  </a:ext>
                </a:extLst>
              </a:tr>
            </a:tbl>
          </a:graphicData>
        </a:graphic>
      </p:graphicFrame>
    </p:spTree>
    <p:extLst>
      <p:ext uri="{BB962C8B-B14F-4D97-AF65-F5344CB8AC3E}">
        <p14:creationId xmlns:p14="http://schemas.microsoft.com/office/powerpoint/2010/main" val="2213074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FC51C-E5F9-23EA-AE8E-6EFF85CC43D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F6BE074-4B92-4DE3-9C42-2B3C4FE73600}"/>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076C5478-6854-4DE0-64D7-1D7D4DA37B4D}"/>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BC340140-06E0-C437-AC73-BBD249D54DC3}"/>
              </a:ext>
            </a:extLst>
          </p:cNvPr>
          <p:cNvSpPr txBox="1"/>
          <p:nvPr/>
        </p:nvSpPr>
        <p:spPr>
          <a:xfrm>
            <a:off x="181475" y="1023575"/>
            <a:ext cx="8795377" cy="1200329"/>
          </a:xfrm>
          <a:prstGeom prst="rect">
            <a:avLst/>
          </a:prstGeom>
          <a:noFill/>
        </p:spPr>
        <p:txBody>
          <a:bodyPr wrap="square">
            <a:spAutoFit/>
          </a:bodyPr>
          <a:lstStyle/>
          <a:p>
            <a:pPr>
              <a:defRPr/>
            </a:pPr>
            <a:r>
              <a:rPr lang="en-US" sz="2400" b="1" dirty="0">
                <a:solidFill>
                  <a:schemeClr val="accent1">
                    <a:lumMod val="50000"/>
                  </a:schemeClr>
                </a:solidFill>
                <a:cs typeface="Arial" charset="0"/>
              </a:rPr>
              <a:t>History of Programming Language</a:t>
            </a:r>
          </a:p>
          <a:p>
            <a:pPr>
              <a:defRPr/>
            </a:pPr>
            <a:endParaRPr lang="en-US" sz="2400" b="1" dirty="0">
              <a:solidFill>
                <a:schemeClr val="accent1">
                  <a:lumMod val="50000"/>
                </a:schemeClr>
              </a:solidFill>
              <a:cs typeface="Arial" charset="0"/>
            </a:endParaRPr>
          </a:p>
          <a:p>
            <a:pPr>
              <a:defRPr/>
            </a:pPr>
            <a:endParaRPr lang="en-US" sz="2400" b="1" dirty="0">
              <a:solidFill>
                <a:schemeClr val="accent1">
                  <a:lumMod val="50000"/>
                </a:schemeClr>
              </a:solidFill>
              <a:cs typeface="Arial" charset="0"/>
            </a:endParaRPr>
          </a:p>
        </p:txBody>
      </p:sp>
      <p:graphicFrame>
        <p:nvGraphicFramePr>
          <p:cNvPr id="2" name="Table 1">
            <a:extLst>
              <a:ext uri="{FF2B5EF4-FFF2-40B4-BE49-F238E27FC236}">
                <a16:creationId xmlns:a16="http://schemas.microsoft.com/office/drawing/2014/main" id="{1E208C51-5E90-E34E-A280-23098B22AE50}"/>
              </a:ext>
            </a:extLst>
          </p:cNvPr>
          <p:cNvGraphicFramePr>
            <a:graphicFrameLocks noGrp="1"/>
          </p:cNvGraphicFramePr>
          <p:nvPr>
            <p:extLst>
              <p:ext uri="{D42A27DB-BD31-4B8C-83A1-F6EECF244321}">
                <p14:modId xmlns:p14="http://schemas.microsoft.com/office/powerpoint/2010/main" val="3657382823"/>
              </p:ext>
            </p:extLst>
          </p:nvPr>
        </p:nvGraphicFramePr>
        <p:xfrm>
          <a:off x="539308" y="1732551"/>
          <a:ext cx="8250116" cy="4328160"/>
        </p:xfrm>
        <a:graphic>
          <a:graphicData uri="http://schemas.openxmlformats.org/drawingml/2006/table">
            <a:tbl>
              <a:tblPr firstRow="1" bandRow="1">
                <a:tableStyleId>{5C22544A-7EE6-4342-B048-85BDC9FD1C3A}</a:tableStyleId>
              </a:tblPr>
              <a:tblGrid>
                <a:gridCol w="1498039">
                  <a:extLst>
                    <a:ext uri="{9D8B030D-6E8A-4147-A177-3AD203B41FA5}">
                      <a16:colId xmlns:a16="http://schemas.microsoft.com/office/drawing/2014/main" val="3898556756"/>
                    </a:ext>
                  </a:extLst>
                </a:gridCol>
                <a:gridCol w="6752077">
                  <a:extLst>
                    <a:ext uri="{9D8B030D-6E8A-4147-A177-3AD203B41FA5}">
                      <a16:colId xmlns:a16="http://schemas.microsoft.com/office/drawing/2014/main" val="3658645025"/>
                    </a:ext>
                  </a:extLst>
                </a:gridCol>
              </a:tblGrid>
              <a:tr h="386088">
                <a:tc>
                  <a:txBody>
                    <a:bodyPr/>
                    <a:lstStyle/>
                    <a:p>
                      <a:r>
                        <a:rPr lang="en-IN" sz="2000" dirty="0"/>
                        <a:t>Year/Period</a:t>
                      </a:r>
                    </a:p>
                  </a:txBody>
                  <a:tcPr/>
                </a:tc>
                <a:tc>
                  <a:txBody>
                    <a:bodyPr/>
                    <a:lstStyle/>
                    <a:p>
                      <a:r>
                        <a:rPr lang="en-IN" sz="2000" dirty="0"/>
                        <a:t>Event Description</a:t>
                      </a:r>
                    </a:p>
                  </a:txBody>
                  <a:tcPr/>
                </a:tc>
                <a:extLst>
                  <a:ext uri="{0D108BD9-81ED-4DB2-BD59-A6C34878D82A}">
                    <a16:rowId xmlns:a16="http://schemas.microsoft.com/office/drawing/2014/main" val="1266889795"/>
                  </a:ext>
                </a:extLst>
              </a:tr>
              <a:tr h="980070">
                <a:tc>
                  <a:txBody>
                    <a:bodyPr/>
                    <a:lstStyle/>
                    <a:p>
                      <a:endParaRPr lang="en-IN" sz="2000" dirty="0"/>
                    </a:p>
                  </a:txBody>
                  <a:tcPr/>
                </a:tc>
                <a:tc>
                  <a:txBody>
                    <a:bodyPr/>
                    <a:lstStyle/>
                    <a:p>
                      <a:r>
                        <a:rPr lang="en-US" sz="2000" dirty="0"/>
                        <a:t>Between </a:t>
                      </a:r>
                      <a:r>
                        <a:rPr lang="en-US" sz="2000" b="1" dirty="0"/>
                        <a:t>2010 and 2020</a:t>
                      </a:r>
                      <a:r>
                        <a:rPr lang="en-US" sz="2000" dirty="0"/>
                        <a:t>, several Python 3 versions were launched, including: </a:t>
                      </a:r>
                    </a:p>
                    <a:p>
                      <a:r>
                        <a:rPr lang="en-US" sz="2000" dirty="0"/>
                        <a:t>Python </a:t>
                      </a:r>
                      <a:r>
                        <a:rPr lang="en-US" sz="2000" b="1" dirty="0"/>
                        <a:t>3.1 – 3.8</a:t>
                      </a:r>
                      <a:endParaRPr lang="en-IN" sz="2000" dirty="0"/>
                    </a:p>
                  </a:txBody>
                  <a:tcPr/>
                </a:tc>
                <a:extLst>
                  <a:ext uri="{0D108BD9-81ED-4DB2-BD59-A6C34878D82A}">
                    <a16:rowId xmlns:a16="http://schemas.microsoft.com/office/drawing/2014/main" val="724164683"/>
                  </a:ext>
                </a:extLst>
              </a:tr>
              <a:tr h="667348">
                <a:tc>
                  <a:txBody>
                    <a:bodyPr/>
                    <a:lstStyle/>
                    <a:p>
                      <a:r>
                        <a:rPr lang="en-IN" sz="2000" dirty="0"/>
                        <a:t>2020</a:t>
                      </a:r>
                    </a:p>
                  </a:txBody>
                  <a:tcPr/>
                </a:tc>
                <a:tc>
                  <a:txBody>
                    <a:bodyPr/>
                    <a:lstStyle/>
                    <a:p>
                      <a:r>
                        <a:rPr lang="en-US" sz="2000" b="1" dirty="0"/>
                        <a:t>Python 2 reached End of Life in 2020</a:t>
                      </a:r>
                      <a:r>
                        <a:rPr lang="en-US" sz="2000" dirty="0"/>
                        <a:t>, making Python 3 the standard version.</a:t>
                      </a:r>
                      <a:endParaRPr lang="en-IN" sz="2000" dirty="0"/>
                    </a:p>
                  </a:txBody>
                  <a:tcPr/>
                </a:tc>
                <a:extLst>
                  <a:ext uri="{0D108BD9-81ED-4DB2-BD59-A6C34878D82A}">
                    <a16:rowId xmlns:a16="http://schemas.microsoft.com/office/drawing/2014/main" val="1647599585"/>
                  </a:ext>
                </a:extLst>
              </a:tr>
              <a:tr h="683079">
                <a:tc>
                  <a:txBody>
                    <a:bodyPr/>
                    <a:lstStyle/>
                    <a:p>
                      <a:r>
                        <a:rPr lang="en-IN" sz="2000" dirty="0"/>
                        <a:t>Present</a:t>
                      </a:r>
                    </a:p>
                  </a:txBody>
                  <a:tcPr/>
                </a:tc>
                <a:tc>
                  <a:txBody>
                    <a:bodyPr/>
                    <a:lstStyle/>
                    <a:p>
                      <a:r>
                        <a:rPr lang="en-US" sz="2000" dirty="0"/>
                        <a:t>Python continues to evolve with regular updates and is one of the most widely used programming languages worldwide. As of </a:t>
                      </a:r>
                      <a:r>
                        <a:rPr lang="en-US" sz="2000" b="1" dirty="0"/>
                        <a:t>December 2025</a:t>
                      </a:r>
                      <a:r>
                        <a:rPr lang="en-US" sz="2000" dirty="0"/>
                        <a:t>, the </a:t>
                      </a:r>
                      <a:r>
                        <a:rPr lang="en-US" sz="2000" b="1" dirty="0"/>
                        <a:t>latest stable version of Python</a:t>
                      </a:r>
                      <a:r>
                        <a:rPr lang="en-US" sz="2000" dirty="0"/>
                        <a:t> is:</a:t>
                      </a:r>
                    </a:p>
                    <a:p>
                      <a:r>
                        <a:rPr lang="en-US" sz="2000" b="1" dirty="0"/>
                        <a:t>Python 3.14.2</a:t>
                      </a:r>
                      <a:r>
                        <a:rPr lang="en-US" sz="2000" dirty="0"/>
                        <a:t>, released on </a:t>
                      </a:r>
                      <a:r>
                        <a:rPr lang="en-US" sz="2000" b="1" dirty="0"/>
                        <a:t>December 5, 2025</a:t>
                      </a:r>
                      <a:r>
                        <a:rPr lang="en-US" sz="2000" dirty="0"/>
                        <a:t>.</a:t>
                      </a:r>
                    </a:p>
                    <a:p>
                      <a:endParaRPr lang="en-US" sz="2000" dirty="0"/>
                    </a:p>
                    <a:p>
                      <a:r>
                        <a:rPr lang="en-US" sz="2000" dirty="0"/>
                        <a:t> This version includes recent bug fixes and improvements and is the most up-to-date production release available. </a:t>
                      </a:r>
                      <a:endParaRPr lang="en-IN" sz="2000" dirty="0"/>
                    </a:p>
                  </a:txBody>
                  <a:tcPr/>
                </a:tc>
                <a:extLst>
                  <a:ext uri="{0D108BD9-81ED-4DB2-BD59-A6C34878D82A}">
                    <a16:rowId xmlns:a16="http://schemas.microsoft.com/office/drawing/2014/main" val="3174597075"/>
                  </a:ext>
                </a:extLst>
              </a:tr>
            </a:tbl>
          </a:graphicData>
        </a:graphic>
      </p:graphicFrame>
    </p:spTree>
    <p:extLst>
      <p:ext uri="{BB962C8B-B14F-4D97-AF65-F5344CB8AC3E}">
        <p14:creationId xmlns:p14="http://schemas.microsoft.com/office/powerpoint/2010/main" val="3714965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3A7A5-79E8-FEA9-0933-B73E6D016D0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B32A9DB-24E5-DDA4-6083-4B520CA2C87A}"/>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4D8F032F-DD65-DBA1-8241-ADE57A7E2ABF}"/>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A3A9333-6E7A-54E7-AB41-6D632B133B99}"/>
              </a:ext>
            </a:extLst>
          </p:cNvPr>
          <p:cNvSpPr txBox="1"/>
          <p:nvPr/>
        </p:nvSpPr>
        <p:spPr>
          <a:xfrm>
            <a:off x="181475" y="1023575"/>
            <a:ext cx="8795377" cy="2369880"/>
          </a:xfrm>
          <a:prstGeom prst="rect">
            <a:avLst/>
          </a:prstGeom>
          <a:noFill/>
        </p:spPr>
        <p:txBody>
          <a:bodyPr wrap="square">
            <a:spAutoFit/>
          </a:bodyPr>
          <a:lstStyle/>
          <a:p>
            <a:pPr>
              <a:defRPr/>
            </a:pPr>
            <a:r>
              <a:rPr lang="en-IN" sz="2400" b="1" dirty="0">
                <a:solidFill>
                  <a:schemeClr val="accent1">
                    <a:lumMod val="50000"/>
                  </a:schemeClr>
                </a:solidFill>
                <a:cs typeface="Arial" charset="0"/>
              </a:rPr>
              <a:t>Installation and execution environment:</a:t>
            </a:r>
          </a:p>
          <a:p>
            <a:pPr>
              <a:defRPr/>
            </a:pPr>
            <a:r>
              <a:rPr lang="en-US" sz="2000" dirty="0"/>
              <a:t>Follow these steps to set up the Python programming environment on your system:</a:t>
            </a:r>
            <a:endParaRPr lang="en-US" sz="2000" b="1" dirty="0">
              <a:solidFill>
                <a:schemeClr val="accent1">
                  <a:lumMod val="50000"/>
                </a:schemeClr>
              </a:solidFill>
              <a:cs typeface="Arial" charset="0"/>
            </a:endParaRPr>
          </a:p>
          <a:p>
            <a:r>
              <a:rPr lang="en-US" sz="2000" b="1" dirty="0">
                <a:solidFill>
                  <a:schemeClr val="accent1">
                    <a:lumMod val="50000"/>
                  </a:schemeClr>
                </a:solidFill>
                <a:cs typeface="Arial" charset="0"/>
              </a:rPr>
              <a:t>1. </a:t>
            </a:r>
            <a:r>
              <a:rPr lang="en-US" sz="2000" b="1" dirty="0"/>
              <a:t>Download Python</a:t>
            </a:r>
            <a:endParaRPr lang="en-US" sz="2000" dirty="0"/>
          </a:p>
          <a:p>
            <a:r>
              <a:rPr lang="en-US" sz="2000" dirty="0"/>
              <a:t>Visit the official Python website: </a:t>
            </a:r>
            <a:r>
              <a:rPr lang="en-US" sz="2000" b="1" dirty="0"/>
              <a:t>www.python.org</a:t>
            </a:r>
            <a:endParaRPr lang="en-US" sz="2000" dirty="0"/>
          </a:p>
          <a:p>
            <a:r>
              <a:rPr lang="en-US" sz="2000" dirty="0"/>
              <a:t>Download the latest stable version of Python suitable for your operating system (Windows, macOS, or Linux).</a:t>
            </a:r>
          </a:p>
          <a:p>
            <a:pPr marL="342900" indent="-342900">
              <a:buFont typeface="Wingdings" panose="05000000000000000000" pitchFamily="2" charset="2"/>
              <a:buChar char="Ø"/>
              <a:defRPr/>
            </a:pPr>
            <a:endParaRPr lang="en-US" sz="2400" b="1" dirty="0">
              <a:solidFill>
                <a:schemeClr val="accent1">
                  <a:lumMod val="50000"/>
                </a:schemeClr>
              </a:solidFill>
              <a:cs typeface="Arial" charset="0"/>
            </a:endParaRPr>
          </a:p>
        </p:txBody>
      </p:sp>
      <p:pic>
        <p:nvPicPr>
          <p:cNvPr id="5" name="Picture 4">
            <a:extLst>
              <a:ext uri="{FF2B5EF4-FFF2-40B4-BE49-F238E27FC236}">
                <a16:creationId xmlns:a16="http://schemas.microsoft.com/office/drawing/2014/main" id="{97AFC961-EE5E-BCF1-7BE3-E75252346DDF}"/>
              </a:ext>
            </a:extLst>
          </p:cNvPr>
          <p:cNvPicPr>
            <a:picLocks noChangeAspect="1"/>
          </p:cNvPicPr>
          <p:nvPr/>
        </p:nvPicPr>
        <p:blipFill>
          <a:blip r:embed="rId2"/>
          <a:stretch>
            <a:fillRect/>
          </a:stretch>
        </p:blipFill>
        <p:spPr>
          <a:xfrm>
            <a:off x="698710" y="2991996"/>
            <a:ext cx="7746579" cy="3450415"/>
          </a:xfrm>
          <a:prstGeom prst="rect">
            <a:avLst/>
          </a:prstGeom>
        </p:spPr>
      </p:pic>
    </p:spTree>
    <p:extLst>
      <p:ext uri="{BB962C8B-B14F-4D97-AF65-F5344CB8AC3E}">
        <p14:creationId xmlns:p14="http://schemas.microsoft.com/office/powerpoint/2010/main" val="11740636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E3016-4E60-B715-32B4-9BD38698EA8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F358B21-3840-2982-58EF-931BD9B56E02}"/>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0CB1D4B3-AC5F-CA0E-84C4-27CF5C01F828}"/>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009FE09-2752-B40A-DAD3-ECE9968E0ABE}"/>
              </a:ext>
            </a:extLst>
          </p:cNvPr>
          <p:cNvSpPr txBox="1"/>
          <p:nvPr/>
        </p:nvSpPr>
        <p:spPr>
          <a:xfrm>
            <a:off x="181475" y="1023575"/>
            <a:ext cx="8795377" cy="2000548"/>
          </a:xfrm>
          <a:prstGeom prst="rect">
            <a:avLst/>
          </a:prstGeom>
          <a:noFill/>
        </p:spPr>
        <p:txBody>
          <a:bodyPr wrap="square">
            <a:spAutoFit/>
          </a:bodyPr>
          <a:lstStyle/>
          <a:p>
            <a:pPr>
              <a:defRPr/>
            </a:pPr>
            <a:r>
              <a:rPr lang="en-IN" sz="2400" b="1" dirty="0">
                <a:solidFill>
                  <a:schemeClr val="accent1">
                    <a:lumMod val="50000"/>
                  </a:schemeClr>
                </a:solidFill>
                <a:cs typeface="Arial" charset="0"/>
              </a:rPr>
              <a:t>Python Environment Setup</a:t>
            </a:r>
            <a:endParaRPr lang="en-US" sz="2400" b="1" dirty="0">
              <a:solidFill>
                <a:schemeClr val="accent1">
                  <a:lumMod val="50000"/>
                </a:schemeClr>
              </a:solidFill>
              <a:cs typeface="Arial" charset="0"/>
            </a:endParaRPr>
          </a:p>
          <a:p>
            <a:r>
              <a:rPr lang="en-US" sz="2000" b="1" dirty="0"/>
              <a:t>2. Install Python</a:t>
            </a:r>
            <a:endParaRPr lang="en-US" sz="2000" dirty="0"/>
          </a:p>
          <a:p>
            <a:r>
              <a:rPr lang="en-US" sz="2000" dirty="0"/>
              <a:t>Run the installer file.</a:t>
            </a:r>
          </a:p>
          <a:p>
            <a:r>
              <a:rPr lang="en-US" sz="2000" b="1" dirty="0"/>
              <a:t>Important (Windows):</a:t>
            </a:r>
            <a:r>
              <a:rPr lang="en-US" sz="2000" dirty="0"/>
              <a:t> Check the option </a:t>
            </a:r>
            <a:r>
              <a:rPr lang="en-US" sz="2000" b="1" dirty="0"/>
              <a:t>“Add Python to PATH”</a:t>
            </a:r>
            <a:r>
              <a:rPr lang="en-US" sz="2000" dirty="0"/>
              <a:t> before clicking </a:t>
            </a:r>
            <a:r>
              <a:rPr lang="en-US" sz="2000" i="1" dirty="0"/>
              <a:t>Install Now</a:t>
            </a:r>
            <a:r>
              <a:rPr lang="en-US" sz="2000" dirty="0"/>
              <a:t>.</a:t>
            </a:r>
          </a:p>
          <a:p>
            <a:r>
              <a:rPr lang="en-US" sz="2000" dirty="0"/>
              <a:t>Complete the installation by following the on-screen instructions.</a:t>
            </a:r>
            <a:endParaRPr lang="en-US" sz="2400" b="1" dirty="0">
              <a:solidFill>
                <a:schemeClr val="accent1">
                  <a:lumMod val="50000"/>
                </a:schemeClr>
              </a:solidFill>
              <a:cs typeface="Arial" charset="0"/>
            </a:endParaRPr>
          </a:p>
        </p:txBody>
      </p:sp>
      <p:pic>
        <p:nvPicPr>
          <p:cNvPr id="8" name="Picture 7">
            <a:extLst>
              <a:ext uri="{FF2B5EF4-FFF2-40B4-BE49-F238E27FC236}">
                <a16:creationId xmlns:a16="http://schemas.microsoft.com/office/drawing/2014/main" id="{E3FB0BAA-DCD8-F959-C0E1-92604574E0E1}"/>
              </a:ext>
            </a:extLst>
          </p:cNvPr>
          <p:cNvPicPr>
            <a:picLocks noChangeAspect="1"/>
          </p:cNvPicPr>
          <p:nvPr/>
        </p:nvPicPr>
        <p:blipFill>
          <a:blip r:embed="rId2"/>
          <a:stretch>
            <a:fillRect/>
          </a:stretch>
        </p:blipFill>
        <p:spPr>
          <a:xfrm>
            <a:off x="767419" y="3331899"/>
            <a:ext cx="7609161" cy="3118408"/>
          </a:xfrm>
          <a:prstGeom prst="rect">
            <a:avLst/>
          </a:prstGeom>
        </p:spPr>
      </p:pic>
    </p:spTree>
    <p:extLst>
      <p:ext uri="{BB962C8B-B14F-4D97-AF65-F5344CB8AC3E}">
        <p14:creationId xmlns:p14="http://schemas.microsoft.com/office/powerpoint/2010/main" val="2494277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4D6AA-7505-31C4-D435-7221D631978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2958DB7-9DE7-43C8-9CAC-AEA454E5C384}"/>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94F93EB3-6560-EAC8-1D6E-A8E4430C34B2}"/>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9F6D134-D691-5BD2-3532-59BAA26BD03A}"/>
              </a:ext>
            </a:extLst>
          </p:cNvPr>
          <p:cNvSpPr txBox="1"/>
          <p:nvPr/>
        </p:nvSpPr>
        <p:spPr>
          <a:xfrm>
            <a:off x="181475" y="1023575"/>
            <a:ext cx="8795377" cy="1569660"/>
          </a:xfrm>
          <a:prstGeom prst="rect">
            <a:avLst/>
          </a:prstGeom>
          <a:noFill/>
        </p:spPr>
        <p:txBody>
          <a:bodyPr wrap="square">
            <a:spAutoFit/>
          </a:bodyPr>
          <a:lstStyle/>
          <a:p>
            <a:pPr>
              <a:defRPr/>
            </a:pPr>
            <a:r>
              <a:rPr lang="en-IN" sz="2400" b="1" dirty="0">
                <a:solidFill>
                  <a:schemeClr val="accent1">
                    <a:lumMod val="50000"/>
                  </a:schemeClr>
                </a:solidFill>
                <a:cs typeface="Arial" charset="0"/>
              </a:rPr>
              <a:t>Python Environment Setup</a:t>
            </a:r>
          </a:p>
          <a:p>
            <a:pPr>
              <a:defRPr/>
            </a:pPr>
            <a:r>
              <a:rPr lang="en-US" sz="2400" dirty="0"/>
              <a:t>After initiating the installation process, the setup window will appear as shown below.</a:t>
            </a:r>
          </a:p>
          <a:p>
            <a:pPr>
              <a:defRPr/>
            </a:pPr>
            <a:endParaRPr lang="en-US" sz="2400" b="1" dirty="0">
              <a:solidFill>
                <a:schemeClr val="accent1">
                  <a:lumMod val="50000"/>
                </a:schemeClr>
              </a:solidFill>
              <a:cs typeface="Arial" charset="0"/>
            </a:endParaRPr>
          </a:p>
        </p:txBody>
      </p:sp>
      <p:pic>
        <p:nvPicPr>
          <p:cNvPr id="3" name="Picture 2">
            <a:extLst>
              <a:ext uri="{FF2B5EF4-FFF2-40B4-BE49-F238E27FC236}">
                <a16:creationId xmlns:a16="http://schemas.microsoft.com/office/drawing/2014/main" id="{FA214EDB-0343-4AFD-861E-0841026A74EC}"/>
              </a:ext>
            </a:extLst>
          </p:cNvPr>
          <p:cNvPicPr>
            <a:picLocks noChangeAspect="1"/>
          </p:cNvPicPr>
          <p:nvPr/>
        </p:nvPicPr>
        <p:blipFill>
          <a:blip r:embed="rId2"/>
          <a:stretch>
            <a:fillRect/>
          </a:stretch>
        </p:blipFill>
        <p:spPr>
          <a:xfrm>
            <a:off x="1382238" y="2174957"/>
            <a:ext cx="6638813" cy="4179618"/>
          </a:xfrm>
          <a:prstGeom prst="rect">
            <a:avLst/>
          </a:prstGeom>
        </p:spPr>
      </p:pic>
    </p:spTree>
    <p:extLst>
      <p:ext uri="{BB962C8B-B14F-4D97-AF65-F5344CB8AC3E}">
        <p14:creationId xmlns:p14="http://schemas.microsoft.com/office/powerpoint/2010/main" val="11356574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5E669-8C3A-2BED-CCC2-4915A3B1E32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DFDCB8A-3D28-827C-E07A-16F3AA2C1640}"/>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4C40969D-D197-DF72-6811-CE26FE6E9A12}"/>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4BA0558-BB4A-C209-A5E4-06AEBBFA90A9}"/>
              </a:ext>
            </a:extLst>
          </p:cNvPr>
          <p:cNvSpPr txBox="1"/>
          <p:nvPr/>
        </p:nvSpPr>
        <p:spPr>
          <a:xfrm>
            <a:off x="181475" y="1023575"/>
            <a:ext cx="8795377" cy="1200329"/>
          </a:xfrm>
          <a:prstGeom prst="rect">
            <a:avLst/>
          </a:prstGeom>
          <a:noFill/>
        </p:spPr>
        <p:txBody>
          <a:bodyPr wrap="square">
            <a:spAutoFit/>
          </a:bodyPr>
          <a:lstStyle/>
          <a:p>
            <a:pPr>
              <a:defRPr/>
            </a:pPr>
            <a:r>
              <a:rPr lang="en-IN" sz="2400" b="1" dirty="0">
                <a:solidFill>
                  <a:schemeClr val="accent1">
                    <a:lumMod val="50000"/>
                  </a:schemeClr>
                </a:solidFill>
                <a:cs typeface="Arial" charset="0"/>
              </a:rPr>
              <a:t>Python Environment Setup</a:t>
            </a:r>
          </a:p>
          <a:p>
            <a:pPr>
              <a:defRPr/>
            </a:pPr>
            <a:r>
              <a:rPr lang="en-US" sz="2400" dirty="0"/>
              <a:t>After the successful completion of the setup process, the success window will appear as shown below.</a:t>
            </a:r>
            <a:endParaRPr lang="en-US" sz="2400" b="1" dirty="0">
              <a:solidFill>
                <a:schemeClr val="accent1">
                  <a:lumMod val="50000"/>
                </a:schemeClr>
              </a:solidFill>
              <a:cs typeface="Arial" charset="0"/>
            </a:endParaRPr>
          </a:p>
        </p:txBody>
      </p:sp>
      <p:pic>
        <p:nvPicPr>
          <p:cNvPr id="2" name="Picture 1">
            <a:extLst>
              <a:ext uri="{FF2B5EF4-FFF2-40B4-BE49-F238E27FC236}">
                <a16:creationId xmlns:a16="http://schemas.microsoft.com/office/drawing/2014/main" id="{B83F0D1E-A312-0BBA-A03E-C6F852889A3C}"/>
              </a:ext>
            </a:extLst>
          </p:cNvPr>
          <p:cNvPicPr>
            <a:picLocks noChangeAspect="1"/>
          </p:cNvPicPr>
          <p:nvPr/>
        </p:nvPicPr>
        <p:blipFill>
          <a:blip r:embed="rId2"/>
          <a:stretch>
            <a:fillRect/>
          </a:stretch>
        </p:blipFill>
        <p:spPr>
          <a:xfrm>
            <a:off x="1333191" y="2223904"/>
            <a:ext cx="6477617" cy="4079605"/>
          </a:xfrm>
          <a:prstGeom prst="rect">
            <a:avLst/>
          </a:prstGeom>
        </p:spPr>
      </p:pic>
    </p:spTree>
    <p:extLst>
      <p:ext uri="{BB962C8B-B14F-4D97-AF65-F5344CB8AC3E}">
        <p14:creationId xmlns:p14="http://schemas.microsoft.com/office/powerpoint/2010/main" val="8982240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4EF33-B017-7FF4-69A9-39E2C3DF58E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DDA9FB4-DD33-D648-0D93-DA99C047D8BF}"/>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00616A0E-6629-90E2-7955-43EA2E4981A1}"/>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7A7D64F-FAD6-88A1-9F22-845D50190151}"/>
              </a:ext>
            </a:extLst>
          </p:cNvPr>
          <p:cNvSpPr txBox="1"/>
          <p:nvPr/>
        </p:nvSpPr>
        <p:spPr>
          <a:xfrm>
            <a:off x="181475" y="1023575"/>
            <a:ext cx="8795377" cy="2369880"/>
          </a:xfrm>
          <a:prstGeom prst="rect">
            <a:avLst/>
          </a:prstGeom>
          <a:noFill/>
        </p:spPr>
        <p:txBody>
          <a:bodyPr wrap="square">
            <a:spAutoFit/>
          </a:bodyPr>
          <a:lstStyle/>
          <a:p>
            <a:pPr>
              <a:defRPr/>
            </a:pPr>
            <a:r>
              <a:rPr lang="en-IN" sz="2400" b="1" dirty="0">
                <a:solidFill>
                  <a:schemeClr val="accent1">
                    <a:lumMod val="50000"/>
                  </a:schemeClr>
                </a:solidFill>
                <a:cs typeface="Arial" charset="0"/>
              </a:rPr>
              <a:t>Python Environment Setup</a:t>
            </a:r>
          </a:p>
          <a:p>
            <a:r>
              <a:rPr lang="en-US" sz="2000" b="1" dirty="0"/>
              <a:t>3. Verify Installation</a:t>
            </a:r>
            <a:endParaRPr lang="en-US" sz="2000" dirty="0"/>
          </a:p>
          <a:p>
            <a:r>
              <a:rPr lang="en-US" sz="2000" dirty="0"/>
              <a:t>Open </a:t>
            </a:r>
            <a:r>
              <a:rPr lang="en-US" sz="2000" b="1" dirty="0"/>
              <a:t>Command Prompt</a:t>
            </a:r>
            <a:r>
              <a:rPr lang="en-US" sz="2000" dirty="0"/>
              <a:t> (Windows) or </a:t>
            </a:r>
            <a:r>
              <a:rPr lang="en-US" sz="2000" b="1" dirty="0"/>
              <a:t>Terminal</a:t>
            </a:r>
            <a:r>
              <a:rPr lang="en-US" sz="2000" dirty="0"/>
              <a:t> (macOS/Linux).</a:t>
            </a:r>
          </a:p>
          <a:p>
            <a:r>
              <a:rPr lang="en-US" sz="2000" dirty="0"/>
              <a:t>Type python --version or python3 --version and press Enter.</a:t>
            </a:r>
          </a:p>
          <a:p>
            <a:r>
              <a:rPr lang="en-US" sz="2000" dirty="0"/>
              <a:t>If Python is installed correctly, the installed version number will be displayed as shown below:</a:t>
            </a:r>
          </a:p>
          <a:p>
            <a:pPr>
              <a:defRPr/>
            </a:pPr>
            <a:endParaRPr lang="en-US" sz="2400" b="1" dirty="0">
              <a:solidFill>
                <a:schemeClr val="accent1">
                  <a:lumMod val="50000"/>
                </a:schemeClr>
              </a:solidFill>
              <a:cs typeface="Arial" charset="0"/>
            </a:endParaRPr>
          </a:p>
        </p:txBody>
      </p:sp>
      <p:pic>
        <p:nvPicPr>
          <p:cNvPr id="10" name="Picture 9">
            <a:extLst>
              <a:ext uri="{FF2B5EF4-FFF2-40B4-BE49-F238E27FC236}">
                <a16:creationId xmlns:a16="http://schemas.microsoft.com/office/drawing/2014/main" id="{47809752-10C7-DCF0-59EF-0EB9C1FC530C}"/>
              </a:ext>
            </a:extLst>
          </p:cNvPr>
          <p:cNvPicPr>
            <a:picLocks noChangeAspect="1"/>
          </p:cNvPicPr>
          <p:nvPr/>
        </p:nvPicPr>
        <p:blipFill>
          <a:blip r:embed="rId2"/>
          <a:stretch>
            <a:fillRect/>
          </a:stretch>
        </p:blipFill>
        <p:spPr>
          <a:xfrm>
            <a:off x="1231584" y="2966655"/>
            <a:ext cx="6680831" cy="3463167"/>
          </a:xfrm>
          <a:prstGeom prst="rect">
            <a:avLst/>
          </a:prstGeom>
        </p:spPr>
      </p:pic>
    </p:spTree>
    <p:extLst>
      <p:ext uri="{BB962C8B-B14F-4D97-AF65-F5344CB8AC3E}">
        <p14:creationId xmlns:p14="http://schemas.microsoft.com/office/powerpoint/2010/main" val="19609352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A954B-7784-70B7-9561-AC1649A114E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CCE9EE4-7A82-98BB-91DF-E11A9163917B}"/>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1A122828-D672-695E-AD8E-BE002475356B}"/>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A2EA36E-8450-B8C8-98EE-32AD42F0ACB7}"/>
              </a:ext>
            </a:extLst>
          </p:cNvPr>
          <p:cNvSpPr txBox="1"/>
          <p:nvPr/>
        </p:nvSpPr>
        <p:spPr>
          <a:xfrm>
            <a:off x="181475" y="1023575"/>
            <a:ext cx="8795377" cy="6370975"/>
          </a:xfrm>
          <a:prstGeom prst="rect">
            <a:avLst/>
          </a:prstGeom>
          <a:noFill/>
        </p:spPr>
        <p:txBody>
          <a:bodyPr wrap="square">
            <a:spAutoFit/>
          </a:bodyPr>
          <a:lstStyle/>
          <a:p>
            <a:pPr>
              <a:defRPr/>
            </a:pPr>
            <a:r>
              <a:rPr lang="en-IN" sz="2400" b="1" dirty="0">
                <a:solidFill>
                  <a:schemeClr val="accent1">
                    <a:lumMod val="50000"/>
                  </a:schemeClr>
                </a:solidFill>
                <a:cs typeface="Arial" charset="0"/>
              </a:rPr>
              <a:t>Python Environment Setup</a:t>
            </a:r>
          </a:p>
          <a:p>
            <a:r>
              <a:rPr lang="en-US" sz="2000" b="1" dirty="0"/>
              <a:t>4. Python Interpreter</a:t>
            </a:r>
            <a:endParaRPr lang="en-US" sz="2000" dirty="0"/>
          </a:p>
          <a:p>
            <a:r>
              <a:rPr lang="en-US" sz="2000" dirty="0"/>
              <a:t>Python runs using an interpreter, which executes code line by line.</a:t>
            </a:r>
          </a:p>
          <a:p>
            <a:r>
              <a:rPr lang="en-US" sz="2000" dirty="0"/>
              <a:t>You can start the interpreter by typing python in the command prompt or terminal.</a:t>
            </a:r>
          </a:p>
          <a:p>
            <a:endParaRPr lang="en-US" sz="2000" b="1" dirty="0"/>
          </a:p>
          <a:p>
            <a:r>
              <a:rPr lang="en-US" sz="2000" b="1" dirty="0"/>
              <a:t>5. Choose an IDE or Code Editor (Optional)</a:t>
            </a:r>
            <a:endParaRPr lang="en-US" sz="2000" dirty="0"/>
          </a:p>
          <a:p>
            <a:r>
              <a:rPr lang="en-US" sz="2000" dirty="0"/>
              <a:t>Commonly used IDEs/editors include:</a:t>
            </a:r>
          </a:p>
          <a:p>
            <a:pPr marL="800100" lvl="1" indent="-342900">
              <a:buAutoNum type="arabicPeriod"/>
            </a:pPr>
            <a:r>
              <a:rPr lang="en-US" sz="2000" dirty="0" err="1"/>
              <a:t>Pycharm</a:t>
            </a:r>
            <a:endParaRPr lang="en-US" sz="2000" dirty="0"/>
          </a:p>
          <a:p>
            <a:pPr marL="800100" lvl="1" indent="-342900">
              <a:buAutoNum type="arabicPeriod"/>
            </a:pPr>
            <a:r>
              <a:rPr lang="en-US" sz="2000" dirty="0"/>
              <a:t>IDLE</a:t>
            </a:r>
          </a:p>
          <a:p>
            <a:pPr marL="800100" lvl="1" indent="-342900">
              <a:buAutoNum type="arabicPeriod"/>
            </a:pPr>
            <a:r>
              <a:rPr lang="en-US" sz="2000" dirty="0"/>
              <a:t>Visual Studio Code</a:t>
            </a:r>
          </a:p>
          <a:p>
            <a:pPr marL="800100" lvl="1" indent="-342900">
              <a:buAutoNum type="arabicPeriod"/>
            </a:pPr>
            <a:r>
              <a:rPr lang="en-US" sz="2000" dirty="0" err="1"/>
              <a:t>Replit</a:t>
            </a:r>
            <a:endParaRPr lang="en-US" sz="2000" dirty="0"/>
          </a:p>
          <a:p>
            <a:pPr marL="800100" lvl="1" indent="-342900">
              <a:buAutoNum type="arabicPeriod"/>
            </a:pPr>
            <a:r>
              <a:rPr lang="en-US" sz="2000" dirty="0"/>
              <a:t>Sublime Text</a:t>
            </a:r>
          </a:p>
          <a:p>
            <a:pPr marL="800100" lvl="1" indent="-342900">
              <a:buAutoNum type="arabicPeriod"/>
            </a:pPr>
            <a:r>
              <a:rPr lang="en-US" sz="2000" dirty="0"/>
              <a:t>Spyder</a:t>
            </a:r>
          </a:p>
          <a:p>
            <a:pPr marL="800100" lvl="1" indent="-342900">
              <a:buAutoNum type="arabicPeriod"/>
            </a:pPr>
            <a:r>
              <a:rPr lang="en-US" sz="2000" dirty="0" err="1"/>
              <a:t>PvDev</a:t>
            </a:r>
            <a:endParaRPr lang="en-US" sz="2000" dirty="0"/>
          </a:p>
          <a:p>
            <a:pPr marL="800100" lvl="1" indent="-342900">
              <a:buAutoNum type="arabicPeriod"/>
            </a:pPr>
            <a:r>
              <a:rPr lang="en-US" sz="2000" dirty="0" err="1"/>
              <a:t>Jupyter</a:t>
            </a:r>
            <a:endParaRPr lang="en-US" sz="2000" dirty="0"/>
          </a:p>
          <a:p>
            <a:pPr marL="800100" lvl="1" indent="-342900">
              <a:buAutoNum type="arabicPeriod"/>
            </a:pPr>
            <a:r>
              <a:rPr lang="en-US" sz="2000" u="sng" dirty="0"/>
              <a:t>Thonny</a:t>
            </a:r>
          </a:p>
          <a:p>
            <a:pPr marL="800100" lvl="1" indent="-342900">
              <a:buAutoNum type="arabicPeriod"/>
            </a:pPr>
            <a:r>
              <a:rPr lang="en-US" sz="2000" u="sng" dirty="0" err="1"/>
              <a:t>PyScripter</a:t>
            </a:r>
            <a:endParaRPr lang="en-IN" sz="2000" u="sng" dirty="0"/>
          </a:p>
          <a:p>
            <a:endParaRPr lang="en-US" sz="2000" dirty="0"/>
          </a:p>
          <a:p>
            <a:endParaRPr lang="en-US" sz="2000" dirty="0"/>
          </a:p>
          <a:p>
            <a:pPr>
              <a:defRPr/>
            </a:pPr>
            <a:endParaRPr lang="en-US" sz="2400" b="1" dirty="0">
              <a:solidFill>
                <a:schemeClr val="accent1">
                  <a:lumMod val="50000"/>
                </a:schemeClr>
              </a:solidFill>
              <a:cs typeface="Arial" charset="0"/>
            </a:endParaRPr>
          </a:p>
        </p:txBody>
      </p:sp>
    </p:spTree>
    <p:extLst>
      <p:ext uri="{BB962C8B-B14F-4D97-AF65-F5344CB8AC3E}">
        <p14:creationId xmlns:p14="http://schemas.microsoft.com/office/powerpoint/2010/main" val="29546053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D09CB-07E0-8919-592D-60389904257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C5DEAD5-DB8C-3174-E802-7D6E285D0DED}"/>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69890C81-15F8-3EFA-A1B0-3E4179FFE168}"/>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F070CA5-B7CC-00A7-E19C-898EC198C3A3}"/>
              </a:ext>
            </a:extLst>
          </p:cNvPr>
          <p:cNvSpPr txBox="1"/>
          <p:nvPr/>
        </p:nvSpPr>
        <p:spPr>
          <a:xfrm>
            <a:off x="181475" y="1023575"/>
            <a:ext cx="8795377" cy="6124754"/>
          </a:xfrm>
          <a:prstGeom prst="rect">
            <a:avLst/>
          </a:prstGeom>
          <a:noFill/>
        </p:spPr>
        <p:txBody>
          <a:bodyPr wrap="square">
            <a:spAutoFit/>
          </a:bodyPr>
          <a:lstStyle/>
          <a:p>
            <a:pPr>
              <a:defRPr/>
            </a:pPr>
            <a:r>
              <a:rPr lang="en-IN" sz="2400" b="1" dirty="0">
                <a:solidFill>
                  <a:schemeClr val="accent1">
                    <a:lumMod val="50000"/>
                  </a:schemeClr>
                </a:solidFill>
                <a:cs typeface="Arial" charset="0"/>
              </a:rPr>
              <a:t>Python Environment Setup</a:t>
            </a:r>
          </a:p>
          <a:p>
            <a:r>
              <a:rPr lang="en-US" sz="2000" dirty="0"/>
              <a:t>These tools make writing and running Python programs easier.</a:t>
            </a:r>
          </a:p>
          <a:p>
            <a:endParaRPr lang="en-US" sz="2000" dirty="0"/>
          </a:p>
          <a:p>
            <a:pPr>
              <a:defRPr/>
            </a:pPr>
            <a:r>
              <a:rPr lang="en-US" sz="2400" b="1" dirty="0">
                <a:solidFill>
                  <a:schemeClr val="accent1">
                    <a:lumMod val="50000"/>
                  </a:schemeClr>
                </a:solidFill>
                <a:cs typeface="Arial" charset="0"/>
              </a:rPr>
              <a:t>Python IDE-</a:t>
            </a:r>
            <a:r>
              <a:rPr lang="en-US" sz="2400" b="1" dirty="0"/>
              <a:t> </a:t>
            </a:r>
            <a:r>
              <a:rPr lang="en-US" sz="2400" b="1" dirty="0">
                <a:solidFill>
                  <a:schemeClr val="accent1">
                    <a:lumMod val="50000"/>
                  </a:schemeClr>
                </a:solidFill>
                <a:cs typeface="Arial" charset="0"/>
              </a:rPr>
              <a:t>IDLE</a:t>
            </a:r>
          </a:p>
          <a:p>
            <a:pPr>
              <a:defRPr/>
            </a:pPr>
            <a:r>
              <a:rPr lang="en-US" sz="2000" b="1" dirty="0"/>
              <a:t>IDLE (Integrated Development and Learning Environment)</a:t>
            </a:r>
            <a:r>
              <a:rPr lang="en-US" sz="2000" dirty="0"/>
              <a:t> is a dedicated platform or software to</a:t>
            </a:r>
            <a:r>
              <a:rPr lang="en-US" sz="2000" b="1" dirty="0"/>
              <a:t> develop Python applications</a:t>
            </a:r>
            <a:r>
              <a:rPr lang="en-US" sz="2000" dirty="0"/>
              <a:t>. It is a full-fledged editor that is used to create, modify, and execute python code. It can also be used like the Python Shell to execute single statements. Python IDLE would be of great help, especially to beginners. </a:t>
            </a:r>
          </a:p>
          <a:p>
            <a:pPr algn="just" fontAlgn="base"/>
            <a:r>
              <a:rPr lang="en-US" sz="2000" dirty="0"/>
              <a:t>IDLE is open-sourced and available free of charge.</a:t>
            </a:r>
          </a:p>
          <a:p>
            <a:pPr algn="just" fontAlgn="base"/>
            <a:r>
              <a:rPr lang="en-US" sz="2000" b="1" dirty="0"/>
              <a:t>Key Features</a:t>
            </a:r>
          </a:p>
          <a:p>
            <a:pPr algn="just" fontAlgn="base"/>
            <a:r>
              <a:rPr lang="en-US" sz="2000" b="1" dirty="0"/>
              <a:t>Interactive Shell</a:t>
            </a:r>
            <a:r>
              <a:rPr lang="en-US" sz="2000" dirty="0"/>
              <a:t>: IDLE’s interactive shell allows you to execute Python code one statement at a time, making it a great learning tool.</a:t>
            </a:r>
          </a:p>
          <a:p>
            <a:pPr algn="just" fontAlgn="base"/>
            <a:r>
              <a:rPr lang="en-US" sz="2000" b="1" dirty="0"/>
              <a:t>Simple Debugger</a:t>
            </a:r>
            <a:r>
              <a:rPr lang="en-US" sz="2000" dirty="0"/>
              <a:t>: Provides basic debugging capabilities such as stepping through code and inspecting variables.</a:t>
            </a:r>
          </a:p>
          <a:p>
            <a:pPr algn="just" fontAlgn="base"/>
            <a:r>
              <a:rPr lang="en-US" sz="2000" b="1" dirty="0"/>
              <a:t>Auto-Completion</a:t>
            </a:r>
            <a:r>
              <a:rPr lang="en-US" sz="2000" dirty="0"/>
              <a:t>: A basic auto-completion feature helps you avoid syntax errors as you write.</a:t>
            </a:r>
          </a:p>
          <a:p>
            <a:endParaRPr lang="en-US" sz="2000" dirty="0"/>
          </a:p>
          <a:p>
            <a:pPr>
              <a:defRPr/>
            </a:pPr>
            <a:endParaRPr lang="en-US" sz="2400" b="1" dirty="0">
              <a:solidFill>
                <a:schemeClr val="accent1">
                  <a:lumMod val="50000"/>
                </a:schemeClr>
              </a:solidFill>
              <a:cs typeface="Arial" charset="0"/>
            </a:endParaRPr>
          </a:p>
        </p:txBody>
      </p:sp>
    </p:spTree>
    <p:extLst>
      <p:ext uri="{BB962C8B-B14F-4D97-AF65-F5344CB8AC3E}">
        <p14:creationId xmlns:p14="http://schemas.microsoft.com/office/powerpoint/2010/main" val="27389870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F0F6A-3D17-DD18-F8C4-A8991184D2B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52CBCD3-EE6C-1C62-1902-40DF3348C57D}"/>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11D79F7E-1A2E-8A23-E66E-56834AF4BD1C}"/>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E70BED5-1D80-FCEF-0DA5-BE0C71506C48}"/>
              </a:ext>
            </a:extLst>
          </p:cNvPr>
          <p:cNvSpPr txBox="1"/>
          <p:nvPr/>
        </p:nvSpPr>
        <p:spPr>
          <a:xfrm>
            <a:off x="181475" y="1023575"/>
            <a:ext cx="8795377" cy="2800767"/>
          </a:xfrm>
          <a:prstGeom prst="rect">
            <a:avLst/>
          </a:prstGeom>
          <a:noFill/>
        </p:spPr>
        <p:txBody>
          <a:bodyPr wrap="square">
            <a:spAutoFit/>
          </a:bodyPr>
          <a:lstStyle/>
          <a:p>
            <a:pPr>
              <a:defRPr/>
            </a:pPr>
            <a:r>
              <a:rPr lang="en-IN" sz="2400" b="1" dirty="0">
                <a:solidFill>
                  <a:schemeClr val="accent1">
                    <a:lumMod val="50000"/>
                  </a:schemeClr>
                </a:solidFill>
                <a:cs typeface="Arial" charset="0"/>
              </a:rPr>
              <a:t>Python Environment Setup</a:t>
            </a:r>
          </a:p>
          <a:p>
            <a:pPr>
              <a:defRPr/>
            </a:pPr>
            <a:endParaRPr lang="en-IN" sz="2400" b="1" dirty="0">
              <a:solidFill>
                <a:schemeClr val="accent1">
                  <a:lumMod val="50000"/>
                </a:schemeClr>
              </a:solidFill>
              <a:cs typeface="Arial" charset="0"/>
            </a:endParaRPr>
          </a:p>
          <a:p>
            <a:pPr>
              <a:defRPr/>
            </a:pPr>
            <a:r>
              <a:rPr lang="en-IN" sz="2400" b="1" dirty="0">
                <a:solidFill>
                  <a:schemeClr val="accent1">
                    <a:lumMod val="50000"/>
                  </a:schemeClr>
                </a:solidFill>
                <a:cs typeface="Arial" charset="0"/>
              </a:rPr>
              <a:t>Steps to open IDLE environment:</a:t>
            </a:r>
          </a:p>
          <a:p>
            <a:pPr>
              <a:defRPr/>
            </a:pPr>
            <a:r>
              <a:rPr lang="en-IN" sz="2000" dirty="0">
                <a:cs typeface="Arial" charset="0"/>
              </a:rPr>
              <a:t>1. Click on the Start button and search for the IDLE application that is already installed. (Refer to slide no. 7 to 12)</a:t>
            </a:r>
          </a:p>
          <a:p>
            <a:endParaRPr lang="en-US" sz="2000" dirty="0"/>
          </a:p>
          <a:p>
            <a:endParaRPr lang="en-US" sz="2000" dirty="0"/>
          </a:p>
          <a:p>
            <a:pPr>
              <a:defRPr/>
            </a:pPr>
            <a:endParaRPr lang="en-US" sz="2400" b="1" dirty="0">
              <a:solidFill>
                <a:schemeClr val="accent1">
                  <a:lumMod val="50000"/>
                </a:schemeClr>
              </a:solidFill>
              <a:cs typeface="Arial" charset="0"/>
            </a:endParaRPr>
          </a:p>
        </p:txBody>
      </p:sp>
      <p:pic>
        <p:nvPicPr>
          <p:cNvPr id="5" name="Picture 4">
            <a:extLst>
              <a:ext uri="{FF2B5EF4-FFF2-40B4-BE49-F238E27FC236}">
                <a16:creationId xmlns:a16="http://schemas.microsoft.com/office/drawing/2014/main" id="{71E46B34-B74B-BBE3-D0BD-1552A84334D8}"/>
              </a:ext>
            </a:extLst>
          </p:cNvPr>
          <p:cNvPicPr>
            <a:picLocks noChangeAspect="1"/>
          </p:cNvPicPr>
          <p:nvPr/>
        </p:nvPicPr>
        <p:blipFill>
          <a:blip r:embed="rId2"/>
          <a:stretch>
            <a:fillRect/>
          </a:stretch>
        </p:blipFill>
        <p:spPr>
          <a:xfrm>
            <a:off x="2620006" y="2967790"/>
            <a:ext cx="3903987" cy="3399596"/>
          </a:xfrm>
          <a:prstGeom prst="rect">
            <a:avLst/>
          </a:prstGeom>
        </p:spPr>
      </p:pic>
    </p:spTree>
    <p:extLst>
      <p:ext uri="{BB962C8B-B14F-4D97-AF65-F5344CB8AC3E}">
        <p14:creationId xmlns:p14="http://schemas.microsoft.com/office/powerpoint/2010/main" val="16994412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EFC7F-9FE0-44DD-5A3A-D20B77E1E04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6851839-11FA-1137-84D7-2D0DBF9BA8CC}"/>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CD3C7A4-F138-0B53-9184-8BAF695EF50A}"/>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3DFAB07D-E90E-89AE-D7C8-626E0F3920A5}"/>
              </a:ext>
            </a:extLst>
          </p:cNvPr>
          <p:cNvSpPr txBox="1"/>
          <p:nvPr/>
        </p:nvSpPr>
        <p:spPr>
          <a:xfrm>
            <a:off x="174311" y="1023576"/>
            <a:ext cx="8795377" cy="1938992"/>
          </a:xfrm>
          <a:prstGeom prst="rect">
            <a:avLst/>
          </a:prstGeom>
          <a:noFill/>
        </p:spPr>
        <p:txBody>
          <a:bodyPr wrap="square">
            <a:spAutoFit/>
          </a:bodyPr>
          <a:lstStyle/>
          <a:p>
            <a:pPr>
              <a:defRPr/>
            </a:pPr>
            <a:r>
              <a:rPr lang="en-IN" sz="2400" b="1" dirty="0">
                <a:solidFill>
                  <a:schemeClr val="accent1">
                    <a:lumMod val="50000"/>
                  </a:schemeClr>
                </a:solidFill>
                <a:cs typeface="Arial" charset="0"/>
              </a:rPr>
              <a:t>Python Environment Setup</a:t>
            </a:r>
          </a:p>
          <a:p>
            <a:pPr>
              <a:defRPr/>
            </a:pPr>
            <a:endParaRPr lang="en-IN" sz="2400" b="1" dirty="0">
              <a:solidFill>
                <a:schemeClr val="accent1">
                  <a:lumMod val="50000"/>
                </a:schemeClr>
              </a:solidFill>
              <a:cs typeface="Arial" charset="0"/>
            </a:endParaRPr>
          </a:p>
          <a:p>
            <a:pPr>
              <a:defRPr/>
            </a:pPr>
            <a:r>
              <a:rPr lang="en-IN" sz="2400" b="1" dirty="0">
                <a:solidFill>
                  <a:schemeClr val="accent1">
                    <a:lumMod val="50000"/>
                  </a:schemeClr>
                </a:solidFill>
                <a:cs typeface="Arial" charset="0"/>
              </a:rPr>
              <a:t>Steps to open IDLE environment:</a:t>
            </a:r>
          </a:p>
          <a:p>
            <a:pPr>
              <a:defRPr/>
            </a:pPr>
            <a:r>
              <a:rPr lang="en-IN" sz="2400" dirty="0">
                <a:cs typeface="Arial" charset="0"/>
              </a:rPr>
              <a:t>2. Click on this application </a:t>
            </a:r>
          </a:p>
          <a:p>
            <a:pPr>
              <a:defRPr/>
            </a:pPr>
            <a:r>
              <a:rPr lang="en-US" sz="2400" dirty="0">
                <a:cs typeface="Arial" charset="0"/>
              </a:rPr>
              <a:t>3. The following Shell window will appear:</a:t>
            </a:r>
          </a:p>
        </p:txBody>
      </p:sp>
      <p:pic>
        <p:nvPicPr>
          <p:cNvPr id="3" name="Picture 2">
            <a:extLst>
              <a:ext uri="{FF2B5EF4-FFF2-40B4-BE49-F238E27FC236}">
                <a16:creationId xmlns:a16="http://schemas.microsoft.com/office/drawing/2014/main" id="{E37959EB-4BC6-F53C-661C-8D6E5501B46A}"/>
              </a:ext>
            </a:extLst>
          </p:cNvPr>
          <p:cNvPicPr>
            <a:picLocks noChangeAspect="1"/>
          </p:cNvPicPr>
          <p:nvPr/>
        </p:nvPicPr>
        <p:blipFill>
          <a:blip r:embed="rId2"/>
          <a:stretch>
            <a:fillRect/>
          </a:stretch>
        </p:blipFill>
        <p:spPr>
          <a:xfrm>
            <a:off x="4572000" y="2118703"/>
            <a:ext cx="1527159" cy="4354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0" name="Picture 9">
            <a:extLst>
              <a:ext uri="{FF2B5EF4-FFF2-40B4-BE49-F238E27FC236}">
                <a16:creationId xmlns:a16="http://schemas.microsoft.com/office/drawing/2014/main" id="{28DEBAC4-E2D3-94FC-8C96-F5BFD0CB9679}"/>
              </a:ext>
            </a:extLst>
          </p:cNvPr>
          <p:cNvPicPr>
            <a:picLocks noChangeAspect="1"/>
          </p:cNvPicPr>
          <p:nvPr/>
        </p:nvPicPr>
        <p:blipFill>
          <a:blip r:embed="rId3"/>
          <a:stretch>
            <a:fillRect/>
          </a:stretch>
        </p:blipFill>
        <p:spPr>
          <a:xfrm>
            <a:off x="2756620" y="2962568"/>
            <a:ext cx="4029191" cy="3442963"/>
          </a:xfrm>
          <a:prstGeom prst="rect">
            <a:avLst/>
          </a:prstGeom>
        </p:spPr>
      </p:pic>
    </p:spTree>
    <p:extLst>
      <p:ext uri="{BB962C8B-B14F-4D97-AF65-F5344CB8AC3E}">
        <p14:creationId xmlns:p14="http://schemas.microsoft.com/office/powerpoint/2010/main" val="40926744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ED78E-124A-6867-DEC4-C1C4EFBB6FB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FFEAA29-27A3-675A-C5BB-AFEF0B3B9887}"/>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110C2D4B-7215-6A7E-B3E0-B9DEF62A9F4B}"/>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CEB8CEA-762B-69D7-214D-56CB9E4502AE}"/>
              </a:ext>
            </a:extLst>
          </p:cNvPr>
          <p:cNvSpPr txBox="1"/>
          <p:nvPr/>
        </p:nvSpPr>
        <p:spPr>
          <a:xfrm>
            <a:off x="174311" y="1023576"/>
            <a:ext cx="8795377" cy="1815882"/>
          </a:xfrm>
          <a:prstGeom prst="rect">
            <a:avLst/>
          </a:prstGeom>
          <a:noFill/>
        </p:spPr>
        <p:txBody>
          <a:bodyPr wrap="square">
            <a:spAutoFit/>
          </a:bodyPr>
          <a:lstStyle/>
          <a:p>
            <a:pPr>
              <a:defRPr/>
            </a:pPr>
            <a:r>
              <a:rPr lang="en-IN" sz="2400" b="1" dirty="0">
                <a:solidFill>
                  <a:schemeClr val="accent1">
                    <a:lumMod val="50000"/>
                  </a:schemeClr>
                </a:solidFill>
                <a:cs typeface="Arial" charset="0"/>
              </a:rPr>
              <a:t>Python Environment Setup</a:t>
            </a:r>
          </a:p>
          <a:p>
            <a:pPr>
              <a:defRPr/>
            </a:pPr>
            <a:endParaRPr lang="en-IN" sz="2400" b="1" dirty="0">
              <a:solidFill>
                <a:schemeClr val="accent1">
                  <a:lumMod val="50000"/>
                </a:schemeClr>
              </a:solidFill>
              <a:cs typeface="Arial" charset="0"/>
            </a:endParaRPr>
          </a:p>
          <a:p>
            <a:pPr>
              <a:defRPr/>
            </a:pPr>
            <a:r>
              <a:rPr lang="en-IN" sz="2400" b="1" dirty="0">
                <a:solidFill>
                  <a:schemeClr val="accent1">
                    <a:lumMod val="50000"/>
                  </a:schemeClr>
                </a:solidFill>
                <a:cs typeface="Arial" charset="0"/>
              </a:rPr>
              <a:t>Steps to open IDLE environment:</a:t>
            </a:r>
          </a:p>
          <a:p>
            <a:pPr>
              <a:defRPr/>
            </a:pPr>
            <a:r>
              <a:rPr lang="en-IN" sz="2000" dirty="0">
                <a:cs typeface="Arial" charset="0"/>
              </a:rPr>
              <a:t>3. </a:t>
            </a:r>
            <a:r>
              <a:rPr lang="en-US" sz="2000" dirty="0"/>
              <a:t>The window displays the execution of a program to sum two numbers. This Python shell window is known as </a:t>
            </a:r>
            <a:r>
              <a:rPr lang="en-US" sz="2000" b="1" dirty="0"/>
              <a:t>Interactive Mode</a:t>
            </a:r>
            <a:r>
              <a:rPr lang="en-US" sz="2000" dirty="0"/>
              <a:t>.</a:t>
            </a:r>
            <a:endParaRPr lang="en-IN" sz="2000" dirty="0">
              <a:cs typeface="Arial" charset="0"/>
            </a:endParaRPr>
          </a:p>
        </p:txBody>
      </p:sp>
      <p:pic>
        <p:nvPicPr>
          <p:cNvPr id="2" name="Picture 1">
            <a:extLst>
              <a:ext uri="{FF2B5EF4-FFF2-40B4-BE49-F238E27FC236}">
                <a16:creationId xmlns:a16="http://schemas.microsoft.com/office/drawing/2014/main" id="{B3AEA857-5847-8B27-AD12-90B018AD6765}"/>
              </a:ext>
            </a:extLst>
          </p:cNvPr>
          <p:cNvPicPr>
            <a:picLocks noChangeAspect="1"/>
          </p:cNvPicPr>
          <p:nvPr/>
        </p:nvPicPr>
        <p:blipFill>
          <a:blip r:embed="rId2"/>
          <a:srcRect b="53034"/>
          <a:stretch>
            <a:fillRect/>
          </a:stretch>
        </p:blipFill>
        <p:spPr>
          <a:xfrm>
            <a:off x="876334" y="2983368"/>
            <a:ext cx="7391330" cy="3292643"/>
          </a:xfrm>
          <a:prstGeom prst="rect">
            <a:avLst/>
          </a:prstGeom>
        </p:spPr>
      </p:pic>
    </p:spTree>
    <p:extLst>
      <p:ext uri="{BB962C8B-B14F-4D97-AF65-F5344CB8AC3E}">
        <p14:creationId xmlns:p14="http://schemas.microsoft.com/office/powerpoint/2010/main" val="32538859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66897-2DC3-2D7D-232D-E915360906E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36F2533-A6D1-CD57-AEB9-1F3E83E6849C}"/>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5730EDED-E2D7-5200-533A-09E32317C023}"/>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B44EA139-4F1A-6F01-1A33-BF3415B2B769}"/>
              </a:ext>
            </a:extLst>
          </p:cNvPr>
          <p:cNvSpPr txBox="1"/>
          <p:nvPr/>
        </p:nvSpPr>
        <p:spPr>
          <a:xfrm>
            <a:off x="181475" y="1023575"/>
            <a:ext cx="8795377" cy="2123658"/>
          </a:xfrm>
          <a:prstGeom prst="rect">
            <a:avLst/>
          </a:prstGeom>
          <a:noFill/>
        </p:spPr>
        <p:txBody>
          <a:bodyPr wrap="square">
            <a:spAutoFit/>
          </a:bodyPr>
          <a:lstStyle/>
          <a:p>
            <a:pPr>
              <a:defRPr/>
            </a:pPr>
            <a:r>
              <a:rPr lang="en-IN" sz="2400" b="1" dirty="0">
                <a:solidFill>
                  <a:schemeClr val="accent1">
                    <a:lumMod val="50000"/>
                  </a:schemeClr>
                </a:solidFill>
                <a:cs typeface="Arial" charset="0"/>
              </a:rPr>
              <a:t>Python Environment Setup</a:t>
            </a:r>
          </a:p>
          <a:p>
            <a:pPr>
              <a:defRPr/>
            </a:pPr>
            <a:r>
              <a:rPr lang="en-IN" sz="2000" dirty="0">
                <a:cs typeface="Arial" charset="0"/>
              </a:rPr>
              <a:t>1. In the Interactive mode, click the File&gt;New File, untitled window will open as shown below: It refers to as the script mode.</a:t>
            </a:r>
          </a:p>
          <a:p>
            <a:pPr>
              <a:defRPr/>
            </a:pPr>
            <a:endParaRPr lang="en-IN" sz="2400" b="1" dirty="0">
              <a:solidFill>
                <a:schemeClr val="accent1">
                  <a:lumMod val="50000"/>
                </a:schemeClr>
              </a:solidFill>
              <a:cs typeface="Arial" charset="0"/>
            </a:endParaRPr>
          </a:p>
          <a:p>
            <a:endParaRPr lang="en-US" sz="2000" dirty="0"/>
          </a:p>
          <a:p>
            <a:pPr>
              <a:defRPr/>
            </a:pPr>
            <a:endParaRPr lang="en-US" sz="2400" b="1" dirty="0">
              <a:solidFill>
                <a:schemeClr val="accent1">
                  <a:lumMod val="50000"/>
                </a:schemeClr>
              </a:solidFill>
              <a:cs typeface="Arial" charset="0"/>
            </a:endParaRPr>
          </a:p>
        </p:txBody>
      </p:sp>
      <p:pic>
        <p:nvPicPr>
          <p:cNvPr id="3" name="Picture 2">
            <a:extLst>
              <a:ext uri="{FF2B5EF4-FFF2-40B4-BE49-F238E27FC236}">
                <a16:creationId xmlns:a16="http://schemas.microsoft.com/office/drawing/2014/main" id="{DE6F63C0-31D2-1634-E194-53D575553D1F}"/>
              </a:ext>
            </a:extLst>
          </p:cNvPr>
          <p:cNvPicPr>
            <a:picLocks noChangeAspect="1"/>
          </p:cNvPicPr>
          <p:nvPr/>
        </p:nvPicPr>
        <p:blipFill>
          <a:blip r:embed="rId2"/>
          <a:stretch>
            <a:fillRect/>
          </a:stretch>
        </p:blipFill>
        <p:spPr>
          <a:xfrm>
            <a:off x="2609406" y="2146959"/>
            <a:ext cx="4756594" cy="4251029"/>
          </a:xfrm>
          <a:prstGeom prst="rect">
            <a:avLst/>
          </a:prstGeom>
        </p:spPr>
      </p:pic>
    </p:spTree>
    <p:extLst>
      <p:ext uri="{BB962C8B-B14F-4D97-AF65-F5344CB8AC3E}">
        <p14:creationId xmlns:p14="http://schemas.microsoft.com/office/powerpoint/2010/main" val="13901639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F4DE6-30ED-5E13-0A1C-420C1244BAA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748DF9E-4D2E-596F-925E-A5FF665EFDC0}"/>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92861D48-5940-53DA-7B58-3A8137827331}"/>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03848B3-5F24-28CA-7CD6-9232A74D69E3}"/>
              </a:ext>
            </a:extLst>
          </p:cNvPr>
          <p:cNvSpPr txBox="1"/>
          <p:nvPr/>
        </p:nvSpPr>
        <p:spPr>
          <a:xfrm>
            <a:off x="181475" y="1023575"/>
            <a:ext cx="8795377" cy="1446550"/>
          </a:xfrm>
          <a:prstGeom prst="rect">
            <a:avLst/>
          </a:prstGeom>
          <a:noFill/>
        </p:spPr>
        <p:txBody>
          <a:bodyPr wrap="square">
            <a:spAutoFit/>
          </a:bodyPr>
          <a:lstStyle/>
          <a:p>
            <a:pPr>
              <a:defRPr/>
            </a:pPr>
            <a:r>
              <a:rPr lang="en-IN" sz="2400" b="1" dirty="0">
                <a:solidFill>
                  <a:schemeClr val="accent1">
                    <a:lumMod val="50000"/>
                  </a:schemeClr>
                </a:solidFill>
                <a:cs typeface="Arial" charset="0"/>
              </a:rPr>
              <a:t>Python Environment Setup</a:t>
            </a:r>
          </a:p>
          <a:p>
            <a:r>
              <a:rPr lang="en-US" sz="2000" dirty="0"/>
              <a:t>Write the program to do the addition of two numbers. Click on Run&gt;Run Module to execute the code.</a:t>
            </a:r>
          </a:p>
          <a:p>
            <a:pPr>
              <a:defRPr/>
            </a:pPr>
            <a:endParaRPr lang="en-US" sz="2400" b="1" dirty="0">
              <a:solidFill>
                <a:schemeClr val="accent1">
                  <a:lumMod val="50000"/>
                </a:schemeClr>
              </a:solidFill>
              <a:cs typeface="Arial" charset="0"/>
            </a:endParaRPr>
          </a:p>
        </p:txBody>
      </p:sp>
      <p:pic>
        <p:nvPicPr>
          <p:cNvPr id="5" name="Picture 4">
            <a:extLst>
              <a:ext uri="{FF2B5EF4-FFF2-40B4-BE49-F238E27FC236}">
                <a16:creationId xmlns:a16="http://schemas.microsoft.com/office/drawing/2014/main" id="{46156777-E952-30E7-B93B-E7D3192F94F6}"/>
              </a:ext>
            </a:extLst>
          </p:cNvPr>
          <p:cNvPicPr>
            <a:picLocks noChangeAspect="1"/>
          </p:cNvPicPr>
          <p:nvPr/>
        </p:nvPicPr>
        <p:blipFill>
          <a:blip r:embed="rId2"/>
          <a:stretch>
            <a:fillRect/>
          </a:stretch>
        </p:blipFill>
        <p:spPr>
          <a:xfrm>
            <a:off x="539308" y="2162348"/>
            <a:ext cx="7773423" cy="4150056"/>
          </a:xfrm>
          <a:prstGeom prst="rect">
            <a:avLst/>
          </a:prstGeom>
        </p:spPr>
      </p:pic>
    </p:spTree>
    <p:extLst>
      <p:ext uri="{BB962C8B-B14F-4D97-AF65-F5344CB8AC3E}">
        <p14:creationId xmlns:p14="http://schemas.microsoft.com/office/powerpoint/2010/main" val="3600965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7B9DF-3176-ECAB-E97C-F399082F083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B708872-B2EB-4BC2-6A48-169884293780}"/>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1F084D78-9FD0-BEA7-CD59-0762171DBBBD}"/>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7A4AE85-F0E1-E825-34FD-4689588C3A04}"/>
              </a:ext>
            </a:extLst>
          </p:cNvPr>
          <p:cNvSpPr txBox="1"/>
          <p:nvPr/>
        </p:nvSpPr>
        <p:spPr>
          <a:xfrm>
            <a:off x="181475" y="1023575"/>
            <a:ext cx="8795377" cy="830997"/>
          </a:xfrm>
          <a:prstGeom prst="rect">
            <a:avLst/>
          </a:prstGeom>
          <a:noFill/>
        </p:spPr>
        <p:txBody>
          <a:bodyPr wrap="square">
            <a:spAutoFit/>
          </a:bodyPr>
          <a:lstStyle/>
          <a:p>
            <a:pPr>
              <a:defRPr/>
            </a:pPr>
            <a:r>
              <a:rPr lang="en-IN" sz="2400" b="1" dirty="0">
                <a:solidFill>
                  <a:schemeClr val="accent1">
                    <a:lumMod val="50000"/>
                  </a:schemeClr>
                </a:solidFill>
                <a:cs typeface="Arial" charset="0"/>
              </a:rPr>
              <a:t>Python Environment Setup</a:t>
            </a:r>
          </a:p>
          <a:p>
            <a:pPr>
              <a:defRPr/>
            </a:pPr>
            <a:endParaRPr lang="en-US" sz="2400" b="1" dirty="0">
              <a:solidFill>
                <a:schemeClr val="accent1">
                  <a:lumMod val="50000"/>
                </a:schemeClr>
              </a:solidFill>
              <a:cs typeface="Arial" charset="0"/>
            </a:endParaRPr>
          </a:p>
        </p:txBody>
      </p:sp>
      <p:pic>
        <p:nvPicPr>
          <p:cNvPr id="3" name="Picture 2">
            <a:extLst>
              <a:ext uri="{FF2B5EF4-FFF2-40B4-BE49-F238E27FC236}">
                <a16:creationId xmlns:a16="http://schemas.microsoft.com/office/drawing/2014/main" id="{3295FF90-BF4C-B1CF-1BA1-AA657A50D109}"/>
              </a:ext>
            </a:extLst>
          </p:cNvPr>
          <p:cNvPicPr>
            <a:picLocks noChangeAspect="1"/>
          </p:cNvPicPr>
          <p:nvPr/>
        </p:nvPicPr>
        <p:blipFill>
          <a:blip r:embed="rId2"/>
          <a:stretch>
            <a:fillRect/>
          </a:stretch>
        </p:blipFill>
        <p:spPr>
          <a:xfrm>
            <a:off x="2151625" y="1608350"/>
            <a:ext cx="5180508" cy="4851703"/>
          </a:xfrm>
          <a:prstGeom prst="rect">
            <a:avLst/>
          </a:prstGeom>
        </p:spPr>
      </p:pic>
    </p:spTree>
    <p:extLst>
      <p:ext uri="{BB962C8B-B14F-4D97-AF65-F5344CB8AC3E}">
        <p14:creationId xmlns:p14="http://schemas.microsoft.com/office/powerpoint/2010/main" val="6701126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E6CD2-38E2-A0A4-651D-BA20A2CAE1C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5A40E0F-96B7-47AE-A369-AA52786A96EB}"/>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75354FF6-E493-3886-8934-0879F4693D64}"/>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E80AC15-1312-F1F8-6CB4-C282479B16B9}"/>
              </a:ext>
            </a:extLst>
          </p:cNvPr>
          <p:cNvSpPr txBox="1"/>
          <p:nvPr/>
        </p:nvSpPr>
        <p:spPr>
          <a:xfrm>
            <a:off x="181475" y="1023575"/>
            <a:ext cx="8795377" cy="1446550"/>
          </a:xfrm>
          <a:prstGeom prst="rect">
            <a:avLst/>
          </a:prstGeom>
          <a:noFill/>
        </p:spPr>
        <p:txBody>
          <a:bodyPr wrap="square">
            <a:spAutoFit/>
          </a:bodyPr>
          <a:lstStyle/>
          <a:p>
            <a:pPr>
              <a:defRPr/>
            </a:pPr>
            <a:r>
              <a:rPr lang="en-IN" sz="2400" b="1" dirty="0">
                <a:solidFill>
                  <a:schemeClr val="accent1">
                    <a:lumMod val="50000"/>
                  </a:schemeClr>
                </a:solidFill>
                <a:cs typeface="Arial" charset="0"/>
              </a:rPr>
              <a:t>Python Environment Setup</a:t>
            </a:r>
          </a:p>
          <a:p>
            <a:r>
              <a:rPr lang="en-US" sz="2000" dirty="0"/>
              <a:t>When we click on Run Module, the following dialog box will appear as shown below:</a:t>
            </a:r>
          </a:p>
          <a:p>
            <a:pPr>
              <a:defRPr/>
            </a:pPr>
            <a:endParaRPr lang="en-US" sz="2400" b="1" dirty="0">
              <a:solidFill>
                <a:schemeClr val="accent1">
                  <a:lumMod val="50000"/>
                </a:schemeClr>
              </a:solidFill>
              <a:cs typeface="Arial" charset="0"/>
            </a:endParaRPr>
          </a:p>
        </p:txBody>
      </p:sp>
      <p:pic>
        <p:nvPicPr>
          <p:cNvPr id="5" name="Picture 4">
            <a:extLst>
              <a:ext uri="{FF2B5EF4-FFF2-40B4-BE49-F238E27FC236}">
                <a16:creationId xmlns:a16="http://schemas.microsoft.com/office/drawing/2014/main" id="{22064514-C45A-54C1-1179-135EF387B767}"/>
              </a:ext>
            </a:extLst>
          </p:cNvPr>
          <p:cNvPicPr>
            <a:picLocks noChangeAspect="1"/>
          </p:cNvPicPr>
          <p:nvPr/>
        </p:nvPicPr>
        <p:blipFill>
          <a:blip r:embed="rId2"/>
          <a:stretch>
            <a:fillRect/>
          </a:stretch>
        </p:blipFill>
        <p:spPr>
          <a:xfrm>
            <a:off x="2276243" y="1851283"/>
            <a:ext cx="4801890" cy="4491219"/>
          </a:xfrm>
          <a:prstGeom prst="rect">
            <a:avLst/>
          </a:prstGeom>
        </p:spPr>
      </p:pic>
    </p:spTree>
    <p:extLst>
      <p:ext uri="{BB962C8B-B14F-4D97-AF65-F5344CB8AC3E}">
        <p14:creationId xmlns:p14="http://schemas.microsoft.com/office/powerpoint/2010/main" val="40508824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290FC-3ACB-1D7D-2CE7-D76E9A6241C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C1A7711-2EEF-05A2-9D18-020C7D77E146}"/>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65B1BF25-1C4B-B9AC-3BBC-7C871D55CC97}"/>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F19B2598-AAAB-B0FF-73BA-93F4AE8C2F78}"/>
              </a:ext>
            </a:extLst>
          </p:cNvPr>
          <p:cNvSpPr txBox="1"/>
          <p:nvPr/>
        </p:nvSpPr>
        <p:spPr>
          <a:xfrm>
            <a:off x="181475" y="1023575"/>
            <a:ext cx="8795377" cy="1446550"/>
          </a:xfrm>
          <a:prstGeom prst="rect">
            <a:avLst/>
          </a:prstGeom>
          <a:noFill/>
        </p:spPr>
        <p:txBody>
          <a:bodyPr wrap="square">
            <a:spAutoFit/>
          </a:bodyPr>
          <a:lstStyle/>
          <a:p>
            <a:pPr>
              <a:defRPr/>
            </a:pPr>
            <a:r>
              <a:rPr lang="en-IN" sz="2400" b="1" dirty="0">
                <a:solidFill>
                  <a:schemeClr val="accent1">
                    <a:lumMod val="50000"/>
                  </a:schemeClr>
                </a:solidFill>
                <a:cs typeface="Arial" charset="0"/>
              </a:rPr>
              <a:t>Python Environment Setup</a:t>
            </a:r>
          </a:p>
          <a:p>
            <a:r>
              <a:rPr lang="en-US" sz="2000" dirty="0"/>
              <a:t>Click on the Ok button. The following dialog box will appear as shown below:</a:t>
            </a:r>
          </a:p>
          <a:p>
            <a:r>
              <a:rPr lang="en-US" sz="2000" dirty="0"/>
              <a:t>Give the file name with .</a:t>
            </a:r>
            <a:r>
              <a:rPr lang="en-US" sz="2000" dirty="0" err="1"/>
              <a:t>py</a:t>
            </a:r>
            <a:r>
              <a:rPr lang="en-US" sz="2000" dirty="0"/>
              <a:t> extension i.e. optional and click on Save button.</a:t>
            </a:r>
          </a:p>
          <a:p>
            <a:pPr>
              <a:defRPr/>
            </a:pPr>
            <a:endParaRPr lang="en-US" sz="2400" b="1" dirty="0">
              <a:solidFill>
                <a:schemeClr val="accent1">
                  <a:lumMod val="50000"/>
                </a:schemeClr>
              </a:solidFill>
              <a:cs typeface="Arial" charset="0"/>
            </a:endParaRPr>
          </a:p>
        </p:txBody>
      </p:sp>
      <p:pic>
        <p:nvPicPr>
          <p:cNvPr id="3" name="Picture 2">
            <a:extLst>
              <a:ext uri="{FF2B5EF4-FFF2-40B4-BE49-F238E27FC236}">
                <a16:creationId xmlns:a16="http://schemas.microsoft.com/office/drawing/2014/main" id="{532A11F6-677D-3A52-9963-EC67D35DE2C5}"/>
              </a:ext>
            </a:extLst>
          </p:cNvPr>
          <p:cNvPicPr>
            <a:picLocks noChangeAspect="1"/>
          </p:cNvPicPr>
          <p:nvPr/>
        </p:nvPicPr>
        <p:blipFill>
          <a:blip r:embed="rId2"/>
          <a:stretch>
            <a:fillRect/>
          </a:stretch>
        </p:blipFill>
        <p:spPr>
          <a:xfrm>
            <a:off x="2116451" y="2063095"/>
            <a:ext cx="4707682" cy="4441335"/>
          </a:xfrm>
          <a:prstGeom prst="rect">
            <a:avLst/>
          </a:prstGeom>
        </p:spPr>
      </p:pic>
    </p:spTree>
    <p:extLst>
      <p:ext uri="{BB962C8B-B14F-4D97-AF65-F5344CB8AC3E}">
        <p14:creationId xmlns:p14="http://schemas.microsoft.com/office/powerpoint/2010/main" val="39927481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F1749-EA01-6AFA-87E8-B6FD65A2C20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54DDB6B-B347-41B2-25E4-8EA6B1035648}"/>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A91C6690-8840-1F2D-30D1-C02C1A45E7B6}"/>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061135E-E24C-4D7D-95DC-22C8883CE517}"/>
              </a:ext>
            </a:extLst>
          </p:cNvPr>
          <p:cNvSpPr txBox="1"/>
          <p:nvPr/>
        </p:nvSpPr>
        <p:spPr>
          <a:xfrm>
            <a:off x="181475" y="1023575"/>
            <a:ext cx="8795377" cy="1446550"/>
          </a:xfrm>
          <a:prstGeom prst="rect">
            <a:avLst/>
          </a:prstGeom>
          <a:noFill/>
        </p:spPr>
        <p:txBody>
          <a:bodyPr wrap="square">
            <a:spAutoFit/>
          </a:bodyPr>
          <a:lstStyle/>
          <a:p>
            <a:pPr>
              <a:defRPr/>
            </a:pPr>
            <a:r>
              <a:rPr lang="en-IN" sz="2400" b="1" dirty="0">
                <a:solidFill>
                  <a:schemeClr val="accent1">
                    <a:lumMod val="50000"/>
                  </a:schemeClr>
                </a:solidFill>
                <a:cs typeface="Arial" charset="0"/>
              </a:rPr>
              <a:t>Python Environment Setup</a:t>
            </a:r>
          </a:p>
          <a:p>
            <a:r>
              <a:rPr lang="en-US" sz="2000" dirty="0"/>
              <a:t>The output will be displayed in an interactive mode as shown below: This way we can write a program in an interactive mode and script mode.</a:t>
            </a:r>
          </a:p>
          <a:p>
            <a:pPr>
              <a:defRPr/>
            </a:pPr>
            <a:endParaRPr lang="en-US" sz="2400" b="1" dirty="0">
              <a:solidFill>
                <a:schemeClr val="accent1">
                  <a:lumMod val="50000"/>
                </a:schemeClr>
              </a:solidFill>
              <a:cs typeface="Arial" charset="0"/>
            </a:endParaRPr>
          </a:p>
        </p:txBody>
      </p:sp>
      <p:pic>
        <p:nvPicPr>
          <p:cNvPr id="5" name="Picture 4">
            <a:extLst>
              <a:ext uri="{FF2B5EF4-FFF2-40B4-BE49-F238E27FC236}">
                <a16:creationId xmlns:a16="http://schemas.microsoft.com/office/drawing/2014/main" id="{906A3D37-E31A-649B-7F4D-2DBEFF69D2A9}"/>
              </a:ext>
            </a:extLst>
          </p:cNvPr>
          <p:cNvPicPr>
            <a:picLocks noChangeAspect="1"/>
          </p:cNvPicPr>
          <p:nvPr/>
        </p:nvPicPr>
        <p:blipFill>
          <a:blip r:embed="rId2"/>
          <a:stretch>
            <a:fillRect/>
          </a:stretch>
        </p:blipFill>
        <p:spPr>
          <a:xfrm>
            <a:off x="568002" y="2152317"/>
            <a:ext cx="8007996" cy="4180747"/>
          </a:xfrm>
          <a:prstGeom prst="rect">
            <a:avLst/>
          </a:prstGeom>
        </p:spPr>
      </p:pic>
    </p:spTree>
    <p:extLst>
      <p:ext uri="{BB962C8B-B14F-4D97-AF65-F5344CB8AC3E}">
        <p14:creationId xmlns:p14="http://schemas.microsoft.com/office/powerpoint/2010/main" val="4182296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8672A-1E57-08D7-ACFD-1F055BC5E18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12C6185-A43A-C1BA-4B10-FF385A73E196}"/>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066D8CEC-C79A-0620-679D-817BC8967E1D}"/>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1EF170C-88B1-826C-3A97-1142DA9E5514}"/>
              </a:ext>
            </a:extLst>
          </p:cNvPr>
          <p:cNvSpPr txBox="1"/>
          <p:nvPr/>
        </p:nvSpPr>
        <p:spPr>
          <a:xfrm>
            <a:off x="181475" y="1023575"/>
            <a:ext cx="8795377" cy="4770537"/>
          </a:xfrm>
          <a:prstGeom prst="rect">
            <a:avLst/>
          </a:prstGeom>
          <a:noFill/>
        </p:spPr>
        <p:txBody>
          <a:bodyPr wrap="square">
            <a:spAutoFit/>
          </a:bodyPr>
          <a:lstStyle/>
          <a:p>
            <a:pPr>
              <a:defRPr/>
            </a:pPr>
            <a:r>
              <a:rPr lang="en-IN" sz="2400" b="1" dirty="0">
                <a:solidFill>
                  <a:schemeClr val="accent1">
                    <a:lumMod val="50000"/>
                  </a:schemeClr>
                </a:solidFill>
                <a:cs typeface="Arial" charset="0"/>
              </a:rPr>
              <a:t>Python Environment Setup</a:t>
            </a:r>
          </a:p>
          <a:p>
            <a:pPr>
              <a:defRPr/>
            </a:pPr>
            <a:r>
              <a:rPr lang="en-US" sz="2000" b="1" dirty="0"/>
              <a:t>Step-by-step methods to open Python from the Command Prompt (CMD) on Windows operating system:</a:t>
            </a:r>
          </a:p>
          <a:p>
            <a:pPr>
              <a:defRPr/>
            </a:pPr>
            <a:endParaRPr lang="en-US" sz="2000" dirty="0">
              <a:solidFill>
                <a:schemeClr val="accent1">
                  <a:lumMod val="50000"/>
                </a:schemeClr>
              </a:solidFill>
              <a:cs typeface="Arial" charset="0"/>
            </a:endParaRPr>
          </a:p>
          <a:p>
            <a:pPr marL="457200" indent="-457200">
              <a:buFont typeface="+mj-lt"/>
              <a:buAutoNum type="arabicPeriod"/>
              <a:defRPr/>
            </a:pPr>
            <a:r>
              <a:rPr lang="en-IN" sz="2000" dirty="0"/>
              <a:t>Press Win + R, the Run dialog box will open.</a:t>
            </a:r>
          </a:p>
          <a:p>
            <a:pPr marL="457200" indent="-457200">
              <a:buFont typeface="+mj-lt"/>
              <a:buAutoNum type="arabicPeriod"/>
              <a:defRPr/>
            </a:pPr>
            <a:endParaRPr lang="en-IN" sz="2000" dirty="0"/>
          </a:p>
          <a:p>
            <a:pPr marL="457200" indent="-457200">
              <a:buFont typeface="+mj-lt"/>
              <a:buAutoNum type="arabicPeriod"/>
              <a:defRPr/>
            </a:pPr>
            <a:endParaRPr lang="en-IN" sz="2000" dirty="0"/>
          </a:p>
          <a:p>
            <a:pPr marL="457200" indent="-457200">
              <a:buFont typeface="+mj-lt"/>
              <a:buAutoNum type="arabicPeriod"/>
              <a:defRPr/>
            </a:pPr>
            <a:endParaRPr lang="en-IN" sz="2000" dirty="0"/>
          </a:p>
          <a:p>
            <a:pPr marL="457200" indent="-457200">
              <a:buFont typeface="+mj-lt"/>
              <a:buAutoNum type="arabicPeriod"/>
              <a:defRPr/>
            </a:pPr>
            <a:endParaRPr lang="en-IN" sz="2000" dirty="0"/>
          </a:p>
          <a:p>
            <a:pPr marL="457200" indent="-457200">
              <a:buFont typeface="+mj-lt"/>
              <a:buAutoNum type="arabicPeriod"/>
              <a:defRPr/>
            </a:pPr>
            <a:endParaRPr lang="en-IN" sz="2000" dirty="0"/>
          </a:p>
          <a:p>
            <a:pPr marL="457200" indent="-457200">
              <a:buFont typeface="+mj-lt"/>
              <a:buAutoNum type="arabicPeriod"/>
              <a:defRPr/>
            </a:pPr>
            <a:endParaRPr lang="en-IN" sz="2000" dirty="0"/>
          </a:p>
          <a:p>
            <a:pPr marL="457200" indent="-457200">
              <a:buFont typeface="+mj-lt"/>
              <a:buAutoNum type="arabicPeriod"/>
              <a:defRPr/>
            </a:pPr>
            <a:endParaRPr lang="en-IN" sz="2000" dirty="0"/>
          </a:p>
          <a:p>
            <a:pPr marL="457200" indent="-457200">
              <a:buFont typeface="+mj-lt"/>
              <a:buAutoNum type="arabicPeriod"/>
              <a:defRPr/>
            </a:pPr>
            <a:endParaRPr lang="en-IN" sz="2000" dirty="0"/>
          </a:p>
          <a:p>
            <a:pPr marL="457200" indent="-457200">
              <a:buFont typeface="+mj-lt"/>
              <a:buAutoNum type="arabicPeriod"/>
              <a:defRPr/>
            </a:pPr>
            <a:endParaRPr lang="en-IN" sz="2000" dirty="0"/>
          </a:p>
          <a:p>
            <a:pPr marL="457200" indent="-457200">
              <a:buFont typeface="+mj-lt"/>
              <a:buAutoNum type="arabicPeriod"/>
              <a:defRPr/>
            </a:pPr>
            <a:r>
              <a:rPr lang="en-US" sz="2000" dirty="0"/>
              <a:t>Type </a:t>
            </a:r>
            <a:r>
              <a:rPr lang="en-US" sz="2000" dirty="0" err="1"/>
              <a:t>cmd</a:t>
            </a:r>
            <a:r>
              <a:rPr lang="en-US" sz="2000" dirty="0"/>
              <a:t> and press Enter. </a:t>
            </a:r>
            <a:endParaRPr lang="en-US" sz="2400" b="1" dirty="0">
              <a:solidFill>
                <a:schemeClr val="accent1">
                  <a:lumMod val="50000"/>
                </a:schemeClr>
              </a:solidFill>
              <a:cs typeface="Arial" charset="0"/>
            </a:endParaRPr>
          </a:p>
        </p:txBody>
      </p:sp>
      <p:pic>
        <p:nvPicPr>
          <p:cNvPr id="9" name="Picture 8">
            <a:extLst>
              <a:ext uri="{FF2B5EF4-FFF2-40B4-BE49-F238E27FC236}">
                <a16:creationId xmlns:a16="http://schemas.microsoft.com/office/drawing/2014/main" id="{1483F2B2-D087-EC83-F86E-0CBC96F042A2}"/>
              </a:ext>
            </a:extLst>
          </p:cNvPr>
          <p:cNvPicPr>
            <a:picLocks noChangeAspect="1"/>
          </p:cNvPicPr>
          <p:nvPr/>
        </p:nvPicPr>
        <p:blipFill>
          <a:blip r:embed="rId2"/>
          <a:stretch>
            <a:fillRect/>
          </a:stretch>
        </p:blipFill>
        <p:spPr>
          <a:xfrm>
            <a:off x="2006772" y="2759785"/>
            <a:ext cx="4702436" cy="2375333"/>
          </a:xfrm>
          <a:prstGeom prst="rect">
            <a:avLst/>
          </a:prstGeom>
        </p:spPr>
      </p:pic>
    </p:spTree>
    <p:extLst>
      <p:ext uri="{BB962C8B-B14F-4D97-AF65-F5344CB8AC3E}">
        <p14:creationId xmlns:p14="http://schemas.microsoft.com/office/powerpoint/2010/main" val="1685733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80A78-9CB0-1F2A-ABD4-BC36FB64DB0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B83CE05-A84B-9F4C-6AC9-A62439C26F4D}"/>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5F054296-D9E6-53D1-F5C5-C88327C1C13B}"/>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0288985-B5DF-98D2-4207-DE574B236ECF}"/>
              </a:ext>
            </a:extLst>
          </p:cNvPr>
          <p:cNvSpPr txBox="1"/>
          <p:nvPr/>
        </p:nvSpPr>
        <p:spPr>
          <a:xfrm>
            <a:off x="181475" y="1023575"/>
            <a:ext cx="8795377" cy="1569660"/>
          </a:xfrm>
          <a:prstGeom prst="rect">
            <a:avLst/>
          </a:prstGeom>
          <a:noFill/>
        </p:spPr>
        <p:txBody>
          <a:bodyPr wrap="square">
            <a:spAutoFit/>
          </a:bodyPr>
          <a:lstStyle/>
          <a:p>
            <a:pPr>
              <a:defRPr/>
            </a:pPr>
            <a:r>
              <a:rPr lang="en-IN" sz="2400" b="1" dirty="0">
                <a:solidFill>
                  <a:schemeClr val="accent1">
                    <a:lumMod val="50000"/>
                  </a:schemeClr>
                </a:solidFill>
                <a:cs typeface="Arial" charset="0"/>
              </a:rPr>
              <a:t>Python Environment Setup</a:t>
            </a:r>
          </a:p>
          <a:p>
            <a:pPr>
              <a:defRPr/>
            </a:pPr>
            <a:endParaRPr lang="en-US" sz="2400" dirty="0"/>
          </a:p>
          <a:p>
            <a:pPr>
              <a:defRPr/>
            </a:pPr>
            <a:r>
              <a:rPr lang="en-US" sz="2400" dirty="0"/>
              <a:t>The command prompt window will open as shown below:</a:t>
            </a:r>
            <a:endParaRPr lang="en-US" sz="2400" b="1" dirty="0">
              <a:solidFill>
                <a:schemeClr val="accent1">
                  <a:lumMod val="50000"/>
                </a:schemeClr>
              </a:solidFill>
              <a:cs typeface="Arial" charset="0"/>
            </a:endParaRPr>
          </a:p>
          <a:p>
            <a:pPr>
              <a:defRPr/>
            </a:pPr>
            <a:endParaRPr lang="en-US" sz="2400" b="1" dirty="0">
              <a:solidFill>
                <a:schemeClr val="accent1">
                  <a:lumMod val="50000"/>
                </a:schemeClr>
              </a:solidFill>
              <a:cs typeface="Arial" charset="0"/>
            </a:endParaRPr>
          </a:p>
        </p:txBody>
      </p:sp>
      <p:pic>
        <p:nvPicPr>
          <p:cNvPr id="3" name="Picture 2">
            <a:extLst>
              <a:ext uri="{FF2B5EF4-FFF2-40B4-BE49-F238E27FC236}">
                <a16:creationId xmlns:a16="http://schemas.microsoft.com/office/drawing/2014/main" id="{F64E7A84-BD2A-3BBF-0AC4-8417CD4A34F8}"/>
              </a:ext>
            </a:extLst>
          </p:cNvPr>
          <p:cNvPicPr>
            <a:picLocks noChangeAspect="1"/>
          </p:cNvPicPr>
          <p:nvPr/>
        </p:nvPicPr>
        <p:blipFill>
          <a:blip r:embed="rId2"/>
          <a:stretch>
            <a:fillRect/>
          </a:stretch>
        </p:blipFill>
        <p:spPr>
          <a:xfrm>
            <a:off x="896374" y="2294918"/>
            <a:ext cx="7351252" cy="4109026"/>
          </a:xfrm>
          <a:prstGeom prst="rect">
            <a:avLst/>
          </a:prstGeom>
        </p:spPr>
      </p:pic>
    </p:spTree>
    <p:extLst>
      <p:ext uri="{BB962C8B-B14F-4D97-AF65-F5344CB8AC3E}">
        <p14:creationId xmlns:p14="http://schemas.microsoft.com/office/powerpoint/2010/main" val="29406246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523DB-F070-1CE4-B23C-4E076A16414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4C26DA0-1035-EB6F-5A8B-602592BB3B7F}"/>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6A7EA305-2D5E-485F-9BBC-9A3117402730}"/>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6B08E66-37DA-AEB9-060F-351C89DC0C44}"/>
              </a:ext>
            </a:extLst>
          </p:cNvPr>
          <p:cNvSpPr txBox="1"/>
          <p:nvPr/>
        </p:nvSpPr>
        <p:spPr>
          <a:xfrm>
            <a:off x="181475" y="1023575"/>
            <a:ext cx="8795377" cy="2739211"/>
          </a:xfrm>
          <a:prstGeom prst="rect">
            <a:avLst/>
          </a:prstGeom>
          <a:noFill/>
        </p:spPr>
        <p:txBody>
          <a:bodyPr wrap="square">
            <a:spAutoFit/>
          </a:bodyPr>
          <a:lstStyle/>
          <a:p>
            <a:pPr>
              <a:defRPr/>
            </a:pPr>
            <a:r>
              <a:rPr lang="en-IN" sz="2400" b="1" dirty="0">
                <a:solidFill>
                  <a:schemeClr val="accent1">
                    <a:lumMod val="50000"/>
                  </a:schemeClr>
                </a:solidFill>
                <a:cs typeface="Arial" charset="0"/>
              </a:rPr>
              <a:t>Python Environment Setup</a:t>
            </a:r>
          </a:p>
          <a:p>
            <a:pPr>
              <a:defRPr/>
            </a:pPr>
            <a:r>
              <a:rPr lang="en-US" sz="2000" dirty="0"/>
              <a:t>In the Command Prompt, type: python</a:t>
            </a:r>
          </a:p>
          <a:p>
            <a:pPr>
              <a:defRPr/>
            </a:pPr>
            <a:r>
              <a:rPr lang="en-US" sz="2000" dirty="0"/>
              <a:t>Press enter.</a:t>
            </a:r>
          </a:p>
          <a:p>
            <a:pPr>
              <a:defRPr/>
            </a:pPr>
            <a:r>
              <a:rPr lang="en-US" sz="2000" dirty="0"/>
              <a:t>The python prompt will be displayed. Now you can perform the addition of two numbers as shown below:</a:t>
            </a:r>
          </a:p>
          <a:p>
            <a:pPr>
              <a:defRPr/>
            </a:pPr>
            <a:endParaRPr lang="en-US" sz="2000" dirty="0"/>
          </a:p>
          <a:p>
            <a:pPr>
              <a:defRPr/>
            </a:pPr>
            <a:endParaRPr lang="en-US" sz="2400" b="1" dirty="0">
              <a:solidFill>
                <a:schemeClr val="accent1">
                  <a:lumMod val="50000"/>
                </a:schemeClr>
              </a:solidFill>
              <a:cs typeface="Arial" charset="0"/>
            </a:endParaRPr>
          </a:p>
          <a:p>
            <a:pPr>
              <a:defRPr/>
            </a:pPr>
            <a:endParaRPr lang="en-US" sz="2400" b="1" dirty="0">
              <a:solidFill>
                <a:schemeClr val="accent1">
                  <a:lumMod val="50000"/>
                </a:schemeClr>
              </a:solidFill>
              <a:cs typeface="Arial" charset="0"/>
            </a:endParaRPr>
          </a:p>
        </p:txBody>
      </p:sp>
      <p:pic>
        <p:nvPicPr>
          <p:cNvPr id="3" name="Picture 2">
            <a:extLst>
              <a:ext uri="{FF2B5EF4-FFF2-40B4-BE49-F238E27FC236}">
                <a16:creationId xmlns:a16="http://schemas.microsoft.com/office/drawing/2014/main" id="{CE7986A9-4936-DF8C-8D18-7BED9319C8BD}"/>
              </a:ext>
            </a:extLst>
          </p:cNvPr>
          <p:cNvPicPr>
            <a:picLocks noChangeAspect="1"/>
          </p:cNvPicPr>
          <p:nvPr/>
        </p:nvPicPr>
        <p:blipFill>
          <a:blip r:embed="rId2"/>
          <a:stretch>
            <a:fillRect/>
          </a:stretch>
        </p:blipFill>
        <p:spPr>
          <a:xfrm>
            <a:off x="1388534" y="2708816"/>
            <a:ext cx="6603998" cy="3701338"/>
          </a:xfrm>
          <a:prstGeom prst="rect">
            <a:avLst/>
          </a:prstGeom>
        </p:spPr>
      </p:pic>
    </p:spTree>
    <p:extLst>
      <p:ext uri="{BB962C8B-B14F-4D97-AF65-F5344CB8AC3E}">
        <p14:creationId xmlns:p14="http://schemas.microsoft.com/office/powerpoint/2010/main" val="15199051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B1481-896C-A136-9882-0CA7C7F5EEF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205433F-9F8A-B7E9-25C2-7A42D6110096}"/>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95DA48B2-D688-9B0B-1E87-0CFF95D6727D}"/>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0DB13D6-1DBB-8C18-7532-38A5E2CEBB96}"/>
              </a:ext>
            </a:extLst>
          </p:cNvPr>
          <p:cNvSpPr txBox="1"/>
          <p:nvPr/>
        </p:nvSpPr>
        <p:spPr>
          <a:xfrm>
            <a:off x="181475" y="1023575"/>
            <a:ext cx="8795377" cy="5509200"/>
          </a:xfrm>
          <a:prstGeom prst="rect">
            <a:avLst/>
          </a:prstGeom>
          <a:noFill/>
        </p:spPr>
        <p:txBody>
          <a:bodyPr wrap="square">
            <a:spAutoFit/>
          </a:bodyPr>
          <a:lstStyle/>
          <a:p>
            <a:pPr>
              <a:defRPr/>
            </a:pPr>
            <a:r>
              <a:rPr lang="en-IN" sz="2400" b="1" dirty="0">
                <a:solidFill>
                  <a:schemeClr val="accent1">
                    <a:lumMod val="50000"/>
                  </a:schemeClr>
                </a:solidFill>
                <a:cs typeface="Arial" charset="0"/>
              </a:rPr>
              <a:t>Python syntax and semantics</a:t>
            </a:r>
          </a:p>
          <a:p>
            <a:pPr fontAlgn="base"/>
            <a:r>
              <a:rPr lang="en-US" sz="2000" dirty="0"/>
              <a:t>Python syntax is like grammar for this programming language. Syntax refers to the set of rules that defines how to write and organize code so that the </a:t>
            </a:r>
            <a:r>
              <a:rPr lang="en-US" sz="2000" u="sng" dirty="0">
                <a:hlinkClick r:id="rId2">
                  <a:extLst>
                    <a:ext uri="{A12FA001-AC4F-418D-AE19-62706E023703}">
                      <ahyp:hlinkClr xmlns="" xmlns:ahyp="http://schemas.microsoft.com/office/drawing/2018/hyperlinkcolor" val="tx"/>
                    </a:ext>
                  </a:extLst>
                </a:hlinkClick>
              </a:rPr>
              <a:t>Python interpreter</a:t>
            </a:r>
            <a:r>
              <a:rPr lang="en-US" sz="2000" dirty="0"/>
              <a:t> can understand and run it correctly. These rules ensure that your code is structured, formatted, and error-free. Here are some basic Python syntax:</a:t>
            </a:r>
          </a:p>
          <a:p>
            <a:pPr>
              <a:defRPr/>
            </a:pPr>
            <a:endParaRPr lang="en-IN" sz="2400" b="1" dirty="0">
              <a:solidFill>
                <a:schemeClr val="accent1">
                  <a:lumMod val="50000"/>
                </a:schemeClr>
              </a:solidFill>
              <a:cs typeface="Arial" charset="0"/>
            </a:endParaRPr>
          </a:p>
          <a:p>
            <a:pPr>
              <a:defRPr/>
            </a:pPr>
            <a:r>
              <a:rPr lang="en-IN" sz="2400" b="1" dirty="0">
                <a:solidFill>
                  <a:schemeClr val="accent1">
                    <a:lumMod val="50000"/>
                  </a:schemeClr>
                </a:solidFill>
                <a:cs typeface="Arial" charset="0"/>
              </a:rPr>
              <a:t>Indentation in Python</a:t>
            </a:r>
          </a:p>
          <a:p>
            <a:pPr>
              <a:defRPr/>
            </a:pPr>
            <a:r>
              <a:rPr lang="en-US" sz="2000" dirty="0">
                <a:hlinkClick r:id="rId3">
                  <a:extLst>
                    <a:ext uri="{A12FA001-AC4F-418D-AE19-62706E023703}">
                      <ahyp:hlinkClr xmlns="" xmlns:ahyp="http://schemas.microsoft.com/office/drawing/2018/hyperlinkcolor" val="tx"/>
                    </a:ext>
                  </a:extLst>
                </a:hlinkClick>
              </a:rPr>
              <a:t>Python Indentation</a:t>
            </a:r>
            <a:r>
              <a:rPr lang="en-US" sz="2000" dirty="0"/>
              <a:t> refers to the use of whitespace (spaces or tabs) at the beginning of code line. It is used to define the code blocks. Indentation is crucial in Python because, unlike many other programming languages that use braces "{}" to define blocks, Python uses indentation. It improves the readability of Python code, but on other hand it became difficult to rectify indentation errors. Even one extra or less space can leads to indentation error. E.g.</a:t>
            </a:r>
          </a:p>
          <a:p>
            <a:pPr fontAlgn="base"/>
            <a:r>
              <a:rPr lang="en-US" sz="2000" dirty="0"/>
              <a:t>if 10 &gt; 5:</a:t>
            </a:r>
          </a:p>
          <a:p>
            <a:pPr fontAlgn="base"/>
            <a:r>
              <a:rPr lang="en-US" sz="2000" dirty="0"/>
              <a:t>    print("This is true!")</a:t>
            </a:r>
          </a:p>
          <a:p>
            <a:pPr fontAlgn="base"/>
            <a:r>
              <a:rPr lang="en-US" sz="2000" dirty="0"/>
              <a:t>    print("I am tab indentation")</a:t>
            </a:r>
          </a:p>
          <a:p>
            <a:pPr fontAlgn="base"/>
            <a:r>
              <a:rPr lang="en-US" sz="2000" dirty="0"/>
              <a:t>print("I have no indentation")</a:t>
            </a:r>
            <a:endParaRPr lang="en-US" sz="2400" b="1" dirty="0">
              <a:solidFill>
                <a:schemeClr val="accent1">
                  <a:lumMod val="50000"/>
                </a:schemeClr>
              </a:solidFill>
              <a:cs typeface="Arial" charset="0"/>
            </a:endParaRPr>
          </a:p>
        </p:txBody>
      </p:sp>
    </p:spTree>
    <p:extLst>
      <p:ext uri="{BB962C8B-B14F-4D97-AF65-F5344CB8AC3E}">
        <p14:creationId xmlns:p14="http://schemas.microsoft.com/office/powerpoint/2010/main" val="6721303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5BAFC-5364-9539-B24F-3EAE9F70470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9F0D093-5C36-DB5D-2F9A-19A941FADA43}"/>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25B6D07C-F07D-28C5-1BC3-81D70C0A226B}"/>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35AA7613-6510-B540-899F-CE543E02784B}"/>
              </a:ext>
            </a:extLst>
          </p:cNvPr>
          <p:cNvSpPr txBox="1"/>
          <p:nvPr/>
        </p:nvSpPr>
        <p:spPr>
          <a:xfrm>
            <a:off x="174311" y="1124859"/>
            <a:ext cx="8795377" cy="1015663"/>
          </a:xfrm>
          <a:prstGeom prst="rect">
            <a:avLst/>
          </a:prstGeom>
          <a:noFill/>
        </p:spPr>
        <p:txBody>
          <a:bodyPr wrap="square">
            <a:spAutoFit/>
          </a:bodyPr>
          <a:lstStyle/>
          <a:p>
            <a:pPr>
              <a:defRPr/>
            </a:pPr>
            <a:r>
              <a:rPr lang="en-IN" sz="2400" b="1" dirty="0">
                <a:solidFill>
                  <a:schemeClr val="accent1">
                    <a:lumMod val="50000"/>
                  </a:schemeClr>
                </a:solidFill>
                <a:cs typeface="Arial" charset="0"/>
              </a:rPr>
              <a:t>Variables in Python</a:t>
            </a:r>
          </a:p>
          <a:p>
            <a:pPr>
              <a:defRPr/>
            </a:pPr>
            <a:r>
              <a:rPr lang="en-US" dirty="0"/>
              <a:t>Variables are used to store data values. In Python, there is no need to declare a variable explicitly. A variable is created automatically when a value is assigned to it.</a:t>
            </a:r>
            <a:endParaRPr lang="en-US" sz="2400" b="1" dirty="0">
              <a:solidFill>
                <a:schemeClr val="accent1">
                  <a:lumMod val="50000"/>
                </a:schemeClr>
              </a:solidFill>
              <a:cs typeface="Arial" charset="0"/>
            </a:endParaRPr>
          </a:p>
        </p:txBody>
      </p:sp>
      <p:pic>
        <p:nvPicPr>
          <p:cNvPr id="5" name="Picture 4">
            <a:extLst>
              <a:ext uri="{FF2B5EF4-FFF2-40B4-BE49-F238E27FC236}">
                <a16:creationId xmlns:a16="http://schemas.microsoft.com/office/drawing/2014/main" id="{DEB60546-8B2F-2C7D-A7A6-3C82A86A21FB}"/>
              </a:ext>
            </a:extLst>
          </p:cNvPr>
          <p:cNvPicPr>
            <a:picLocks noChangeAspect="1"/>
          </p:cNvPicPr>
          <p:nvPr/>
        </p:nvPicPr>
        <p:blipFill>
          <a:blip r:embed="rId2"/>
          <a:stretch>
            <a:fillRect/>
          </a:stretch>
        </p:blipFill>
        <p:spPr>
          <a:xfrm>
            <a:off x="2283122" y="2140522"/>
            <a:ext cx="3355678" cy="2086481"/>
          </a:xfrm>
          <a:prstGeom prst="rect">
            <a:avLst/>
          </a:prstGeom>
        </p:spPr>
      </p:pic>
      <p:sp>
        <p:nvSpPr>
          <p:cNvPr id="8" name="TextBox 7">
            <a:extLst>
              <a:ext uri="{FF2B5EF4-FFF2-40B4-BE49-F238E27FC236}">
                <a16:creationId xmlns:a16="http://schemas.microsoft.com/office/drawing/2014/main" id="{59A4C679-0EE1-028C-B8DD-1A1B0290C545}"/>
              </a:ext>
            </a:extLst>
          </p:cNvPr>
          <p:cNvSpPr txBox="1"/>
          <p:nvPr/>
        </p:nvSpPr>
        <p:spPr>
          <a:xfrm>
            <a:off x="354577" y="4319336"/>
            <a:ext cx="8399956" cy="646331"/>
          </a:xfrm>
          <a:prstGeom prst="rect">
            <a:avLst/>
          </a:prstGeom>
          <a:noFill/>
        </p:spPr>
        <p:txBody>
          <a:bodyPr wrap="square">
            <a:spAutoFit/>
          </a:bodyPr>
          <a:lstStyle/>
          <a:p>
            <a:r>
              <a:rPr lang="en-US" dirty="0"/>
              <a:t>In Python, variables do not have a fixed data type. The type is assigned automatically and can change later in the program.</a:t>
            </a:r>
            <a:endParaRPr lang="en-IN" dirty="0"/>
          </a:p>
        </p:txBody>
      </p:sp>
      <p:pic>
        <p:nvPicPr>
          <p:cNvPr id="10" name="Picture 9">
            <a:extLst>
              <a:ext uri="{FF2B5EF4-FFF2-40B4-BE49-F238E27FC236}">
                <a16:creationId xmlns:a16="http://schemas.microsoft.com/office/drawing/2014/main" id="{F5AF70BC-1CF3-EAA2-B038-4CA09B28A4FC}"/>
              </a:ext>
            </a:extLst>
          </p:cNvPr>
          <p:cNvPicPr>
            <a:picLocks noChangeAspect="1"/>
          </p:cNvPicPr>
          <p:nvPr/>
        </p:nvPicPr>
        <p:blipFill>
          <a:blip r:embed="rId3"/>
          <a:stretch>
            <a:fillRect/>
          </a:stretch>
        </p:blipFill>
        <p:spPr>
          <a:xfrm>
            <a:off x="4054797" y="4743879"/>
            <a:ext cx="2684669" cy="1661938"/>
          </a:xfrm>
          <a:prstGeom prst="rect">
            <a:avLst/>
          </a:prstGeom>
        </p:spPr>
      </p:pic>
    </p:spTree>
    <p:extLst>
      <p:ext uri="{BB962C8B-B14F-4D97-AF65-F5344CB8AC3E}">
        <p14:creationId xmlns:p14="http://schemas.microsoft.com/office/powerpoint/2010/main" val="386090979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1D842-EEA6-7D95-0246-A32781E710E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A3A770A-0624-1A84-FE8F-1D8C013B7929}"/>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98DD7F63-E442-6810-C469-6DF1252EE1A7}"/>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F6F998DD-886D-5452-DED5-222D889F3362}"/>
              </a:ext>
            </a:extLst>
          </p:cNvPr>
          <p:cNvSpPr txBox="1"/>
          <p:nvPr/>
        </p:nvSpPr>
        <p:spPr>
          <a:xfrm>
            <a:off x="174311" y="1124859"/>
            <a:ext cx="8795377" cy="1015663"/>
          </a:xfrm>
          <a:prstGeom prst="rect">
            <a:avLst/>
          </a:prstGeom>
          <a:noFill/>
        </p:spPr>
        <p:txBody>
          <a:bodyPr wrap="square">
            <a:spAutoFit/>
          </a:bodyPr>
          <a:lstStyle/>
          <a:p>
            <a:pPr>
              <a:defRPr/>
            </a:pPr>
            <a:r>
              <a:rPr lang="en-IN" sz="2400" b="1" dirty="0">
                <a:solidFill>
                  <a:schemeClr val="accent1">
                    <a:lumMod val="50000"/>
                  </a:schemeClr>
                </a:solidFill>
                <a:cs typeface="Arial" charset="0"/>
              </a:rPr>
              <a:t>Type Casting:</a:t>
            </a:r>
          </a:p>
          <a:p>
            <a:pPr>
              <a:defRPr/>
            </a:pPr>
            <a:r>
              <a:rPr lang="en-US" b="1" dirty="0"/>
              <a:t>Type Casting in Python</a:t>
            </a:r>
            <a:r>
              <a:rPr lang="en-US" dirty="0"/>
              <a:t> refers to the process of converting a variable from one data type to another in order to specify its data type.</a:t>
            </a:r>
            <a:endParaRPr lang="en-US" sz="2400" b="1" dirty="0">
              <a:solidFill>
                <a:schemeClr val="accent1">
                  <a:lumMod val="50000"/>
                </a:schemeClr>
              </a:solidFill>
              <a:cs typeface="Arial" charset="0"/>
            </a:endParaRPr>
          </a:p>
        </p:txBody>
      </p:sp>
      <p:pic>
        <p:nvPicPr>
          <p:cNvPr id="3" name="Picture 2">
            <a:extLst>
              <a:ext uri="{FF2B5EF4-FFF2-40B4-BE49-F238E27FC236}">
                <a16:creationId xmlns:a16="http://schemas.microsoft.com/office/drawing/2014/main" id="{B86CA0FA-54A6-C5A6-4BF9-38E4D775A5F9}"/>
              </a:ext>
            </a:extLst>
          </p:cNvPr>
          <p:cNvPicPr>
            <a:picLocks noChangeAspect="1"/>
          </p:cNvPicPr>
          <p:nvPr/>
        </p:nvPicPr>
        <p:blipFill>
          <a:blip r:embed="rId2"/>
          <a:stretch>
            <a:fillRect/>
          </a:stretch>
        </p:blipFill>
        <p:spPr>
          <a:xfrm>
            <a:off x="354577" y="2241804"/>
            <a:ext cx="8402223" cy="3592620"/>
          </a:xfrm>
          <a:prstGeom prst="rect">
            <a:avLst/>
          </a:prstGeom>
        </p:spPr>
      </p:pic>
    </p:spTree>
    <p:extLst>
      <p:ext uri="{BB962C8B-B14F-4D97-AF65-F5344CB8AC3E}">
        <p14:creationId xmlns:p14="http://schemas.microsoft.com/office/powerpoint/2010/main" val="154589127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FB078-B46C-731E-589F-C0CD810CAEA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CB8D990-DD9C-6E5B-5607-FF81CEE62067}"/>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258855E2-6A10-2C64-2962-E46A70ECE7F1}"/>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72C1186-6F3F-2B7A-1E84-635F78F2338C}"/>
              </a:ext>
            </a:extLst>
          </p:cNvPr>
          <p:cNvSpPr txBox="1"/>
          <p:nvPr/>
        </p:nvSpPr>
        <p:spPr>
          <a:xfrm>
            <a:off x="174311" y="1124859"/>
            <a:ext cx="8795377" cy="830997"/>
          </a:xfrm>
          <a:prstGeom prst="rect">
            <a:avLst/>
          </a:prstGeom>
          <a:noFill/>
        </p:spPr>
        <p:txBody>
          <a:bodyPr wrap="square">
            <a:spAutoFit/>
          </a:bodyPr>
          <a:lstStyle/>
          <a:p>
            <a:pPr>
              <a:defRPr/>
            </a:pPr>
            <a:r>
              <a:rPr lang="en-IN" sz="2400" b="1" dirty="0">
                <a:solidFill>
                  <a:schemeClr val="accent1">
                    <a:lumMod val="50000"/>
                  </a:schemeClr>
                </a:solidFill>
                <a:cs typeface="Arial" charset="0"/>
              </a:rPr>
              <a:t>How to get the type of a variable?</a:t>
            </a:r>
          </a:p>
          <a:p>
            <a:pPr>
              <a:defRPr/>
            </a:pPr>
            <a:r>
              <a:rPr lang="en-US" sz="2400" dirty="0"/>
              <a:t>You can find the data type of a variable by using the </a:t>
            </a:r>
            <a:r>
              <a:rPr lang="en-US" dirty="0"/>
              <a:t>type()</a:t>
            </a:r>
            <a:r>
              <a:rPr lang="en-US" sz="2400" dirty="0"/>
              <a:t> function.</a:t>
            </a:r>
            <a:endParaRPr lang="en-IN" sz="2400" b="1" dirty="0">
              <a:solidFill>
                <a:schemeClr val="accent1">
                  <a:lumMod val="50000"/>
                </a:schemeClr>
              </a:solidFill>
              <a:cs typeface="Arial" charset="0"/>
            </a:endParaRPr>
          </a:p>
        </p:txBody>
      </p:sp>
      <p:pic>
        <p:nvPicPr>
          <p:cNvPr id="5" name="Picture 4">
            <a:extLst>
              <a:ext uri="{FF2B5EF4-FFF2-40B4-BE49-F238E27FC236}">
                <a16:creationId xmlns:a16="http://schemas.microsoft.com/office/drawing/2014/main" id="{1F2FDF08-E7BD-FEF8-9039-130021D21384}"/>
              </a:ext>
            </a:extLst>
          </p:cNvPr>
          <p:cNvPicPr>
            <a:picLocks noChangeAspect="1"/>
          </p:cNvPicPr>
          <p:nvPr/>
        </p:nvPicPr>
        <p:blipFill>
          <a:blip r:embed="rId2"/>
          <a:stretch>
            <a:fillRect/>
          </a:stretch>
        </p:blipFill>
        <p:spPr>
          <a:xfrm>
            <a:off x="1885506" y="2057137"/>
            <a:ext cx="4055706" cy="2125395"/>
          </a:xfrm>
          <a:prstGeom prst="rect">
            <a:avLst/>
          </a:prstGeom>
        </p:spPr>
      </p:pic>
      <p:sp>
        <p:nvSpPr>
          <p:cNvPr id="3" name="TextBox 2">
            <a:extLst>
              <a:ext uri="{FF2B5EF4-FFF2-40B4-BE49-F238E27FC236}">
                <a16:creationId xmlns:a16="http://schemas.microsoft.com/office/drawing/2014/main" id="{24E6A895-B009-04EF-B7E4-44A21EE2592B}"/>
              </a:ext>
            </a:extLst>
          </p:cNvPr>
          <p:cNvSpPr txBox="1"/>
          <p:nvPr/>
        </p:nvSpPr>
        <p:spPr>
          <a:xfrm>
            <a:off x="174311" y="4283813"/>
            <a:ext cx="6520356" cy="369332"/>
          </a:xfrm>
          <a:prstGeom prst="rect">
            <a:avLst/>
          </a:prstGeom>
          <a:noFill/>
        </p:spPr>
        <p:txBody>
          <a:bodyPr wrap="square">
            <a:spAutoFit/>
          </a:bodyPr>
          <a:lstStyle/>
          <a:p>
            <a:pPr algn="l">
              <a:spcBef>
                <a:spcPts val="750"/>
              </a:spcBef>
              <a:spcAft>
                <a:spcPts val="750"/>
              </a:spcAft>
              <a:buNone/>
            </a:pPr>
            <a:r>
              <a:rPr lang="en-IN" b="1" i="0" dirty="0">
                <a:solidFill>
                  <a:srgbClr val="000000"/>
                </a:solidFill>
                <a:effectLst/>
                <a:latin typeface="Segoe UI" panose="020B0502040204020203" pitchFamily="34" charset="0"/>
              </a:rPr>
              <a:t>Usage of Single or Double Quotes with variables?</a:t>
            </a:r>
          </a:p>
        </p:txBody>
      </p:sp>
      <p:pic>
        <p:nvPicPr>
          <p:cNvPr id="8" name="Picture 7">
            <a:extLst>
              <a:ext uri="{FF2B5EF4-FFF2-40B4-BE49-F238E27FC236}">
                <a16:creationId xmlns:a16="http://schemas.microsoft.com/office/drawing/2014/main" id="{0D20A4EC-9F46-3E85-2A7E-1BBB4649E2BF}"/>
              </a:ext>
            </a:extLst>
          </p:cNvPr>
          <p:cNvPicPr>
            <a:picLocks noChangeAspect="1"/>
          </p:cNvPicPr>
          <p:nvPr/>
        </p:nvPicPr>
        <p:blipFill>
          <a:blip r:embed="rId3"/>
          <a:stretch>
            <a:fillRect/>
          </a:stretch>
        </p:blipFill>
        <p:spPr>
          <a:xfrm>
            <a:off x="5665836" y="4283812"/>
            <a:ext cx="3303852" cy="2125395"/>
          </a:xfrm>
          <a:prstGeom prst="rect">
            <a:avLst/>
          </a:prstGeom>
        </p:spPr>
      </p:pic>
    </p:spTree>
    <p:extLst>
      <p:ext uri="{BB962C8B-B14F-4D97-AF65-F5344CB8AC3E}">
        <p14:creationId xmlns:p14="http://schemas.microsoft.com/office/powerpoint/2010/main" val="209783916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45C9C-16C0-6DA8-757E-A6C800D38F5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3751ED1-1943-C389-7507-C4EA98954D43}"/>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2B9D2135-5049-2816-531A-C4DDCA1DAC37}"/>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538F54F-45B9-AD69-1E70-104A1E0FFD44}"/>
              </a:ext>
            </a:extLst>
          </p:cNvPr>
          <p:cNvSpPr txBox="1"/>
          <p:nvPr/>
        </p:nvSpPr>
        <p:spPr>
          <a:xfrm>
            <a:off x="174311" y="1124859"/>
            <a:ext cx="8795377" cy="1569660"/>
          </a:xfrm>
          <a:prstGeom prst="rect">
            <a:avLst/>
          </a:prstGeom>
          <a:noFill/>
        </p:spPr>
        <p:txBody>
          <a:bodyPr wrap="square">
            <a:spAutoFit/>
          </a:bodyPr>
          <a:lstStyle/>
          <a:p>
            <a:pPr>
              <a:defRPr/>
            </a:pPr>
            <a:r>
              <a:rPr lang="en-IN" sz="2400" b="1" dirty="0">
                <a:solidFill>
                  <a:schemeClr val="accent1">
                    <a:lumMod val="50000"/>
                  </a:schemeClr>
                </a:solidFill>
                <a:cs typeface="Arial" charset="0"/>
              </a:rPr>
              <a:t>Variables are case sensitive</a:t>
            </a:r>
          </a:p>
          <a:p>
            <a:pPr>
              <a:defRPr/>
            </a:pPr>
            <a:r>
              <a:rPr lang="en-US" sz="2400" dirty="0"/>
              <a:t>Variable names in Python are case-sensitive; for example, </a:t>
            </a:r>
            <a:r>
              <a:rPr lang="en-US" dirty="0"/>
              <a:t>count</a:t>
            </a:r>
            <a:r>
              <a:rPr lang="en-US" sz="2400" dirty="0"/>
              <a:t> and </a:t>
            </a:r>
            <a:r>
              <a:rPr lang="en-US" dirty="0"/>
              <a:t>Count</a:t>
            </a:r>
            <a:r>
              <a:rPr lang="en-US" sz="2400" dirty="0"/>
              <a:t> are treated as different variables.</a:t>
            </a:r>
            <a:endParaRPr lang="en-IN" sz="2400" b="1" dirty="0">
              <a:solidFill>
                <a:schemeClr val="accent1">
                  <a:lumMod val="50000"/>
                </a:schemeClr>
              </a:solidFill>
              <a:cs typeface="Arial" charset="0"/>
            </a:endParaRPr>
          </a:p>
          <a:p>
            <a:pPr>
              <a:defRPr/>
            </a:pPr>
            <a:endParaRPr lang="en-IN" sz="2400" b="1" dirty="0">
              <a:solidFill>
                <a:schemeClr val="accent1">
                  <a:lumMod val="50000"/>
                </a:schemeClr>
              </a:solidFill>
              <a:cs typeface="Arial" charset="0"/>
            </a:endParaRPr>
          </a:p>
        </p:txBody>
      </p:sp>
      <p:pic>
        <p:nvPicPr>
          <p:cNvPr id="7" name="Picture 6">
            <a:extLst>
              <a:ext uri="{FF2B5EF4-FFF2-40B4-BE49-F238E27FC236}">
                <a16:creationId xmlns:a16="http://schemas.microsoft.com/office/drawing/2014/main" id="{1DDF3184-4E9B-EDB2-181A-A563693147D1}"/>
              </a:ext>
            </a:extLst>
          </p:cNvPr>
          <p:cNvPicPr>
            <a:picLocks noChangeAspect="1"/>
          </p:cNvPicPr>
          <p:nvPr/>
        </p:nvPicPr>
        <p:blipFill>
          <a:blip r:embed="rId2"/>
          <a:stretch>
            <a:fillRect/>
          </a:stretch>
        </p:blipFill>
        <p:spPr>
          <a:xfrm>
            <a:off x="1857922" y="2400702"/>
            <a:ext cx="6186344" cy="3763032"/>
          </a:xfrm>
          <a:prstGeom prst="rect">
            <a:avLst/>
          </a:prstGeom>
        </p:spPr>
      </p:pic>
    </p:spTree>
    <p:extLst>
      <p:ext uri="{BB962C8B-B14F-4D97-AF65-F5344CB8AC3E}">
        <p14:creationId xmlns:p14="http://schemas.microsoft.com/office/powerpoint/2010/main" val="170398532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CC8DB-A5BC-E901-0D25-977DBCC956F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7E84C91-5CA5-F8C2-C5AD-51ABFA28D2BB}"/>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06828F9E-1D3A-AE04-BF24-4416D9079618}"/>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13C28A5-1109-BE14-ECE7-72687C190427}"/>
              </a:ext>
            </a:extLst>
          </p:cNvPr>
          <p:cNvSpPr txBox="1"/>
          <p:nvPr/>
        </p:nvSpPr>
        <p:spPr>
          <a:xfrm>
            <a:off x="203200" y="1069742"/>
            <a:ext cx="8444755" cy="1569660"/>
          </a:xfrm>
          <a:prstGeom prst="rect">
            <a:avLst/>
          </a:prstGeom>
          <a:noFill/>
        </p:spPr>
        <p:txBody>
          <a:bodyPr wrap="square">
            <a:spAutoFit/>
          </a:bodyPr>
          <a:lstStyle/>
          <a:p>
            <a:pPr>
              <a:defRPr/>
            </a:pPr>
            <a:r>
              <a:rPr lang="en-IN" sz="2400" b="1" dirty="0">
                <a:solidFill>
                  <a:schemeClr val="accent1">
                    <a:lumMod val="50000"/>
                  </a:schemeClr>
                </a:solidFill>
                <a:cs typeface="Arial" charset="0"/>
              </a:rPr>
              <a:t>Identifiers in Python:</a:t>
            </a:r>
          </a:p>
          <a:p>
            <a:pPr>
              <a:defRPr/>
            </a:pPr>
            <a:r>
              <a:rPr lang="en-US" sz="2400" b="1" dirty="0"/>
              <a:t>Identifiers</a:t>
            </a:r>
            <a:r>
              <a:rPr lang="en-US" sz="2400" dirty="0"/>
              <a:t> are the names used to identify variables, functions, classes, modules, or other objects in Python.</a:t>
            </a:r>
            <a:endParaRPr lang="en-IN" sz="2400" b="1" dirty="0">
              <a:solidFill>
                <a:schemeClr val="accent1">
                  <a:lumMod val="50000"/>
                </a:schemeClr>
              </a:solidFill>
              <a:cs typeface="Arial" charset="0"/>
            </a:endParaRPr>
          </a:p>
          <a:p>
            <a:pPr>
              <a:defRPr/>
            </a:pPr>
            <a:endParaRPr lang="en-IN" sz="2400" b="1" dirty="0">
              <a:solidFill>
                <a:schemeClr val="accent1">
                  <a:lumMod val="50000"/>
                </a:schemeClr>
              </a:solidFill>
              <a:cs typeface="Arial" charset="0"/>
            </a:endParaRPr>
          </a:p>
        </p:txBody>
      </p:sp>
      <p:sp>
        <p:nvSpPr>
          <p:cNvPr id="3" name="TextBox 2">
            <a:extLst>
              <a:ext uri="{FF2B5EF4-FFF2-40B4-BE49-F238E27FC236}">
                <a16:creationId xmlns:a16="http://schemas.microsoft.com/office/drawing/2014/main" id="{09054073-A5C1-BC38-02EC-10351A29D101}"/>
              </a:ext>
            </a:extLst>
          </p:cNvPr>
          <p:cNvSpPr txBox="1"/>
          <p:nvPr/>
        </p:nvSpPr>
        <p:spPr>
          <a:xfrm>
            <a:off x="203201" y="2371939"/>
            <a:ext cx="8737600" cy="3785652"/>
          </a:xfrm>
          <a:prstGeom prst="rect">
            <a:avLst/>
          </a:prstGeom>
          <a:noFill/>
        </p:spPr>
        <p:txBody>
          <a:bodyPr wrap="square">
            <a:spAutoFit/>
          </a:bodyPr>
          <a:lstStyle/>
          <a:p>
            <a:pPr>
              <a:buNone/>
            </a:pPr>
            <a:r>
              <a:rPr lang="en-US" sz="2400" b="1" dirty="0">
                <a:solidFill>
                  <a:schemeClr val="accent1">
                    <a:lumMod val="50000"/>
                  </a:schemeClr>
                </a:solidFill>
                <a:cs typeface="Arial" charset="0"/>
              </a:rPr>
              <a:t>Rules for Identifiers in Python:</a:t>
            </a:r>
          </a:p>
          <a:p>
            <a:pPr>
              <a:buFont typeface="+mj-lt"/>
              <a:buAutoNum type="arabicPeriod"/>
            </a:pPr>
            <a:r>
              <a:rPr lang="en-US" sz="2400" dirty="0"/>
              <a:t>An identifier must start with a letter (a–z or A–Z) or an underscore (_).</a:t>
            </a:r>
          </a:p>
          <a:p>
            <a:pPr>
              <a:buFont typeface="+mj-lt"/>
              <a:buAutoNum type="arabicPeriod"/>
            </a:pPr>
            <a:r>
              <a:rPr lang="en-US" sz="2400" dirty="0"/>
              <a:t>It cannot start with a digit.</a:t>
            </a:r>
          </a:p>
          <a:p>
            <a:pPr>
              <a:buFont typeface="+mj-lt"/>
              <a:buAutoNum type="arabicPeriod"/>
            </a:pPr>
            <a:r>
              <a:rPr lang="en-US" sz="2400" dirty="0"/>
              <a:t>Identifiers can contain letters, digits, and underscores only.</a:t>
            </a:r>
          </a:p>
          <a:p>
            <a:pPr>
              <a:buFont typeface="+mj-lt"/>
              <a:buAutoNum type="arabicPeriod"/>
            </a:pPr>
            <a:r>
              <a:rPr lang="en-US" sz="2400" dirty="0"/>
              <a:t>Special characters like @, #, $, % are not allowed.</a:t>
            </a:r>
          </a:p>
          <a:p>
            <a:pPr>
              <a:buFont typeface="+mj-lt"/>
              <a:buAutoNum type="arabicPeriod"/>
            </a:pPr>
            <a:r>
              <a:rPr lang="en-US" sz="2400" dirty="0"/>
              <a:t>Keywords (such as if, for, while, class, etc.) cannot be used as identifiers.</a:t>
            </a:r>
          </a:p>
          <a:p>
            <a:pPr>
              <a:buFont typeface="+mj-lt"/>
              <a:buAutoNum type="arabicPeriod"/>
            </a:pPr>
            <a:r>
              <a:rPr lang="en-US" sz="2400" dirty="0"/>
              <a:t>Identifiers are case-sensitive (total, Total, and TOTAL are different).</a:t>
            </a:r>
          </a:p>
          <a:p>
            <a:pPr>
              <a:buFont typeface="+mj-lt"/>
              <a:buAutoNum type="arabicPeriod"/>
            </a:pPr>
            <a:r>
              <a:rPr lang="en-US" sz="2400" dirty="0"/>
              <a:t>Identifiers can be of any length</a:t>
            </a:r>
            <a:r>
              <a:rPr lang="en-US" dirty="0"/>
              <a:t>.</a:t>
            </a:r>
          </a:p>
        </p:txBody>
      </p:sp>
    </p:spTree>
    <p:extLst>
      <p:ext uri="{BB962C8B-B14F-4D97-AF65-F5344CB8AC3E}">
        <p14:creationId xmlns:p14="http://schemas.microsoft.com/office/powerpoint/2010/main" val="308988909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CC8DB-A5BC-E901-0D25-977DBCC956F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7E84C91-5CA5-F8C2-C5AD-51ABFA28D2BB}"/>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06828F9E-1D3A-AE04-BF24-4416D9079618}"/>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1"/>
          <p:cNvSpPr>
            <a:spLocks noChangeArrowheads="1"/>
          </p:cNvSpPr>
          <p:nvPr/>
        </p:nvSpPr>
        <p:spPr bwMode="auto">
          <a:xfrm>
            <a:off x="539308" y="1214340"/>
            <a:ext cx="6172199" cy="5447645"/>
          </a:xfrm>
          <a:prstGeom prst="rect">
            <a:avLst/>
          </a:prstGeom>
          <a:solidFill>
            <a:srgbClr val="F3F5F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solidFill>
                  <a:schemeClr val="tx1"/>
                </a:solidFill>
                <a:effectLst/>
                <a:latin typeface="Arial" panose="020B0604020202020204" pitchFamily="34" charset="0"/>
              </a:rPr>
              <a:t>Identify valid and Not Valid Identifiers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smtClean="0">
              <a:ln>
                <a:noFill/>
              </a:ln>
              <a:solidFill>
                <a:schemeClr val="tx1"/>
              </a:solidFill>
              <a:effectLst/>
              <a:latin typeface="Arial" panose="020B0604020202020204" pitchFamily="34" charset="0"/>
            </a:endParaRPr>
          </a:p>
          <a:p>
            <a:pPr lvl="1" indent="-285750" defTabSz="914400" eaLnBrk="0" fontAlgn="base" hangingPunct="0">
              <a:spcBef>
                <a:spcPct val="0"/>
              </a:spcBef>
              <a:spcAft>
                <a:spcPct val="0"/>
              </a:spcAft>
              <a:buFontTx/>
              <a:buChar char="•"/>
            </a:pPr>
            <a:r>
              <a:rPr lang="en-US" altLang="en-US" sz="2400" dirty="0" err="1">
                <a:solidFill>
                  <a:srgbClr val="0A0A0A"/>
                </a:solidFill>
                <a:latin typeface="Arial Unicode MS"/>
              </a:rPr>
              <a:t>user_name</a:t>
            </a:r>
            <a:endParaRPr lang="en-US" altLang="en-US" sz="2400" dirty="0">
              <a:solidFill>
                <a:srgbClr val="0A0A0A"/>
              </a:solidFill>
              <a:latin typeface="Arial Unicode MS"/>
            </a:endParaRPr>
          </a:p>
          <a:p>
            <a:pPr lvl="1" indent="-285750" defTabSz="914400" eaLnBrk="0" fontAlgn="base" hangingPunct="0">
              <a:spcBef>
                <a:spcPct val="0"/>
              </a:spcBef>
              <a:spcAft>
                <a:spcPct val="0"/>
              </a:spcAft>
              <a:buFontTx/>
              <a:buChar char="•"/>
            </a:pPr>
            <a:r>
              <a:rPr lang="en-US" altLang="en-US" sz="2400" dirty="0">
                <a:solidFill>
                  <a:srgbClr val="0A0A0A"/>
                </a:solidFill>
                <a:latin typeface="Arial Unicode MS"/>
              </a:rPr>
              <a:t> </a:t>
            </a:r>
            <a:r>
              <a:rPr lang="en-US" altLang="en-US" sz="2400" dirty="0" err="1">
                <a:solidFill>
                  <a:srgbClr val="0A0A0A"/>
                </a:solidFill>
                <a:latin typeface="Arial Unicode MS"/>
              </a:rPr>
              <a:t>totalCount</a:t>
            </a:r>
            <a:endParaRPr lang="en-US" altLang="en-US" sz="2400" dirty="0">
              <a:solidFill>
                <a:srgbClr val="0A0A0A"/>
              </a:solidFill>
              <a:latin typeface="Arial Unicode MS"/>
            </a:endParaRPr>
          </a:p>
          <a:p>
            <a:pPr lvl="1" indent="-285750" defTabSz="914400" eaLnBrk="0" fontAlgn="base" hangingPunct="0">
              <a:spcBef>
                <a:spcPct val="0"/>
              </a:spcBef>
              <a:spcAft>
                <a:spcPct val="0"/>
              </a:spcAft>
              <a:buFontTx/>
              <a:buChar char="•"/>
            </a:pPr>
            <a:r>
              <a:rPr lang="en-US" altLang="en-US" sz="2400" dirty="0">
                <a:solidFill>
                  <a:srgbClr val="0A0A0A"/>
                </a:solidFill>
                <a:latin typeface="Arial Unicode MS"/>
              </a:rPr>
              <a:t> </a:t>
            </a:r>
            <a:r>
              <a:rPr lang="en-IN" sz="2400" dirty="0">
                <a:solidFill>
                  <a:srgbClr val="0A0A0A"/>
                </a:solidFill>
                <a:latin typeface="Arial Unicode MS"/>
              </a:rPr>
              <a:t>1stName</a:t>
            </a:r>
          </a:p>
          <a:p>
            <a:pPr lvl="1" indent="-285750" defTabSz="914400" eaLnBrk="0" fontAlgn="base" hangingPunct="0">
              <a:spcBef>
                <a:spcPct val="0"/>
              </a:spcBef>
              <a:spcAft>
                <a:spcPct val="0"/>
              </a:spcAft>
              <a:buFontTx/>
              <a:buChar char="•"/>
            </a:pPr>
            <a:r>
              <a:rPr lang="en-US" altLang="en-US" sz="2400" dirty="0">
                <a:solidFill>
                  <a:srgbClr val="0A0A0A"/>
                </a:solidFill>
                <a:latin typeface="Arial Unicode MS"/>
              </a:rPr>
              <a:t> </a:t>
            </a:r>
            <a:r>
              <a:rPr lang="en-IN" sz="2400" dirty="0">
                <a:solidFill>
                  <a:srgbClr val="0A0A0A"/>
                </a:solidFill>
                <a:latin typeface="Arial Unicode MS"/>
              </a:rPr>
              <a:t>my-</a:t>
            </a:r>
            <a:r>
              <a:rPr lang="en-IN" sz="2400" dirty="0" err="1">
                <a:solidFill>
                  <a:srgbClr val="0A0A0A"/>
                </a:solidFill>
                <a:latin typeface="Arial Unicode MS"/>
              </a:rPr>
              <a:t>var</a:t>
            </a:r>
            <a:endParaRPr lang="en-IN" sz="2400" dirty="0">
              <a:solidFill>
                <a:srgbClr val="0A0A0A"/>
              </a:solidFill>
              <a:latin typeface="Arial Unicode MS"/>
            </a:endParaRPr>
          </a:p>
          <a:p>
            <a:pPr lvl="1" indent="-285750" defTabSz="914400" eaLnBrk="0" fontAlgn="base" hangingPunct="0">
              <a:spcBef>
                <a:spcPct val="0"/>
              </a:spcBef>
              <a:spcAft>
                <a:spcPct val="0"/>
              </a:spcAft>
              <a:buFontTx/>
              <a:buChar char="•"/>
            </a:pPr>
            <a:r>
              <a:rPr lang="en-US" altLang="en-US" sz="2400" dirty="0">
                <a:solidFill>
                  <a:srgbClr val="0A0A0A"/>
                </a:solidFill>
                <a:latin typeface="Arial Unicode MS"/>
              </a:rPr>
              <a:t> _</a:t>
            </a:r>
            <a:r>
              <a:rPr lang="en-US" altLang="en-US" sz="2400" dirty="0" err="1">
                <a:solidFill>
                  <a:srgbClr val="0A0A0A"/>
                </a:solidFill>
                <a:latin typeface="Arial Unicode MS"/>
              </a:rPr>
              <a:t>internal_value</a:t>
            </a:r>
            <a:endParaRPr lang="en-US" altLang="en-US" sz="2400" dirty="0">
              <a:solidFill>
                <a:srgbClr val="0A0A0A"/>
              </a:solidFill>
              <a:latin typeface="Arial Unicode MS"/>
            </a:endParaRPr>
          </a:p>
          <a:p>
            <a:pPr lvl="1" indent="-285750" defTabSz="914400" eaLnBrk="0" fontAlgn="base" hangingPunct="0">
              <a:spcBef>
                <a:spcPct val="0"/>
              </a:spcBef>
              <a:spcAft>
                <a:spcPct val="0"/>
              </a:spcAft>
              <a:buFontTx/>
              <a:buChar char="•"/>
            </a:pPr>
            <a:r>
              <a:rPr lang="en-US" altLang="en-US" sz="2400" dirty="0">
                <a:solidFill>
                  <a:srgbClr val="0A0A0A"/>
                </a:solidFill>
                <a:latin typeface="Arial Unicode MS"/>
              </a:rPr>
              <a:t> </a:t>
            </a:r>
            <a:r>
              <a:rPr lang="en-US" altLang="en-US" sz="2400" dirty="0" smtClean="0">
                <a:solidFill>
                  <a:srgbClr val="0A0A0A"/>
                </a:solidFill>
                <a:latin typeface="Arial Unicode MS"/>
              </a:rPr>
              <a:t>myvar2</a:t>
            </a:r>
          </a:p>
          <a:p>
            <a:pPr lvl="1" indent="-285750" defTabSz="914400" eaLnBrk="0" fontAlgn="base" hangingPunct="0">
              <a:spcBef>
                <a:spcPct val="0"/>
              </a:spcBef>
              <a:spcAft>
                <a:spcPct val="0"/>
              </a:spcAft>
              <a:buFontTx/>
              <a:buChar char="•"/>
            </a:pPr>
            <a:r>
              <a:rPr lang="en-US" altLang="en-US" sz="2400" dirty="0" smtClean="0">
                <a:solidFill>
                  <a:srgbClr val="0A0A0A"/>
                </a:solidFill>
                <a:latin typeface="Arial Unicode MS"/>
              </a:rPr>
              <a:t> </a:t>
            </a:r>
            <a:r>
              <a:rPr lang="en-US" altLang="en-US" sz="2400" dirty="0">
                <a:solidFill>
                  <a:srgbClr val="0A0A0A"/>
                </a:solidFill>
                <a:latin typeface="Arial Unicode MS"/>
              </a:rPr>
              <a:t>total </a:t>
            </a:r>
            <a:r>
              <a:rPr lang="en-US" altLang="en-US" sz="2400" dirty="0" smtClean="0">
                <a:solidFill>
                  <a:srgbClr val="0A0A0A"/>
                </a:solidFill>
                <a:latin typeface="Arial Unicode MS"/>
              </a:rPr>
              <a:t>score</a:t>
            </a:r>
          </a:p>
          <a:p>
            <a:pPr lvl="1" indent="-285750" defTabSz="914400" eaLnBrk="0" fontAlgn="base" hangingPunct="0">
              <a:spcBef>
                <a:spcPct val="0"/>
              </a:spcBef>
              <a:spcAft>
                <a:spcPct val="0"/>
              </a:spcAft>
              <a:buFontTx/>
              <a:buChar char="•"/>
            </a:pPr>
            <a:r>
              <a:rPr lang="en-US" altLang="en-US" sz="2400" dirty="0" err="1" smtClean="0">
                <a:solidFill>
                  <a:srgbClr val="0A0A0A"/>
                </a:solidFill>
                <a:latin typeface="Arial Unicode MS"/>
              </a:rPr>
              <a:t>name@web</a:t>
            </a:r>
            <a:endParaRPr lang="en-US" altLang="en-US" sz="2400" dirty="0" smtClean="0">
              <a:solidFill>
                <a:srgbClr val="0A0A0A"/>
              </a:solidFill>
              <a:latin typeface="Arial Unicode MS"/>
            </a:endParaRPr>
          </a:p>
          <a:p>
            <a:pPr lvl="1" indent="-285750" defTabSz="914400" eaLnBrk="0" fontAlgn="base" hangingPunct="0">
              <a:spcBef>
                <a:spcPct val="0"/>
              </a:spcBef>
              <a:spcAft>
                <a:spcPct val="0"/>
              </a:spcAft>
              <a:buFontTx/>
              <a:buChar char="•"/>
            </a:pPr>
            <a:r>
              <a:rPr lang="en-US" altLang="en-US" sz="2400" dirty="0" err="1" smtClean="0">
                <a:solidFill>
                  <a:srgbClr val="0A0A0A"/>
                </a:solidFill>
                <a:latin typeface="Arial Unicode MS"/>
              </a:rPr>
              <a:t>calculate_sum</a:t>
            </a:r>
            <a:endParaRPr lang="en-US" altLang="en-US" sz="2400" dirty="0" smtClean="0">
              <a:solidFill>
                <a:srgbClr val="0A0A0A"/>
              </a:solidFill>
              <a:latin typeface="Arial Unicode MS"/>
            </a:endParaRPr>
          </a:p>
          <a:p>
            <a:pPr lvl="1" indent="-285750" defTabSz="914400" eaLnBrk="0" fontAlgn="base" hangingPunct="0">
              <a:spcBef>
                <a:spcPct val="0"/>
              </a:spcBef>
              <a:spcAft>
                <a:spcPct val="0"/>
              </a:spcAft>
              <a:buFontTx/>
              <a:buChar char="•"/>
            </a:pPr>
            <a:r>
              <a:rPr lang="en-US" altLang="en-US" sz="2400" dirty="0">
                <a:solidFill>
                  <a:srgbClr val="0A0A0A"/>
                </a:solidFill>
                <a:latin typeface="Arial Unicode MS"/>
              </a:rPr>
              <a:t> </a:t>
            </a:r>
            <a:r>
              <a:rPr lang="en-US" altLang="en-US" sz="2400" dirty="0" smtClean="0">
                <a:solidFill>
                  <a:srgbClr val="0A0A0A"/>
                </a:solidFill>
                <a:latin typeface="Arial Unicode MS"/>
              </a:rPr>
              <a:t>99</a:t>
            </a:r>
          </a:p>
          <a:p>
            <a:pPr lvl="1" indent="-285750" defTabSz="914400" eaLnBrk="0" fontAlgn="base" hangingPunct="0">
              <a:spcBef>
                <a:spcPct val="0"/>
              </a:spcBef>
              <a:spcAft>
                <a:spcPct val="0"/>
              </a:spcAft>
              <a:buFontTx/>
              <a:buChar char="•"/>
            </a:pPr>
            <a:r>
              <a:rPr lang="en-US" altLang="en-US" sz="2400" dirty="0">
                <a:solidFill>
                  <a:srgbClr val="0A0A0A"/>
                </a:solidFill>
                <a:latin typeface="Arial Unicode MS"/>
              </a:rPr>
              <a:t> </a:t>
            </a:r>
            <a:r>
              <a:rPr lang="en-US" altLang="en-US" sz="2400" dirty="0" err="1" smtClean="0">
                <a:solidFill>
                  <a:srgbClr val="0A0A0A"/>
                </a:solidFill>
                <a:latin typeface="Arial Unicode MS"/>
              </a:rPr>
              <a:t>def</a:t>
            </a:r>
            <a:endParaRPr lang="en-US" altLang="en-US" sz="2400" dirty="0" smtClean="0">
              <a:solidFill>
                <a:srgbClr val="0A0A0A"/>
              </a:solidFill>
              <a:latin typeface="Arial Unicode MS"/>
            </a:endParaRPr>
          </a:p>
          <a:p>
            <a:pPr lvl="1" indent="-285750" defTabSz="914400" eaLnBrk="0" fontAlgn="base" hangingPunct="0">
              <a:spcBef>
                <a:spcPct val="0"/>
              </a:spcBef>
              <a:spcAft>
                <a:spcPct val="0"/>
              </a:spcAft>
              <a:buFontTx/>
              <a:buChar char="•"/>
            </a:pPr>
            <a:r>
              <a:rPr lang="en-US" altLang="en-US" sz="2400" dirty="0" smtClean="0">
                <a:solidFill>
                  <a:srgbClr val="0A0A0A"/>
                </a:solidFill>
                <a:latin typeface="Arial Unicode MS"/>
              </a:rPr>
              <a:t>for</a:t>
            </a:r>
            <a:endParaRPr lang="en-US" altLang="en-US" sz="2400" dirty="0">
              <a:solidFill>
                <a:srgbClr val="0A0A0A"/>
              </a:solidFill>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776213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D4A36-7F4E-E95F-4DCB-1EA1FF307F3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26A5B3D-5FE4-A1B9-A1AA-2407BB8D1A6E}"/>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5F12C236-3E14-A891-8B32-4EF85FDA756A}"/>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DF7857B-5C5E-ACCF-C5F3-4435DC15BEBD}"/>
              </a:ext>
            </a:extLst>
          </p:cNvPr>
          <p:cNvSpPr txBox="1"/>
          <p:nvPr/>
        </p:nvSpPr>
        <p:spPr>
          <a:xfrm>
            <a:off x="203200" y="1069742"/>
            <a:ext cx="8444755" cy="1200329"/>
          </a:xfrm>
          <a:prstGeom prst="rect">
            <a:avLst/>
          </a:prstGeom>
          <a:noFill/>
        </p:spPr>
        <p:txBody>
          <a:bodyPr wrap="square">
            <a:spAutoFit/>
          </a:bodyPr>
          <a:lstStyle/>
          <a:p>
            <a:pPr>
              <a:defRPr/>
            </a:pPr>
            <a:r>
              <a:rPr lang="en-IN" sz="2400" b="1" dirty="0">
                <a:solidFill>
                  <a:schemeClr val="accent1">
                    <a:lumMod val="50000"/>
                  </a:schemeClr>
                </a:solidFill>
                <a:cs typeface="Arial" charset="0"/>
              </a:rPr>
              <a:t>Keywords in Python:</a:t>
            </a:r>
          </a:p>
          <a:p>
            <a:pPr>
              <a:defRPr/>
            </a:pPr>
            <a:r>
              <a:rPr lang="en-US" sz="2400" dirty="0"/>
              <a:t>Keywords in Python are reserved words that have predefined meanings and cannot be used as identifiers.</a:t>
            </a:r>
            <a:endParaRPr lang="en-IN" sz="2400" b="1" dirty="0">
              <a:solidFill>
                <a:schemeClr val="accent1">
                  <a:lumMod val="50000"/>
                </a:schemeClr>
              </a:solidFill>
              <a:cs typeface="Arial" charset="0"/>
            </a:endParaRPr>
          </a:p>
        </p:txBody>
      </p:sp>
      <p:sp>
        <p:nvSpPr>
          <p:cNvPr id="3" name="TextBox 2">
            <a:extLst>
              <a:ext uri="{FF2B5EF4-FFF2-40B4-BE49-F238E27FC236}">
                <a16:creationId xmlns:a16="http://schemas.microsoft.com/office/drawing/2014/main" id="{5FD7BCEF-25B8-DAB2-0AF0-B045956841B6}"/>
              </a:ext>
            </a:extLst>
          </p:cNvPr>
          <p:cNvSpPr txBox="1"/>
          <p:nvPr/>
        </p:nvSpPr>
        <p:spPr>
          <a:xfrm>
            <a:off x="203200" y="2456606"/>
            <a:ext cx="8737600" cy="461665"/>
          </a:xfrm>
          <a:prstGeom prst="rect">
            <a:avLst/>
          </a:prstGeom>
          <a:noFill/>
        </p:spPr>
        <p:txBody>
          <a:bodyPr wrap="square">
            <a:spAutoFit/>
          </a:bodyPr>
          <a:lstStyle/>
          <a:p>
            <a:pPr>
              <a:buNone/>
            </a:pPr>
            <a:r>
              <a:rPr lang="en-US" sz="2400" b="1" dirty="0">
                <a:solidFill>
                  <a:schemeClr val="accent1">
                    <a:lumMod val="50000"/>
                  </a:schemeClr>
                </a:solidFill>
                <a:cs typeface="Arial" charset="0"/>
              </a:rPr>
              <a:t>How to verify keywords in Python?</a:t>
            </a:r>
          </a:p>
        </p:txBody>
      </p:sp>
      <p:pic>
        <p:nvPicPr>
          <p:cNvPr id="9" name="Picture 8">
            <a:extLst>
              <a:ext uri="{FF2B5EF4-FFF2-40B4-BE49-F238E27FC236}">
                <a16:creationId xmlns:a16="http://schemas.microsoft.com/office/drawing/2014/main" id="{C936EF6B-F2E0-8837-F90F-A19F92DDA36B}"/>
              </a:ext>
            </a:extLst>
          </p:cNvPr>
          <p:cNvPicPr>
            <a:picLocks noChangeAspect="1"/>
          </p:cNvPicPr>
          <p:nvPr/>
        </p:nvPicPr>
        <p:blipFill>
          <a:blip r:embed="rId2"/>
          <a:stretch>
            <a:fillRect/>
          </a:stretch>
        </p:blipFill>
        <p:spPr>
          <a:xfrm>
            <a:off x="2014044" y="2918271"/>
            <a:ext cx="5578920" cy="3438946"/>
          </a:xfrm>
          <a:prstGeom prst="rect">
            <a:avLst/>
          </a:prstGeom>
        </p:spPr>
      </p:pic>
    </p:spTree>
    <p:extLst>
      <p:ext uri="{BB962C8B-B14F-4D97-AF65-F5344CB8AC3E}">
        <p14:creationId xmlns:p14="http://schemas.microsoft.com/office/powerpoint/2010/main" val="156329028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C8FE1-9AD5-B5C0-1162-ED05CB888CA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EE040A2-AF93-B326-8959-C916B460824D}"/>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32967CBB-121D-7750-026C-AE08A8932E05}"/>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3BB1932-3F09-4413-AA80-097C5C511F92}"/>
              </a:ext>
            </a:extLst>
          </p:cNvPr>
          <p:cNvSpPr txBox="1"/>
          <p:nvPr/>
        </p:nvSpPr>
        <p:spPr>
          <a:xfrm>
            <a:off x="446942" y="1315963"/>
            <a:ext cx="8155191" cy="3785652"/>
          </a:xfrm>
          <a:prstGeom prst="rect">
            <a:avLst/>
          </a:prstGeom>
          <a:noFill/>
        </p:spPr>
        <p:txBody>
          <a:bodyPr wrap="square">
            <a:spAutoFit/>
          </a:bodyPr>
          <a:lstStyle/>
          <a:p>
            <a:pPr>
              <a:buNone/>
            </a:pPr>
            <a:r>
              <a:rPr lang="en-US" sz="2400" b="1" dirty="0">
                <a:solidFill>
                  <a:schemeClr val="accent1">
                    <a:lumMod val="50000"/>
                  </a:schemeClr>
                </a:solidFill>
                <a:cs typeface="Arial" charset="0"/>
              </a:rPr>
              <a:t>Line 1: import keyword</a:t>
            </a:r>
          </a:p>
          <a:p>
            <a:pPr>
              <a:buFont typeface="Arial" panose="020B0604020202020204" pitchFamily="34" charset="0"/>
              <a:buChar char="•"/>
            </a:pPr>
            <a:r>
              <a:rPr lang="en-US" sz="2400" dirty="0"/>
              <a:t>This imports the built-in keyword module in Python.</a:t>
            </a:r>
          </a:p>
          <a:p>
            <a:pPr>
              <a:buFont typeface="Arial" panose="020B0604020202020204" pitchFamily="34" charset="0"/>
              <a:buChar char="•"/>
            </a:pPr>
            <a:r>
              <a:rPr lang="en-US" sz="2400" dirty="0"/>
              <a:t>The keyword module provides information about Python’s reserved keywords.</a:t>
            </a:r>
          </a:p>
          <a:p>
            <a:endParaRPr lang="en-US" sz="2400" dirty="0"/>
          </a:p>
          <a:p>
            <a:r>
              <a:rPr lang="en-US" sz="2400" b="1" dirty="0">
                <a:solidFill>
                  <a:schemeClr val="accent1">
                    <a:lumMod val="50000"/>
                  </a:schemeClr>
                </a:solidFill>
                <a:cs typeface="Arial" charset="0"/>
              </a:rPr>
              <a:t>Line 2: print(</a:t>
            </a:r>
            <a:r>
              <a:rPr lang="en-US" sz="2400" b="1" dirty="0" err="1">
                <a:solidFill>
                  <a:schemeClr val="accent1">
                    <a:lumMod val="50000"/>
                  </a:schemeClr>
                </a:solidFill>
                <a:cs typeface="Arial" charset="0"/>
              </a:rPr>
              <a:t>keyword.kwlist</a:t>
            </a:r>
            <a:r>
              <a:rPr lang="en-US" sz="2400" b="1" dirty="0">
                <a:solidFill>
                  <a:schemeClr val="accent1">
                    <a:lumMod val="50000"/>
                  </a:schemeClr>
                </a:solidFill>
                <a:cs typeface="Arial" charset="0"/>
              </a:rPr>
              <a:t>)</a:t>
            </a:r>
          </a:p>
          <a:p>
            <a:pPr>
              <a:buFont typeface="Arial" panose="020B0604020202020204" pitchFamily="34" charset="0"/>
              <a:buChar char="•"/>
            </a:pPr>
            <a:r>
              <a:rPr lang="en-US" sz="2400" dirty="0" err="1"/>
              <a:t>kwlist</a:t>
            </a:r>
            <a:r>
              <a:rPr lang="en-US" sz="2400" dirty="0"/>
              <a:t> is a predefined list inside the keyword module.</a:t>
            </a:r>
          </a:p>
          <a:p>
            <a:pPr>
              <a:buFont typeface="Arial" panose="020B0604020202020204" pitchFamily="34" charset="0"/>
              <a:buChar char="•"/>
            </a:pPr>
            <a:r>
              <a:rPr lang="en-US" sz="2400" dirty="0"/>
              <a:t>It contains all the Python keywords of the currently installed Python version.</a:t>
            </a:r>
          </a:p>
          <a:p>
            <a:pPr>
              <a:buFont typeface="Arial" panose="020B0604020202020204" pitchFamily="34" charset="0"/>
              <a:buChar char="•"/>
            </a:pPr>
            <a:r>
              <a:rPr lang="en-US" sz="2400" dirty="0"/>
              <a:t> print() displays this list on the screen.</a:t>
            </a:r>
          </a:p>
        </p:txBody>
      </p:sp>
    </p:spTree>
    <p:extLst>
      <p:ext uri="{BB962C8B-B14F-4D97-AF65-F5344CB8AC3E}">
        <p14:creationId xmlns:p14="http://schemas.microsoft.com/office/powerpoint/2010/main" val="217250316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35812-0EE0-D162-754C-7D3598FE35B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1F5B568-01F3-D689-5171-3619716ADF48}"/>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296BED29-B1B1-14C3-AD2E-BCE3532FDE22}"/>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A6D9424-24F5-ABF9-A786-237988CB2C18}"/>
              </a:ext>
            </a:extLst>
          </p:cNvPr>
          <p:cNvSpPr txBox="1"/>
          <p:nvPr/>
        </p:nvSpPr>
        <p:spPr>
          <a:xfrm>
            <a:off x="181475" y="1023575"/>
            <a:ext cx="8795377" cy="5447645"/>
          </a:xfrm>
          <a:prstGeom prst="rect">
            <a:avLst/>
          </a:prstGeom>
          <a:noFill/>
        </p:spPr>
        <p:txBody>
          <a:bodyPr wrap="square">
            <a:spAutoFit/>
          </a:bodyPr>
          <a:lstStyle/>
          <a:p>
            <a:pPr>
              <a:defRPr/>
            </a:pPr>
            <a:r>
              <a:rPr lang="en-IN" sz="2400" b="1" dirty="0">
                <a:solidFill>
                  <a:schemeClr val="accent1">
                    <a:lumMod val="50000"/>
                  </a:schemeClr>
                </a:solidFill>
                <a:cs typeface="Arial" charset="0"/>
              </a:rPr>
              <a:t>Comments in Python</a:t>
            </a:r>
          </a:p>
          <a:p>
            <a:pPr>
              <a:defRPr/>
            </a:pPr>
            <a:r>
              <a:rPr lang="en-US" sz="2000" dirty="0">
                <a:hlinkClick r:id="rId2">
                  <a:extLst>
                    <a:ext uri="{A12FA001-AC4F-418D-AE19-62706E023703}">
                      <ahyp:hlinkClr xmlns="" xmlns:ahyp="http://schemas.microsoft.com/office/drawing/2018/hyperlinkcolor" val="tx"/>
                    </a:ext>
                  </a:extLst>
                </a:hlinkClick>
              </a:rPr>
              <a:t>Comments in Python</a:t>
            </a:r>
            <a:r>
              <a:rPr lang="en-US" sz="2000" dirty="0"/>
              <a:t> are statements written within the code. They are meant to explain, clarify, or give context about specific parts of the code. The purpose of comments is to explain the working of a code, they have no impact on the execution or outcome of a program.</a:t>
            </a:r>
          </a:p>
          <a:p>
            <a:pPr>
              <a:defRPr/>
            </a:pPr>
            <a:endParaRPr lang="en-US" sz="2000" b="1" dirty="0">
              <a:cs typeface="Arial" charset="0"/>
            </a:endParaRPr>
          </a:p>
          <a:p>
            <a:pPr>
              <a:defRPr/>
            </a:pPr>
            <a:r>
              <a:rPr lang="en-IN" sz="2400" b="1" dirty="0">
                <a:solidFill>
                  <a:schemeClr val="accent1">
                    <a:lumMod val="50000"/>
                  </a:schemeClr>
                </a:solidFill>
                <a:cs typeface="Arial" charset="0"/>
              </a:rPr>
              <a:t>Single Line Comment</a:t>
            </a:r>
          </a:p>
          <a:p>
            <a:pPr>
              <a:defRPr/>
            </a:pPr>
            <a:r>
              <a:rPr lang="en-US" sz="2000" dirty="0"/>
              <a:t>Single line comments are preceded by the "#" symbol. Everything after this symbol on the same line is considered a comment.</a:t>
            </a:r>
          </a:p>
          <a:p>
            <a:pPr>
              <a:defRPr/>
            </a:pPr>
            <a:r>
              <a:rPr lang="en-US" sz="2000" b="1" dirty="0">
                <a:cs typeface="Arial" charset="0"/>
              </a:rPr>
              <a:t>For Example:</a:t>
            </a:r>
          </a:p>
          <a:p>
            <a:pPr>
              <a:defRPr/>
            </a:pPr>
            <a:r>
              <a:rPr lang="en-US" sz="2000" dirty="0" err="1"/>
              <a:t>first_name</a:t>
            </a:r>
            <a:r>
              <a:rPr lang="en-US" sz="2000" dirty="0"/>
              <a:t> = "Reddy"</a:t>
            </a:r>
          </a:p>
          <a:p>
            <a:pPr>
              <a:defRPr/>
            </a:pPr>
            <a:r>
              <a:rPr lang="en-US" sz="2000" dirty="0" err="1"/>
              <a:t>last_name</a:t>
            </a:r>
            <a:r>
              <a:rPr lang="en-US" sz="2000" dirty="0"/>
              <a:t> = "Anna"  # assign last name</a:t>
            </a:r>
          </a:p>
          <a:p>
            <a:pPr>
              <a:defRPr/>
            </a:pPr>
            <a:r>
              <a:rPr lang="en-US" sz="2000" dirty="0"/>
              <a:t># print full name</a:t>
            </a:r>
          </a:p>
          <a:p>
            <a:pPr>
              <a:defRPr/>
            </a:pPr>
            <a:r>
              <a:rPr lang="en-US" sz="2000" dirty="0"/>
              <a:t>print(</a:t>
            </a:r>
            <a:r>
              <a:rPr lang="en-US" sz="2000" dirty="0" err="1"/>
              <a:t>first_name</a:t>
            </a:r>
            <a:r>
              <a:rPr lang="en-US" sz="2000" dirty="0"/>
              <a:t>, </a:t>
            </a:r>
            <a:r>
              <a:rPr lang="en-US" sz="2000" dirty="0" err="1"/>
              <a:t>last_name</a:t>
            </a:r>
            <a:r>
              <a:rPr lang="en-US" sz="2000" dirty="0"/>
              <a:t>)</a:t>
            </a:r>
          </a:p>
          <a:p>
            <a:pPr>
              <a:defRPr/>
            </a:pPr>
            <a:endParaRPr lang="en-IN" sz="2000" dirty="0"/>
          </a:p>
          <a:p>
            <a:r>
              <a:rPr lang="en-IN" sz="2000" b="1" dirty="0"/>
              <a:t>Output</a:t>
            </a:r>
            <a:endParaRPr lang="en-IN" sz="2000" dirty="0"/>
          </a:p>
          <a:p>
            <a:pPr fontAlgn="base"/>
            <a:r>
              <a:rPr lang="en-IN" sz="2000" dirty="0"/>
              <a:t>Reddy Anna</a:t>
            </a:r>
            <a:endParaRPr lang="en-US" sz="2400" b="1" dirty="0">
              <a:solidFill>
                <a:schemeClr val="accent1">
                  <a:lumMod val="50000"/>
                </a:schemeClr>
              </a:solidFill>
              <a:cs typeface="Arial" charset="0"/>
            </a:endParaRPr>
          </a:p>
        </p:txBody>
      </p:sp>
    </p:spTree>
    <p:extLst>
      <p:ext uri="{BB962C8B-B14F-4D97-AF65-F5344CB8AC3E}">
        <p14:creationId xmlns:p14="http://schemas.microsoft.com/office/powerpoint/2010/main" val="131123081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3D091-55DD-F159-EDDC-6447CFF047C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1986B9E-2F9C-871B-C0A2-1F00C25A4F2B}"/>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9782000E-E778-54D8-A646-EBB77B4FE415}"/>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7D47DD5-D5C5-8007-B536-60603BB76367}"/>
              </a:ext>
            </a:extLst>
          </p:cNvPr>
          <p:cNvSpPr txBox="1"/>
          <p:nvPr/>
        </p:nvSpPr>
        <p:spPr>
          <a:xfrm>
            <a:off x="174311" y="1023575"/>
            <a:ext cx="8795377" cy="4893647"/>
          </a:xfrm>
          <a:prstGeom prst="rect">
            <a:avLst/>
          </a:prstGeom>
          <a:noFill/>
        </p:spPr>
        <p:txBody>
          <a:bodyPr wrap="square">
            <a:spAutoFit/>
          </a:bodyPr>
          <a:lstStyle/>
          <a:p>
            <a:pPr>
              <a:defRPr/>
            </a:pPr>
            <a:r>
              <a:rPr lang="en-IN" sz="2400" b="1" dirty="0">
                <a:solidFill>
                  <a:schemeClr val="accent1">
                    <a:lumMod val="50000"/>
                  </a:schemeClr>
                </a:solidFill>
                <a:cs typeface="Arial" charset="0"/>
              </a:rPr>
              <a:t>Multi-line Comment</a:t>
            </a:r>
          </a:p>
          <a:p>
            <a:pPr>
              <a:defRPr/>
            </a:pPr>
            <a:r>
              <a:rPr lang="en-US" dirty="0"/>
              <a:t>Python doesn't have a specific syntax for multi-line comments. However, programmers often use multiple single-line comments, one after the other, or sometimes triple quotes (either ''' or """), even though they're technically string literals. Below is the example of multiline comment.</a:t>
            </a:r>
          </a:p>
          <a:p>
            <a:pPr>
              <a:defRPr/>
            </a:pPr>
            <a:r>
              <a:rPr lang="en-US" sz="2400" b="1" dirty="0">
                <a:solidFill>
                  <a:schemeClr val="accent1">
                    <a:lumMod val="50000"/>
                  </a:schemeClr>
                </a:solidFill>
                <a:cs typeface="Arial" charset="0"/>
              </a:rPr>
              <a:t>'''</a:t>
            </a:r>
          </a:p>
          <a:p>
            <a:pPr>
              <a:defRPr/>
            </a:pPr>
            <a:r>
              <a:rPr lang="en-US" sz="2400" b="1" dirty="0">
                <a:solidFill>
                  <a:schemeClr val="accent1">
                    <a:lumMod val="50000"/>
                  </a:schemeClr>
                </a:solidFill>
                <a:cs typeface="Arial" charset="0"/>
              </a:rPr>
              <a:t>Multi Line comment.</a:t>
            </a:r>
          </a:p>
          <a:p>
            <a:pPr>
              <a:defRPr/>
            </a:pPr>
            <a:r>
              <a:rPr lang="en-US" sz="2400" b="1" dirty="0">
                <a:solidFill>
                  <a:schemeClr val="accent1">
                    <a:lumMod val="50000"/>
                  </a:schemeClr>
                </a:solidFill>
                <a:cs typeface="Arial" charset="0"/>
              </a:rPr>
              <a:t>Code will print name.</a:t>
            </a:r>
          </a:p>
          <a:p>
            <a:pPr>
              <a:defRPr/>
            </a:pPr>
            <a:r>
              <a:rPr lang="en-US" sz="2400" b="1" dirty="0">
                <a:solidFill>
                  <a:schemeClr val="accent1">
                    <a:lumMod val="50000"/>
                  </a:schemeClr>
                </a:solidFill>
                <a:cs typeface="Arial" charset="0"/>
              </a:rPr>
              <a:t>'''</a:t>
            </a:r>
          </a:p>
          <a:p>
            <a:pPr>
              <a:defRPr/>
            </a:pPr>
            <a:endParaRPr lang="en-US" sz="2400" b="1" dirty="0">
              <a:solidFill>
                <a:schemeClr val="accent1">
                  <a:lumMod val="50000"/>
                </a:schemeClr>
              </a:solidFill>
              <a:cs typeface="Arial" charset="0"/>
            </a:endParaRPr>
          </a:p>
          <a:p>
            <a:pPr>
              <a:defRPr/>
            </a:pPr>
            <a:r>
              <a:rPr lang="en-US" sz="2400" b="1" dirty="0" err="1">
                <a:solidFill>
                  <a:schemeClr val="accent1">
                    <a:lumMod val="50000"/>
                  </a:schemeClr>
                </a:solidFill>
                <a:cs typeface="Arial" charset="0"/>
              </a:rPr>
              <a:t>f_name</a:t>
            </a:r>
            <a:r>
              <a:rPr lang="en-US" sz="2400" b="1" dirty="0">
                <a:solidFill>
                  <a:schemeClr val="accent1">
                    <a:lumMod val="50000"/>
                  </a:schemeClr>
                </a:solidFill>
                <a:cs typeface="Arial" charset="0"/>
              </a:rPr>
              <a:t> = "Alen"</a:t>
            </a:r>
          </a:p>
          <a:p>
            <a:pPr>
              <a:defRPr/>
            </a:pPr>
            <a:r>
              <a:rPr lang="en-US" sz="2400" b="1" dirty="0">
                <a:solidFill>
                  <a:schemeClr val="accent1">
                    <a:lumMod val="50000"/>
                  </a:schemeClr>
                </a:solidFill>
                <a:cs typeface="Arial" charset="0"/>
              </a:rPr>
              <a:t>print(</a:t>
            </a:r>
            <a:r>
              <a:rPr lang="en-US" sz="2400" b="1" dirty="0" err="1">
                <a:solidFill>
                  <a:schemeClr val="accent1">
                    <a:lumMod val="50000"/>
                  </a:schemeClr>
                </a:solidFill>
                <a:cs typeface="Arial" charset="0"/>
              </a:rPr>
              <a:t>f_name</a:t>
            </a:r>
            <a:r>
              <a:rPr lang="en-US" sz="2400" b="1" dirty="0">
                <a:solidFill>
                  <a:schemeClr val="accent1">
                    <a:lumMod val="50000"/>
                  </a:schemeClr>
                </a:solidFill>
                <a:cs typeface="Arial" charset="0"/>
              </a:rPr>
              <a:t>)</a:t>
            </a:r>
            <a:endParaRPr lang="en-IN" sz="2400" b="1" dirty="0">
              <a:solidFill>
                <a:schemeClr val="accent1">
                  <a:lumMod val="50000"/>
                </a:schemeClr>
              </a:solidFill>
              <a:cs typeface="Arial" charset="0"/>
            </a:endParaRPr>
          </a:p>
          <a:p>
            <a:pPr>
              <a:defRPr/>
            </a:pPr>
            <a:endParaRPr lang="en-US" sz="2400" b="1" dirty="0">
              <a:solidFill>
                <a:schemeClr val="accent1">
                  <a:lumMod val="50000"/>
                </a:schemeClr>
              </a:solidFill>
              <a:cs typeface="Arial" charset="0"/>
            </a:endParaRPr>
          </a:p>
          <a:p>
            <a:pPr>
              <a:defRPr/>
            </a:pPr>
            <a:endParaRPr lang="en-US" sz="2400" b="1" dirty="0">
              <a:solidFill>
                <a:schemeClr val="accent1">
                  <a:lumMod val="50000"/>
                </a:schemeClr>
              </a:solidFill>
              <a:cs typeface="Arial" charset="0"/>
            </a:endParaRPr>
          </a:p>
        </p:txBody>
      </p:sp>
    </p:spTree>
    <p:extLst>
      <p:ext uri="{BB962C8B-B14F-4D97-AF65-F5344CB8AC3E}">
        <p14:creationId xmlns:p14="http://schemas.microsoft.com/office/powerpoint/2010/main" val="314333974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E4A24-FA95-71BC-89C7-994693C4882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996578C-CF44-BCC8-4B1E-A29DD3BA548C}"/>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C073A74E-56DE-4592-FFDA-00CC0C550EA5}"/>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B658BEC-45FE-8252-CDEB-57D79DBC062E}"/>
              </a:ext>
            </a:extLst>
          </p:cNvPr>
          <p:cNvSpPr txBox="1"/>
          <p:nvPr/>
        </p:nvSpPr>
        <p:spPr>
          <a:xfrm>
            <a:off x="181475" y="1023575"/>
            <a:ext cx="8795377" cy="5909310"/>
          </a:xfrm>
          <a:prstGeom prst="rect">
            <a:avLst/>
          </a:prstGeom>
          <a:noFill/>
        </p:spPr>
        <p:txBody>
          <a:bodyPr wrap="square">
            <a:spAutoFit/>
          </a:bodyPr>
          <a:lstStyle/>
          <a:p>
            <a:pPr fontAlgn="base"/>
            <a:r>
              <a:rPr lang="en-US" sz="2400" b="1" dirty="0">
                <a:solidFill>
                  <a:schemeClr val="accent1">
                    <a:lumMod val="50000"/>
                  </a:schemeClr>
                </a:solidFill>
                <a:cs typeface="Arial" charset="0"/>
              </a:rPr>
              <a:t>Continuation of Statements in Python</a:t>
            </a:r>
          </a:p>
          <a:p>
            <a:pPr>
              <a:defRPr/>
            </a:pPr>
            <a:r>
              <a:rPr lang="en-US" dirty="0"/>
              <a:t>In Python, statements are typically written on a single line. However, there are scenarios where writing a statement on multiple lines can improve readability or is required due to the length of the statement. This continuation of statements over multiple lines is supported in Python in various ways:</a:t>
            </a:r>
          </a:p>
          <a:p>
            <a:pPr>
              <a:defRPr/>
            </a:pPr>
            <a:endParaRPr lang="en-US" dirty="0"/>
          </a:p>
          <a:p>
            <a:pPr>
              <a:defRPr/>
            </a:pPr>
            <a:r>
              <a:rPr lang="en-IN" b="1" dirty="0"/>
              <a:t>Implicit Continuation</a:t>
            </a:r>
          </a:p>
          <a:p>
            <a:pPr>
              <a:defRPr/>
            </a:pPr>
            <a:r>
              <a:rPr lang="en-US" dirty="0"/>
              <a:t>Python implicitly supports line continuation within parentheses (), square brackets [], and curly braces {}. This is often used in defining multi-line lists, tuples, dictionaries, or function arguments.</a:t>
            </a:r>
          </a:p>
          <a:p>
            <a:pPr>
              <a:defRPr/>
            </a:pPr>
            <a:r>
              <a:rPr lang="en-US" sz="2400" b="1" dirty="0">
                <a:solidFill>
                  <a:schemeClr val="accent1">
                    <a:lumMod val="50000"/>
                  </a:schemeClr>
                </a:solidFill>
                <a:cs typeface="Arial" charset="0"/>
              </a:rPr>
              <a:t># Line continuation within square brackets '[]'</a:t>
            </a:r>
          </a:p>
          <a:p>
            <a:pPr>
              <a:defRPr/>
            </a:pPr>
            <a:r>
              <a:rPr lang="en-US" sz="2400" b="1" dirty="0">
                <a:solidFill>
                  <a:schemeClr val="accent1">
                    <a:lumMod val="50000"/>
                  </a:schemeClr>
                </a:solidFill>
                <a:cs typeface="Arial" charset="0"/>
              </a:rPr>
              <a:t>numbers = [</a:t>
            </a:r>
          </a:p>
          <a:p>
            <a:pPr>
              <a:defRPr/>
            </a:pPr>
            <a:r>
              <a:rPr lang="en-US" sz="2400" b="1" dirty="0">
                <a:solidFill>
                  <a:schemeClr val="accent1">
                    <a:lumMod val="50000"/>
                  </a:schemeClr>
                </a:solidFill>
                <a:cs typeface="Arial" charset="0"/>
              </a:rPr>
              <a:t>    1, 2, 3,</a:t>
            </a:r>
          </a:p>
          <a:p>
            <a:pPr>
              <a:defRPr/>
            </a:pPr>
            <a:r>
              <a:rPr lang="en-US" sz="2400" b="1" dirty="0">
                <a:solidFill>
                  <a:schemeClr val="accent1">
                    <a:lumMod val="50000"/>
                  </a:schemeClr>
                </a:solidFill>
                <a:cs typeface="Arial" charset="0"/>
              </a:rPr>
              <a:t>    4, 5, 6,</a:t>
            </a:r>
          </a:p>
          <a:p>
            <a:pPr>
              <a:defRPr/>
            </a:pPr>
            <a:r>
              <a:rPr lang="en-US" sz="2400" b="1" dirty="0">
                <a:solidFill>
                  <a:schemeClr val="accent1">
                    <a:lumMod val="50000"/>
                  </a:schemeClr>
                </a:solidFill>
                <a:cs typeface="Arial" charset="0"/>
              </a:rPr>
              <a:t>    7, 8, 9</a:t>
            </a:r>
          </a:p>
          <a:p>
            <a:pPr>
              <a:defRPr/>
            </a:pPr>
            <a:r>
              <a:rPr lang="en-US" sz="2400" b="1" dirty="0">
                <a:solidFill>
                  <a:schemeClr val="accent1">
                    <a:lumMod val="50000"/>
                  </a:schemeClr>
                </a:solidFill>
                <a:cs typeface="Arial" charset="0"/>
              </a:rPr>
              <a:t>]</a:t>
            </a:r>
          </a:p>
          <a:p>
            <a:pPr>
              <a:defRPr/>
            </a:pPr>
            <a:r>
              <a:rPr lang="en-US" sz="2400" b="1" dirty="0">
                <a:solidFill>
                  <a:schemeClr val="accent1">
                    <a:lumMod val="50000"/>
                  </a:schemeClr>
                </a:solidFill>
                <a:cs typeface="Arial" charset="0"/>
              </a:rPr>
              <a:t>print(numbers)</a:t>
            </a:r>
          </a:p>
          <a:p>
            <a:pPr>
              <a:defRPr/>
            </a:pPr>
            <a:endParaRPr lang="en-US" sz="2400" b="1" dirty="0">
              <a:solidFill>
                <a:schemeClr val="accent1">
                  <a:lumMod val="50000"/>
                </a:schemeClr>
              </a:solidFill>
              <a:cs typeface="Arial" charset="0"/>
            </a:endParaRPr>
          </a:p>
        </p:txBody>
      </p:sp>
    </p:spTree>
    <p:extLst>
      <p:ext uri="{BB962C8B-B14F-4D97-AF65-F5344CB8AC3E}">
        <p14:creationId xmlns:p14="http://schemas.microsoft.com/office/powerpoint/2010/main" val="273926041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BC351-3ADB-8097-16DB-2C48D874CDA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8FA553D-0287-7602-9BFE-9FC7D4BC8DFA}"/>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EAF80E96-4E59-7F90-1BB0-8EE154993A2E}"/>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9CD36D9-371B-14DC-F9CB-93222C3FE341}"/>
              </a:ext>
            </a:extLst>
          </p:cNvPr>
          <p:cNvSpPr txBox="1"/>
          <p:nvPr/>
        </p:nvSpPr>
        <p:spPr>
          <a:xfrm>
            <a:off x="181475" y="1023575"/>
            <a:ext cx="8795377" cy="4339650"/>
          </a:xfrm>
          <a:prstGeom prst="rect">
            <a:avLst/>
          </a:prstGeom>
          <a:noFill/>
        </p:spPr>
        <p:txBody>
          <a:bodyPr wrap="square">
            <a:spAutoFit/>
          </a:bodyPr>
          <a:lstStyle/>
          <a:p>
            <a:pPr>
              <a:defRPr/>
            </a:pPr>
            <a:r>
              <a:rPr lang="en-IN" sz="2400" b="1" dirty="0">
                <a:solidFill>
                  <a:schemeClr val="accent1">
                    <a:lumMod val="50000"/>
                  </a:schemeClr>
                </a:solidFill>
                <a:cs typeface="Arial" charset="0"/>
              </a:rPr>
              <a:t>Explicit Continuation</a:t>
            </a:r>
          </a:p>
          <a:p>
            <a:pPr>
              <a:defRPr/>
            </a:pPr>
            <a:r>
              <a:rPr lang="en-US" dirty="0"/>
              <a:t>You can use backslash '\' to indicate that a statement should continue on the next line.</a:t>
            </a:r>
            <a:endParaRPr lang="en-IN" sz="2400" b="1" dirty="0">
              <a:solidFill>
                <a:schemeClr val="accent1">
                  <a:lumMod val="50000"/>
                </a:schemeClr>
              </a:solidFill>
              <a:cs typeface="Arial" charset="0"/>
            </a:endParaRPr>
          </a:p>
          <a:p>
            <a:pPr>
              <a:defRPr/>
            </a:pPr>
            <a:endParaRPr lang="en-US" sz="2400" b="1" dirty="0">
              <a:solidFill>
                <a:schemeClr val="accent1">
                  <a:lumMod val="50000"/>
                </a:schemeClr>
              </a:solidFill>
              <a:cs typeface="Arial" charset="0"/>
            </a:endParaRPr>
          </a:p>
          <a:p>
            <a:pPr>
              <a:defRPr/>
            </a:pPr>
            <a:r>
              <a:rPr lang="en-US" sz="2400" b="1" dirty="0">
                <a:solidFill>
                  <a:schemeClr val="accent1">
                    <a:lumMod val="50000"/>
                  </a:schemeClr>
                </a:solidFill>
                <a:cs typeface="Arial" charset="0"/>
              </a:rPr>
              <a:t># Explicit continuation</a:t>
            </a:r>
          </a:p>
          <a:p>
            <a:pPr>
              <a:defRPr/>
            </a:pPr>
            <a:r>
              <a:rPr lang="en-US" sz="2400" b="1" dirty="0">
                <a:solidFill>
                  <a:schemeClr val="accent1">
                    <a:lumMod val="50000"/>
                  </a:schemeClr>
                </a:solidFill>
                <a:cs typeface="Arial" charset="0"/>
              </a:rPr>
              <a:t>s = "GFG is computer science portal " \</a:t>
            </a:r>
          </a:p>
          <a:p>
            <a:pPr>
              <a:defRPr/>
            </a:pPr>
            <a:r>
              <a:rPr lang="en-US" sz="2400" b="1" dirty="0">
                <a:solidFill>
                  <a:schemeClr val="accent1">
                    <a:lumMod val="50000"/>
                  </a:schemeClr>
                </a:solidFill>
                <a:cs typeface="Arial" charset="0"/>
              </a:rPr>
              <a:t>    "by Geeks, used by Geeks."</a:t>
            </a:r>
          </a:p>
          <a:p>
            <a:pPr>
              <a:defRPr/>
            </a:pPr>
            <a:endParaRPr lang="en-US" sz="2400" b="1" dirty="0">
              <a:solidFill>
                <a:schemeClr val="accent1">
                  <a:lumMod val="50000"/>
                </a:schemeClr>
              </a:solidFill>
              <a:cs typeface="Arial" charset="0"/>
            </a:endParaRPr>
          </a:p>
          <a:p>
            <a:pPr>
              <a:defRPr/>
            </a:pPr>
            <a:r>
              <a:rPr lang="en-US" sz="2400" b="1" dirty="0">
                <a:solidFill>
                  <a:schemeClr val="accent1">
                    <a:lumMod val="50000"/>
                  </a:schemeClr>
                </a:solidFill>
                <a:cs typeface="Arial" charset="0"/>
              </a:rPr>
              <a:t>print(s)</a:t>
            </a:r>
          </a:p>
          <a:p>
            <a:pPr>
              <a:defRPr/>
            </a:pPr>
            <a:endParaRPr lang="en-US" sz="2400" b="1" dirty="0">
              <a:solidFill>
                <a:schemeClr val="accent1">
                  <a:lumMod val="50000"/>
                </a:schemeClr>
              </a:solidFill>
              <a:cs typeface="Arial" charset="0"/>
            </a:endParaRPr>
          </a:p>
          <a:p>
            <a:pPr>
              <a:defRPr/>
            </a:pPr>
            <a:r>
              <a:rPr lang="en-US" sz="2400" b="1" dirty="0">
                <a:solidFill>
                  <a:schemeClr val="accent1">
                    <a:lumMod val="50000"/>
                  </a:schemeClr>
                </a:solidFill>
                <a:cs typeface="Arial" charset="0"/>
              </a:rPr>
              <a:t>Note: </a:t>
            </a:r>
            <a:r>
              <a:rPr lang="en-US" dirty="0"/>
              <a:t>Using a backslash does have some pitfalls, such as if there's a space after the backslash, it will result in a syntax error.</a:t>
            </a:r>
            <a:endParaRPr lang="en-US" sz="2400" b="1" dirty="0">
              <a:solidFill>
                <a:schemeClr val="accent1">
                  <a:lumMod val="50000"/>
                </a:schemeClr>
              </a:solidFill>
              <a:cs typeface="Arial" charset="0"/>
            </a:endParaRPr>
          </a:p>
          <a:p>
            <a:pPr>
              <a:defRPr/>
            </a:pPr>
            <a:endParaRPr lang="en-US" sz="2400" b="1" dirty="0">
              <a:solidFill>
                <a:schemeClr val="accent1">
                  <a:lumMod val="50000"/>
                </a:schemeClr>
              </a:solidFill>
              <a:cs typeface="Arial" charset="0"/>
            </a:endParaRPr>
          </a:p>
        </p:txBody>
      </p:sp>
    </p:spTree>
    <p:extLst>
      <p:ext uri="{BB962C8B-B14F-4D97-AF65-F5344CB8AC3E}">
        <p14:creationId xmlns:p14="http://schemas.microsoft.com/office/powerpoint/2010/main" val="103927338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72A2C-7E28-5396-6BAC-FF92925FC4E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27621C5-8485-003E-5D4C-85F53220F016}"/>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70AF7DB1-8CD2-2287-0749-B7A68AC617C1}"/>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9283A06-71BC-4248-46DD-063F4FB8FD2B}"/>
              </a:ext>
            </a:extLst>
          </p:cNvPr>
          <p:cNvSpPr txBox="1"/>
          <p:nvPr/>
        </p:nvSpPr>
        <p:spPr>
          <a:xfrm>
            <a:off x="354577" y="1315963"/>
            <a:ext cx="8155191" cy="1692771"/>
          </a:xfrm>
          <a:prstGeom prst="rect">
            <a:avLst/>
          </a:prstGeom>
          <a:noFill/>
        </p:spPr>
        <p:txBody>
          <a:bodyPr wrap="square">
            <a:spAutoFit/>
          </a:bodyPr>
          <a:lstStyle/>
          <a:p>
            <a:r>
              <a:rPr lang="en-US" sz="2400" b="1" dirty="0">
                <a:solidFill>
                  <a:schemeClr val="accent1">
                    <a:lumMod val="50000"/>
                  </a:schemeClr>
                </a:solidFill>
                <a:cs typeface="Arial" charset="0"/>
              </a:rPr>
              <a:t>Input and Output Function:</a:t>
            </a:r>
          </a:p>
          <a:p>
            <a:pPr algn="just"/>
            <a:r>
              <a:rPr lang="en-US" sz="2000" dirty="0"/>
              <a:t>Understanding input and output operations is fundamental to Python programming. With the print() function, we can display output in various formats, while the input() function enables interaction with users by gathering input during program execution.</a:t>
            </a:r>
            <a:endParaRPr lang="en-US" sz="2400" dirty="0"/>
          </a:p>
        </p:txBody>
      </p:sp>
      <p:sp>
        <p:nvSpPr>
          <p:cNvPr id="8" name="TextBox 7">
            <a:extLst>
              <a:ext uri="{FF2B5EF4-FFF2-40B4-BE49-F238E27FC236}">
                <a16:creationId xmlns:a16="http://schemas.microsoft.com/office/drawing/2014/main" id="{A24E48EA-DC3B-744B-C4D4-C70239A287C3}"/>
              </a:ext>
            </a:extLst>
          </p:cNvPr>
          <p:cNvSpPr txBox="1"/>
          <p:nvPr/>
        </p:nvSpPr>
        <p:spPr>
          <a:xfrm>
            <a:off x="446942" y="3252950"/>
            <a:ext cx="8062826" cy="2228815"/>
          </a:xfrm>
          <a:prstGeom prst="rect">
            <a:avLst/>
          </a:prstGeom>
          <a:noFill/>
        </p:spPr>
        <p:txBody>
          <a:bodyPr wrap="square">
            <a:spAutoFit/>
          </a:bodyPr>
          <a:lstStyle/>
          <a:p>
            <a:pPr fontAlgn="base">
              <a:lnSpc>
                <a:spcPts val="2100"/>
              </a:lnSpc>
              <a:buNone/>
            </a:pPr>
            <a:r>
              <a:rPr lang="en-US" sz="2400" b="1" dirty="0">
                <a:solidFill>
                  <a:schemeClr val="accent1">
                    <a:lumMod val="50000"/>
                  </a:schemeClr>
                </a:solidFill>
                <a:cs typeface="Arial" charset="0"/>
              </a:rPr>
              <a:t>Taking input in Python</a:t>
            </a:r>
          </a:p>
          <a:p>
            <a:pPr algn="l" rtl="0" fontAlgn="base">
              <a:spcAft>
                <a:spcPts val="750"/>
              </a:spcAft>
              <a:buNone/>
            </a:pPr>
            <a:r>
              <a:rPr lang="en-US" b="0" i="0" dirty="0">
                <a:solidFill>
                  <a:srgbClr val="273239"/>
                </a:solidFill>
                <a:effectLst/>
                <a:latin typeface="Nunito" pitchFamily="2" charset="0"/>
              </a:rPr>
              <a:t>Python's input() function is used to take user input. By default, it returns the user input in form of a string. </a:t>
            </a:r>
          </a:p>
          <a:p>
            <a:pPr fontAlgn="base">
              <a:spcAft>
                <a:spcPts val="750"/>
              </a:spcAft>
            </a:pPr>
            <a:r>
              <a:rPr lang="en-IN" b="1" dirty="0"/>
              <a:t>Example:</a:t>
            </a:r>
          </a:p>
          <a:p>
            <a:pPr fontAlgn="base"/>
            <a:r>
              <a:rPr lang="en-US" dirty="0"/>
              <a:t>name = input("Enter your name: ")</a:t>
            </a:r>
          </a:p>
          <a:p>
            <a:pPr fontAlgn="base"/>
            <a:r>
              <a:rPr lang="en-US" dirty="0"/>
              <a:t>print("Hello,", name, "! Welcome!")</a:t>
            </a:r>
          </a:p>
          <a:p>
            <a:pPr fontAlgn="base">
              <a:spcAft>
                <a:spcPts val="750"/>
              </a:spcAft>
            </a:pPr>
            <a:endParaRPr lang="en-US" b="0" i="0" dirty="0">
              <a:solidFill>
                <a:srgbClr val="273239"/>
              </a:solidFill>
              <a:effectLst/>
              <a:latin typeface="Nunito" pitchFamily="2" charset="0"/>
            </a:endParaRPr>
          </a:p>
        </p:txBody>
      </p:sp>
      <p:sp>
        <p:nvSpPr>
          <p:cNvPr id="10" name="TextBox 9">
            <a:extLst>
              <a:ext uri="{FF2B5EF4-FFF2-40B4-BE49-F238E27FC236}">
                <a16:creationId xmlns:a16="http://schemas.microsoft.com/office/drawing/2014/main" id="{9450DE40-81A1-484C-73E5-7B388855FB4C}"/>
              </a:ext>
            </a:extLst>
          </p:cNvPr>
          <p:cNvSpPr txBox="1"/>
          <p:nvPr/>
        </p:nvSpPr>
        <p:spPr>
          <a:xfrm>
            <a:off x="2281767" y="5270167"/>
            <a:ext cx="4580466" cy="1128514"/>
          </a:xfrm>
          <a:prstGeom prst="rect">
            <a:avLst/>
          </a:prstGeom>
          <a:noFill/>
        </p:spPr>
        <p:txBody>
          <a:bodyPr wrap="square">
            <a:spAutoFit/>
          </a:bodyPr>
          <a:lstStyle/>
          <a:p>
            <a:pPr algn="l" rtl="0" fontAlgn="base">
              <a:spcAft>
                <a:spcPts val="750"/>
              </a:spcAft>
              <a:buNone/>
            </a:pPr>
            <a:r>
              <a:rPr lang="en-US" b="1" i="0" dirty="0">
                <a:solidFill>
                  <a:srgbClr val="273239"/>
                </a:solidFill>
                <a:effectLst/>
                <a:latin typeface="Nunito" pitchFamily="2" charset="0"/>
              </a:rPr>
              <a:t>Output</a:t>
            </a:r>
            <a:endParaRPr lang="en-US" b="0" i="0" dirty="0">
              <a:solidFill>
                <a:srgbClr val="273239"/>
              </a:solidFill>
              <a:effectLst/>
              <a:latin typeface="Nunito" pitchFamily="2" charset="0"/>
            </a:endParaRPr>
          </a:p>
          <a:p>
            <a:pPr algn="l" rtl="0" fontAlgn="base">
              <a:spcBef>
                <a:spcPts val="750"/>
              </a:spcBef>
              <a:spcAft>
                <a:spcPts val="750"/>
              </a:spcAft>
              <a:buNone/>
            </a:pPr>
            <a:r>
              <a:rPr lang="en-US" b="0" i="1" dirty="0">
                <a:solidFill>
                  <a:srgbClr val="273239"/>
                </a:solidFill>
                <a:effectLst/>
                <a:latin typeface="Nunito" pitchFamily="2" charset="0"/>
              </a:rPr>
              <a:t>Enter your name: </a:t>
            </a:r>
            <a:r>
              <a:rPr lang="en-US" b="0" i="1" dirty="0" err="1">
                <a:solidFill>
                  <a:srgbClr val="273239"/>
                </a:solidFill>
                <a:effectLst/>
                <a:latin typeface="Nunito" pitchFamily="2" charset="0"/>
              </a:rPr>
              <a:t>GeeksforGeeks</a:t>
            </a:r>
            <a:r>
              <a:rPr lang="en-US" b="0" i="1" dirty="0">
                <a:solidFill>
                  <a:srgbClr val="273239"/>
                </a:solidFill>
                <a:effectLst/>
                <a:latin typeface="Nunito" pitchFamily="2" charset="0"/>
              </a:rPr>
              <a:t/>
            </a:r>
            <a:br>
              <a:rPr lang="en-US" b="0" i="1" dirty="0">
                <a:solidFill>
                  <a:srgbClr val="273239"/>
                </a:solidFill>
                <a:effectLst/>
                <a:latin typeface="Nunito" pitchFamily="2" charset="0"/>
              </a:rPr>
            </a:br>
            <a:r>
              <a:rPr lang="en-US" b="0" i="1" dirty="0">
                <a:solidFill>
                  <a:srgbClr val="273239"/>
                </a:solidFill>
                <a:effectLst/>
                <a:latin typeface="Nunito" pitchFamily="2" charset="0"/>
              </a:rPr>
              <a:t>Hello, </a:t>
            </a:r>
            <a:r>
              <a:rPr lang="en-US" b="0" i="1" dirty="0" err="1">
                <a:solidFill>
                  <a:srgbClr val="273239"/>
                </a:solidFill>
                <a:effectLst/>
                <a:latin typeface="Nunito" pitchFamily="2" charset="0"/>
              </a:rPr>
              <a:t>GeeksforGeeks</a:t>
            </a:r>
            <a:r>
              <a:rPr lang="en-US" b="0" i="1" dirty="0">
                <a:solidFill>
                  <a:srgbClr val="273239"/>
                </a:solidFill>
                <a:effectLst/>
                <a:latin typeface="Nunito" pitchFamily="2" charset="0"/>
              </a:rPr>
              <a:t> ! Welcome!</a:t>
            </a:r>
          </a:p>
        </p:txBody>
      </p:sp>
    </p:spTree>
    <p:extLst>
      <p:ext uri="{BB962C8B-B14F-4D97-AF65-F5344CB8AC3E}">
        <p14:creationId xmlns:p14="http://schemas.microsoft.com/office/powerpoint/2010/main" val="307221393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F1377-7A4B-E5C9-E74D-24FF4B74509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F3C5C8F-2C2B-BC2B-C7BC-B821A370CDB2}"/>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B2710953-1C57-8AE5-1383-AC44038100C9}"/>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D27E39C-808D-A3E3-47BE-C0832EC6CECB}"/>
              </a:ext>
            </a:extLst>
          </p:cNvPr>
          <p:cNvSpPr txBox="1"/>
          <p:nvPr/>
        </p:nvSpPr>
        <p:spPr>
          <a:xfrm>
            <a:off x="354577" y="1315963"/>
            <a:ext cx="8155191" cy="3600986"/>
          </a:xfrm>
          <a:prstGeom prst="rect">
            <a:avLst/>
          </a:prstGeom>
          <a:noFill/>
        </p:spPr>
        <p:txBody>
          <a:bodyPr wrap="square">
            <a:spAutoFit/>
          </a:bodyPr>
          <a:lstStyle/>
          <a:p>
            <a:r>
              <a:rPr lang="en-US" sz="2400" b="1" dirty="0">
                <a:solidFill>
                  <a:schemeClr val="accent1">
                    <a:lumMod val="50000"/>
                  </a:schemeClr>
                </a:solidFill>
                <a:cs typeface="Arial" charset="0"/>
              </a:rPr>
              <a:t>Printing Output using print() in Python:</a:t>
            </a:r>
          </a:p>
          <a:p>
            <a:pPr algn="just" fontAlgn="base"/>
            <a:r>
              <a:rPr lang="en-US" sz="2000" dirty="0"/>
              <a:t>Print() function allows us to display text, variables and expressions on the console. Let's begin with the basic usage of the print() function:</a:t>
            </a:r>
          </a:p>
          <a:p>
            <a:pPr algn="just" fontAlgn="base"/>
            <a:r>
              <a:rPr lang="en-US" sz="2000" dirty="0"/>
              <a:t>In this example, "Hello, World!" is a string literal enclosed within double quotes. When executed, this statement will output the text to the console.</a:t>
            </a:r>
          </a:p>
          <a:p>
            <a:pPr algn="just" fontAlgn="base"/>
            <a:endParaRPr lang="en-US" sz="2000" dirty="0"/>
          </a:p>
          <a:p>
            <a:pPr algn="just" fontAlgn="base"/>
            <a:r>
              <a:rPr lang="en-US" sz="2000" dirty="0"/>
              <a:t>print("Hello, World!")</a:t>
            </a:r>
          </a:p>
          <a:p>
            <a:pPr algn="just" fontAlgn="base"/>
            <a:endParaRPr lang="en-US" sz="2000" dirty="0"/>
          </a:p>
          <a:p>
            <a:r>
              <a:rPr lang="en-IN" sz="2400" b="1" dirty="0"/>
              <a:t>Output</a:t>
            </a:r>
          </a:p>
          <a:p>
            <a:pPr fontAlgn="base"/>
            <a:r>
              <a:rPr lang="en-IN" sz="2000" dirty="0"/>
              <a:t>Hello, World!</a:t>
            </a:r>
          </a:p>
          <a:p>
            <a:pPr algn="just" fontAlgn="base"/>
            <a:endParaRPr lang="en-US" sz="2000" dirty="0"/>
          </a:p>
        </p:txBody>
      </p:sp>
    </p:spTree>
    <p:extLst>
      <p:ext uri="{BB962C8B-B14F-4D97-AF65-F5344CB8AC3E}">
        <p14:creationId xmlns:p14="http://schemas.microsoft.com/office/powerpoint/2010/main" val="236265382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B3CE3-D05E-5BF9-25C8-963312B92C1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49298F5-601E-5742-C29F-23F03C6815BC}"/>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CDAF8CF4-ABEF-69D7-0BBC-D650A1D953C2}"/>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27FBE3C-47EF-9E36-0EE4-7950D5C73AC3}"/>
              </a:ext>
            </a:extLst>
          </p:cNvPr>
          <p:cNvSpPr txBox="1"/>
          <p:nvPr/>
        </p:nvSpPr>
        <p:spPr>
          <a:xfrm>
            <a:off x="446942" y="1315963"/>
            <a:ext cx="8155191" cy="2308324"/>
          </a:xfrm>
          <a:prstGeom prst="rect">
            <a:avLst/>
          </a:prstGeom>
          <a:noFill/>
        </p:spPr>
        <p:txBody>
          <a:bodyPr wrap="square">
            <a:spAutoFit/>
          </a:bodyPr>
          <a:lstStyle/>
          <a:p>
            <a:r>
              <a:rPr lang="en-US" sz="2400" b="1" dirty="0">
                <a:solidFill>
                  <a:schemeClr val="accent1">
                    <a:lumMod val="50000"/>
                  </a:schemeClr>
                </a:solidFill>
                <a:cs typeface="Arial" charset="0"/>
              </a:rPr>
              <a:t>Data Types in Python:</a:t>
            </a:r>
          </a:p>
          <a:p>
            <a:endParaRPr lang="en-US" sz="2400" b="1" dirty="0"/>
          </a:p>
          <a:p>
            <a:r>
              <a:rPr lang="en-US" sz="2400" b="1" dirty="0"/>
              <a:t>Data types</a:t>
            </a:r>
            <a:r>
              <a:rPr lang="en-US" sz="2400" dirty="0"/>
              <a:t> specify the type of data that a variable can store. Python is a </a:t>
            </a:r>
            <a:r>
              <a:rPr lang="en-US" sz="2400" b="1" dirty="0"/>
              <a:t>dynamically typed language</a:t>
            </a:r>
            <a:r>
              <a:rPr lang="en-US" sz="2400" dirty="0"/>
              <a:t>, so the data type of a variable is determined at runtime.</a:t>
            </a:r>
          </a:p>
          <a:p>
            <a:endParaRPr lang="en-US" sz="2400" dirty="0"/>
          </a:p>
        </p:txBody>
      </p:sp>
    </p:spTree>
    <p:extLst>
      <p:ext uri="{BB962C8B-B14F-4D97-AF65-F5344CB8AC3E}">
        <p14:creationId xmlns:p14="http://schemas.microsoft.com/office/powerpoint/2010/main" val="66393694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C040F-DEEB-3FF9-22A9-6CF6DFBCA22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9D7E2F0-47AB-6D01-5D0F-F41F9F14243F}"/>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0D560505-B850-3D2F-0678-D962B73C8585}"/>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08A869F-5BFF-96EE-F991-413B10BD858F}"/>
              </a:ext>
            </a:extLst>
          </p:cNvPr>
          <p:cNvSpPr txBox="1"/>
          <p:nvPr/>
        </p:nvSpPr>
        <p:spPr>
          <a:xfrm>
            <a:off x="446942" y="1315963"/>
            <a:ext cx="8155191" cy="1569660"/>
          </a:xfrm>
          <a:prstGeom prst="rect">
            <a:avLst/>
          </a:prstGeom>
          <a:noFill/>
        </p:spPr>
        <p:txBody>
          <a:bodyPr wrap="square">
            <a:spAutoFit/>
          </a:bodyPr>
          <a:lstStyle/>
          <a:p>
            <a:r>
              <a:rPr lang="en-US" sz="2400" dirty="0"/>
              <a:t>By default, Python has various built-in data types organized under the following categories.</a:t>
            </a:r>
            <a:endParaRPr lang="en-US" sz="2400" b="1" dirty="0"/>
          </a:p>
          <a:p>
            <a:endParaRPr lang="en-US" sz="2400" b="1" dirty="0"/>
          </a:p>
          <a:p>
            <a:endParaRPr lang="en-US" sz="2400" dirty="0"/>
          </a:p>
        </p:txBody>
      </p:sp>
      <p:graphicFrame>
        <p:nvGraphicFramePr>
          <p:cNvPr id="2" name="Table 1">
            <a:extLst>
              <a:ext uri="{FF2B5EF4-FFF2-40B4-BE49-F238E27FC236}">
                <a16:creationId xmlns:a16="http://schemas.microsoft.com/office/drawing/2014/main" id="{48352FD7-3878-A47D-7726-D2A04C3B67CE}"/>
              </a:ext>
            </a:extLst>
          </p:cNvPr>
          <p:cNvGraphicFramePr>
            <a:graphicFrameLocks noGrp="1"/>
          </p:cNvGraphicFramePr>
          <p:nvPr>
            <p:extLst>
              <p:ext uri="{D42A27DB-BD31-4B8C-83A1-F6EECF244321}">
                <p14:modId xmlns:p14="http://schemas.microsoft.com/office/powerpoint/2010/main" val="1023052947"/>
              </p:ext>
            </p:extLst>
          </p:nvPr>
        </p:nvGraphicFramePr>
        <p:xfrm>
          <a:off x="1886787" y="2472269"/>
          <a:ext cx="5631613" cy="3955944"/>
        </p:xfrm>
        <a:graphic>
          <a:graphicData uri="http://schemas.openxmlformats.org/drawingml/2006/table">
            <a:tbl>
              <a:tblPr>
                <a:tableStyleId>{BDBED569-4797-4DF1-A0F4-6AAB3CD982D8}</a:tableStyleId>
              </a:tblPr>
              <a:tblGrid>
                <a:gridCol w="2129833">
                  <a:extLst>
                    <a:ext uri="{9D8B030D-6E8A-4147-A177-3AD203B41FA5}">
                      <a16:colId xmlns:a16="http://schemas.microsoft.com/office/drawing/2014/main" val="3115535929"/>
                    </a:ext>
                  </a:extLst>
                </a:gridCol>
                <a:gridCol w="3501780">
                  <a:extLst>
                    <a:ext uri="{9D8B030D-6E8A-4147-A177-3AD203B41FA5}">
                      <a16:colId xmlns:a16="http://schemas.microsoft.com/office/drawing/2014/main" val="4103859072"/>
                    </a:ext>
                  </a:extLst>
                </a:gridCol>
              </a:tblGrid>
              <a:tr h="423617">
                <a:tc>
                  <a:txBody>
                    <a:bodyPr/>
                    <a:lstStyle/>
                    <a:p>
                      <a:pPr algn="l" fontAlgn="t">
                        <a:buNone/>
                      </a:pPr>
                      <a:r>
                        <a:rPr lang="en-IN" sz="2000" b="1" dirty="0">
                          <a:effectLst/>
                        </a:rPr>
                        <a:t>Text Type:</a:t>
                      </a:r>
                      <a:endParaRPr lang="en-IN" sz="2000" b="1" dirty="0">
                        <a:effectLst/>
                        <a:latin typeface="+mn-lt"/>
                      </a:endParaRPr>
                    </a:p>
                  </a:txBody>
                  <a:tcPr marL="138370" marR="69185" marT="69185" marB="69185"/>
                </a:tc>
                <a:tc>
                  <a:txBody>
                    <a:bodyPr/>
                    <a:lstStyle/>
                    <a:p>
                      <a:pPr algn="l" fontAlgn="t">
                        <a:buNone/>
                      </a:pPr>
                      <a:r>
                        <a:rPr lang="en-IN" sz="2000" b="1" dirty="0">
                          <a:solidFill>
                            <a:srgbClr val="002060"/>
                          </a:solidFill>
                          <a:effectLst/>
                        </a:rPr>
                        <a:t>str</a:t>
                      </a:r>
                      <a:endParaRPr lang="en-IN" sz="2000" b="1" dirty="0">
                        <a:solidFill>
                          <a:srgbClr val="002060"/>
                        </a:solidFill>
                        <a:effectLst/>
                        <a:latin typeface="+mn-lt"/>
                      </a:endParaRPr>
                    </a:p>
                  </a:txBody>
                  <a:tcPr marL="69185" marR="69185" marT="69185" marB="69185"/>
                </a:tc>
                <a:extLst>
                  <a:ext uri="{0D108BD9-81ED-4DB2-BD59-A6C34878D82A}">
                    <a16:rowId xmlns:a16="http://schemas.microsoft.com/office/drawing/2014/main" val="2894055652"/>
                  </a:ext>
                </a:extLst>
              </a:tr>
              <a:tr h="545816">
                <a:tc>
                  <a:txBody>
                    <a:bodyPr/>
                    <a:lstStyle/>
                    <a:p>
                      <a:pPr algn="l" fontAlgn="t">
                        <a:buNone/>
                      </a:pPr>
                      <a:r>
                        <a:rPr lang="en-IN" sz="2000" b="1" dirty="0">
                          <a:effectLst/>
                        </a:rPr>
                        <a:t>Numeric Types:</a:t>
                      </a:r>
                      <a:endParaRPr lang="en-IN" sz="2000" b="1" dirty="0">
                        <a:effectLst/>
                        <a:latin typeface="+mn-lt"/>
                      </a:endParaRPr>
                    </a:p>
                  </a:txBody>
                  <a:tcPr marL="138370" marR="69185" marT="69185" marB="69185"/>
                </a:tc>
                <a:tc>
                  <a:txBody>
                    <a:bodyPr/>
                    <a:lstStyle/>
                    <a:p>
                      <a:pPr algn="l" fontAlgn="t">
                        <a:buNone/>
                      </a:pPr>
                      <a:r>
                        <a:rPr lang="en-IN" sz="2000" b="1" dirty="0">
                          <a:solidFill>
                            <a:srgbClr val="002060"/>
                          </a:solidFill>
                          <a:effectLst/>
                        </a:rPr>
                        <a:t>int, float, </a:t>
                      </a:r>
                      <a:r>
                        <a:rPr lang="en-IN" sz="2000" b="1" dirty="0" smtClean="0">
                          <a:solidFill>
                            <a:srgbClr val="002060"/>
                          </a:solidFill>
                          <a:effectLst/>
                        </a:rPr>
                        <a:t>complex (2+3j)</a:t>
                      </a:r>
                      <a:endParaRPr lang="en-IN" sz="2000" b="1" dirty="0">
                        <a:solidFill>
                          <a:srgbClr val="002060"/>
                        </a:solidFill>
                        <a:effectLst/>
                        <a:latin typeface="+mn-lt"/>
                      </a:endParaRPr>
                    </a:p>
                  </a:txBody>
                  <a:tcPr marL="69185" marR="69185" marT="69185" marB="69185"/>
                </a:tc>
                <a:extLst>
                  <a:ext uri="{0D108BD9-81ED-4DB2-BD59-A6C34878D82A}">
                    <a16:rowId xmlns:a16="http://schemas.microsoft.com/office/drawing/2014/main" val="2475796608"/>
                  </a:ext>
                </a:extLst>
              </a:tr>
              <a:tr h="545816">
                <a:tc>
                  <a:txBody>
                    <a:bodyPr/>
                    <a:lstStyle/>
                    <a:p>
                      <a:pPr algn="l" fontAlgn="t">
                        <a:buNone/>
                      </a:pPr>
                      <a:r>
                        <a:rPr lang="en-IN" sz="2000" b="1" dirty="0">
                          <a:effectLst/>
                        </a:rPr>
                        <a:t>Sequence Types:</a:t>
                      </a:r>
                      <a:endParaRPr lang="en-IN" sz="2000" b="1" dirty="0">
                        <a:effectLst/>
                        <a:latin typeface="+mn-lt"/>
                      </a:endParaRPr>
                    </a:p>
                  </a:txBody>
                  <a:tcPr marL="138370" marR="69185" marT="69185" marB="69185"/>
                </a:tc>
                <a:tc>
                  <a:txBody>
                    <a:bodyPr/>
                    <a:lstStyle/>
                    <a:p>
                      <a:pPr algn="l" fontAlgn="t">
                        <a:buNone/>
                      </a:pPr>
                      <a:r>
                        <a:rPr lang="en-IN" sz="2000" b="1" dirty="0">
                          <a:solidFill>
                            <a:srgbClr val="002060"/>
                          </a:solidFill>
                          <a:effectLst/>
                        </a:rPr>
                        <a:t>list, tuple, range</a:t>
                      </a:r>
                      <a:endParaRPr lang="en-IN" sz="2000" b="1" dirty="0">
                        <a:solidFill>
                          <a:srgbClr val="002060"/>
                        </a:solidFill>
                        <a:effectLst/>
                        <a:latin typeface="+mn-lt"/>
                      </a:endParaRPr>
                    </a:p>
                  </a:txBody>
                  <a:tcPr marL="69185" marR="69185" marT="69185" marB="69185"/>
                </a:tc>
                <a:extLst>
                  <a:ext uri="{0D108BD9-81ED-4DB2-BD59-A6C34878D82A}">
                    <a16:rowId xmlns:a16="http://schemas.microsoft.com/office/drawing/2014/main" val="843669220"/>
                  </a:ext>
                </a:extLst>
              </a:tr>
              <a:tr h="545816">
                <a:tc>
                  <a:txBody>
                    <a:bodyPr/>
                    <a:lstStyle/>
                    <a:p>
                      <a:pPr algn="l" fontAlgn="t">
                        <a:buNone/>
                      </a:pPr>
                      <a:r>
                        <a:rPr lang="en-IN" sz="2000" b="1" dirty="0">
                          <a:effectLst/>
                        </a:rPr>
                        <a:t>Mapping Type:</a:t>
                      </a:r>
                      <a:endParaRPr lang="en-IN" sz="2000" b="1" dirty="0">
                        <a:effectLst/>
                        <a:latin typeface="+mn-lt"/>
                      </a:endParaRPr>
                    </a:p>
                  </a:txBody>
                  <a:tcPr marL="138370" marR="69185" marT="69185" marB="69185"/>
                </a:tc>
                <a:tc>
                  <a:txBody>
                    <a:bodyPr/>
                    <a:lstStyle/>
                    <a:p>
                      <a:pPr algn="l" fontAlgn="t">
                        <a:buNone/>
                      </a:pPr>
                      <a:r>
                        <a:rPr lang="en-IN" sz="2000" b="1" dirty="0" err="1">
                          <a:solidFill>
                            <a:srgbClr val="002060"/>
                          </a:solidFill>
                          <a:effectLst/>
                        </a:rPr>
                        <a:t>dict</a:t>
                      </a:r>
                      <a:endParaRPr lang="en-IN" sz="2000" b="1" dirty="0">
                        <a:solidFill>
                          <a:srgbClr val="002060"/>
                        </a:solidFill>
                        <a:effectLst/>
                        <a:latin typeface="+mn-lt"/>
                      </a:endParaRPr>
                    </a:p>
                  </a:txBody>
                  <a:tcPr marL="69185" marR="69185" marT="69185" marB="69185"/>
                </a:tc>
                <a:extLst>
                  <a:ext uri="{0D108BD9-81ED-4DB2-BD59-A6C34878D82A}">
                    <a16:rowId xmlns:a16="http://schemas.microsoft.com/office/drawing/2014/main" val="3419272389"/>
                  </a:ext>
                </a:extLst>
              </a:tr>
              <a:tr h="423617">
                <a:tc>
                  <a:txBody>
                    <a:bodyPr/>
                    <a:lstStyle/>
                    <a:p>
                      <a:pPr algn="l" fontAlgn="t">
                        <a:buNone/>
                      </a:pPr>
                      <a:r>
                        <a:rPr lang="en-IN" sz="2000" b="1">
                          <a:effectLst/>
                        </a:rPr>
                        <a:t>Set Types:</a:t>
                      </a:r>
                      <a:endParaRPr lang="en-IN" sz="2000" b="1">
                        <a:effectLst/>
                        <a:latin typeface="+mn-lt"/>
                      </a:endParaRPr>
                    </a:p>
                  </a:txBody>
                  <a:tcPr marL="138370" marR="69185" marT="69185" marB="69185"/>
                </a:tc>
                <a:tc>
                  <a:txBody>
                    <a:bodyPr/>
                    <a:lstStyle/>
                    <a:p>
                      <a:pPr algn="l" fontAlgn="t">
                        <a:buNone/>
                      </a:pPr>
                      <a:r>
                        <a:rPr lang="en-IN" sz="2000" b="1" dirty="0">
                          <a:solidFill>
                            <a:srgbClr val="002060"/>
                          </a:solidFill>
                          <a:effectLst/>
                        </a:rPr>
                        <a:t>set, </a:t>
                      </a:r>
                      <a:r>
                        <a:rPr lang="en-IN" sz="2000" b="1" dirty="0" err="1">
                          <a:solidFill>
                            <a:srgbClr val="002060"/>
                          </a:solidFill>
                          <a:effectLst/>
                        </a:rPr>
                        <a:t>frozenset</a:t>
                      </a:r>
                      <a:endParaRPr lang="en-IN" sz="2000" b="1" dirty="0">
                        <a:solidFill>
                          <a:srgbClr val="002060"/>
                        </a:solidFill>
                        <a:effectLst/>
                        <a:latin typeface="+mn-lt"/>
                      </a:endParaRPr>
                    </a:p>
                  </a:txBody>
                  <a:tcPr marL="69185" marR="69185" marT="69185" marB="69185"/>
                </a:tc>
                <a:extLst>
                  <a:ext uri="{0D108BD9-81ED-4DB2-BD59-A6C34878D82A}">
                    <a16:rowId xmlns:a16="http://schemas.microsoft.com/office/drawing/2014/main" val="3336184976"/>
                  </a:ext>
                </a:extLst>
              </a:tr>
              <a:tr h="545816">
                <a:tc>
                  <a:txBody>
                    <a:bodyPr/>
                    <a:lstStyle/>
                    <a:p>
                      <a:pPr algn="l" fontAlgn="t">
                        <a:buNone/>
                      </a:pPr>
                      <a:r>
                        <a:rPr lang="en-IN" sz="2000" b="1">
                          <a:effectLst/>
                        </a:rPr>
                        <a:t>Boolean Type:</a:t>
                      </a:r>
                      <a:endParaRPr lang="en-IN" sz="2000" b="1">
                        <a:effectLst/>
                        <a:latin typeface="+mn-lt"/>
                      </a:endParaRPr>
                    </a:p>
                  </a:txBody>
                  <a:tcPr marL="138370" marR="69185" marT="69185" marB="69185"/>
                </a:tc>
                <a:tc>
                  <a:txBody>
                    <a:bodyPr/>
                    <a:lstStyle/>
                    <a:p>
                      <a:pPr algn="l" fontAlgn="t">
                        <a:buNone/>
                      </a:pPr>
                      <a:r>
                        <a:rPr lang="en-IN" sz="2000" b="1" dirty="0">
                          <a:solidFill>
                            <a:srgbClr val="002060"/>
                          </a:solidFill>
                          <a:effectLst/>
                        </a:rPr>
                        <a:t>bool</a:t>
                      </a:r>
                      <a:endParaRPr lang="en-IN" sz="2000" b="1" dirty="0">
                        <a:solidFill>
                          <a:srgbClr val="002060"/>
                        </a:solidFill>
                        <a:effectLst/>
                        <a:latin typeface="+mn-lt"/>
                      </a:endParaRPr>
                    </a:p>
                  </a:txBody>
                  <a:tcPr marL="69185" marR="69185" marT="69185" marB="69185"/>
                </a:tc>
                <a:extLst>
                  <a:ext uri="{0D108BD9-81ED-4DB2-BD59-A6C34878D82A}">
                    <a16:rowId xmlns:a16="http://schemas.microsoft.com/office/drawing/2014/main" val="4240828319"/>
                  </a:ext>
                </a:extLst>
              </a:tr>
              <a:tr h="423617">
                <a:tc>
                  <a:txBody>
                    <a:bodyPr/>
                    <a:lstStyle/>
                    <a:p>
                      <a:pPr algn="l" fontAlgn="t">
                        <a:buNone/>
                      </a:pPr>
                      <a:r>
                        <a:rPr lang="en-IN" sz="2000" b="1">
                          <a:effectLst/>
                        </a:rPr>
                        <a:t>Binary Types:</a:t>
                      </a:r>
                      <a:endParaRPr lang="en-IN" sz="2000" b="1">
                        <a:effectLst/>
                        <a:latin typeface="+mn-lt"/>
                      </a:endParaRPr>
                    </a:p>
                  </a:txBody>
                  <a:tcPr marL="138370" marR="69185" marT="69185" marB="69185"/>
                </a:tc>
                <a:tc>
                  <a:txBody>
                    <a:bodyPr/>
                    <a:lstStyle/>
                    <a:p>
                      <a:pPr algn="l" fontAlgn="t">
                        <a:buNone/>
                      </a:pPr>
                      <a:r>
                        <a:rPr lang="en-IN" sz="2000" b="1" dirty="0">
                          <a:solidFill>
                            <a:srgbClr val="002060"/>
                          </a:solidFill>
                          <a:effectLst/>
                        </a:rPr>
                        <a:t>bytes, </a:t>
                      </a:r>
                      <a:r>
                        <a:rPr lang="en-IN" sz="2000" b="1" dirty="0" err="1">
                          <a:solidFill>
                            <a:srgbClr val="002060"/>
                          </a:solidFill>
                          <a:effectLst/>
                        </a:rPr>
                        <a:t>bytearray</a:t>
                      </a:r>
                      <a:r>
                        <a:rPr lang="en-IN" sz="2000" b="1" dirty="0">
                          <a:solidFill>
                            <a:srgbClr val="002060"/>
                          </a:solidFill>
                          <a:effectLst/>
                        </a:rPr>
                        <a:t>, </a:t>
                      </a:r>
                      <a:r>
                        <a:rPr lang="en-IN" sz="2000" b="1" dirty="0" err="1">
                          <a:solidFill>
                            <a:srgbClr val="002060"/>
                          </a:solidFill>
                          <a:effectLst/>
                        </a:rPr>
                        <a:t>memoryview</a:t>
                      </a:r>
                      <a:endParaRPr lang="en-IN" sz="2000" b="1" dirty="0">
                        <a:solidFill>
                          <a:srgbClr val="002060"/>
                        </a:solidFill>
                        <a:effectLst/>
                        <a:latin typeface="+mn-lt"/>
                      </a:endParaRPr>
                    </a:p>
                  </a:txBody>
                  <a:tcPr marL="69185" marR="69185" marT="69185" marB="69185"/>
                </a:tc>
                <a:extLst>
                  <a:ext uri="{0D108BD9-81ED-4DB2-BD59-A6C34878D82A}">
                    <a16:rowId xmlns:a16="http://schemas.microsoft.com/office/drawing/2014/main" val="2032304959"/>
                  </a:ext>
                </a:extLst>
              </a:tr>
              <a:tr h="423617">
                <a:tc>
                  <a:txBody>
                    <a:bodyPr/>
                    <a:lstStyle/>
                    <a:p>
                      <a:pPr algn="l" fontAlgn="t">
                        <a:buNone/>
                      </a:pPr>
                      <a:r>
                        <a:rPr lang="en-IN" sz="2000" b="1">
                          <a:effectLst/>
                        </a:rPr>
                        <a:t>None Type:</a:t>
                      </a:r>
                      <a:endParaRPr lang="en-IN" sz="2000" b="1">
                        <a:effectLst/>
                        <a:latin typeface="+mn-lt"/>
                      </a:endParaRPr>
                    </a:p>
                  </a:txBody>
                  <a:tcPr marL="138370" marR="69185" marT="69185" marB="69185"/>
                </a:tc>
                <a:tc>
                  <a:txBody>
                    <a:bodyPr/>
                    <a:lstStyle/>
                    <a:p>
                      <a:pPr algn="l" fontAlgn="t">
                        <a:buNone/>
                      </a:pPr>
                      <a:r>
                        <a:rPr lang="en-IN" sz="2000" b="1" dirty="0" err="1">
                          <a:solidFill>
                            <a:srgbClr val="002060"/>
                          </a:solidFill>
                          <a:effectLst/>
                        </a:rPr>
                        <a:t>NoneType</a:t>
                      </a:r>
                      <a:endParaRPr lang="en-IN" sz="2000" b="1" dirty="0">
                        <a:solidFill>
                          <a:srgbClr val="002060"/>
                        </a:solidFill>
                        <a:effectLst/>
                        <a:latin typeface="+mn-lt"/>
                      </a:endParaRPr>
                    </a:p>
                  </a:txBody>
                  <a:tcPr marL="69185" marR="69185" marT="69185" marB="69185"/>
                </a:tc>
                <a:extLst>
                  <a:ext uri="{0D108BD9-81ED-4DB2-BD59-A6C34878D82A}">
                    <a16:rowId xmlns:a16="http://schemas.microsoft.com/office/drawing/2014/main" val="2605275271"/>
                  </a:ext>
                </a:extLst>
              </a:tr>
            </a:tbl>
          </a:graphicData>
        </a:graphic>
      </p:graphicFrame>
    </p:spTree>
    <p:extLst>
      <p:ext uri="{BB962C8B-B14F-4D97-AF65-F5344CB8AC3E}">
        <p14:creationId xmlns:p14="http://schemas.microsoft.com/office/powerpoint/2010/main" val="344911131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C040F-DEEB-3FF9-22A9-6CF6DFBCA22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9D7E2F0-47AB-6D01-5D0F-F41F9F14243F}"/>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0D560505-B850-3D2F-0678-D962B73C8585}"/>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08A869F-5BFF-96EE-F991-413B10BD858F}"/>
              </a:ext>
            </a:extLst>
          </p:cNvPr>
          <p:cNvSpPr txBox="1"/>
          <p:nvPr/>
        </p:nvSpPr>
        <p:spPr>
          <a:xfrm>
            <a:off x="446942" y="1315963"/>
            <a:ext cx="8155191" cy="4524315"/>
          </a:xfrm>
          <a:prstGeom prst="rect">
            <a:avLst/>
          </a:prstGeom>
          <a:noFill/>
        </p:spPr>
        <p:txBody>
          <a:bodyPr wrap="square">
            <a:spAutoFit/>
          </a:bodyPr>
          <a:lstStyle/>
          <a:p>
            <a:pPr algn="just"/>
            <a:r>
              <a:rPr lang="en-US" sz="2400" b="1" dirty="0" smtClean="0"/>
              <a:t>List : A </a:t>
            </a:r>
            <a:r>
              <a:rPr lang="en-US" sz="2400" b="1" dirty="0"/>
              <a:t>list is an ordered and mutable (changeable) collection of elements</a:t>
            </a:r>
            <a:r>
              <a:rPr lang="en-US" sz="2400" b="1" dirty="0" smtClean="0"/>
              <a:t>. </a:t>
            </a:r>
          </a:p>
          <a:p>
            <a:pPr algn="just"/>
            <a:endParaRPr lang="en-US" sz="2400" b="1" dirty="0"/>
          </a:p>
          <a:p>
            <a:pPr algn="just"/>
            <a:r>
              <a:rPr lang="en-US" sz="2400" dirty="0"/>
              <a:t>Features</a:t>
            </a:r>
            <a:r>
              <a:rPr lang="en-US" sz="2400" dirty="0" smtClean="0"/>
              <a:t>:</a:t>
            </a:r>
          </a:p>
          <a:p>
            <a:pPr marL="342900" indent="-342900" algn="just">
              <a:buFont typeface="Arial" panose="020B0604020202020204" pitchFamily="34" charset="0"/>
              <a:buChar char="•"/>
            </a:pPr>
            <a:r>
              <a:rPr lang="en-US" sz="2400" dirty="0"/>
              <a:t>	</a:t>
            </a:r>
            <a:r>
              <a:rPr lang="en-US" sz="2400" dirty="0" smtClean="0"/>
              <a:t>Allows </a:t>
            </a:r>
            <a:r>
              <a:rPr lang="en-US" sz="2400" dirty="0"/>
              <a:t>duplicate </a:t>
            </a:r>
            <a:r>
              <a:rPr lang="en-US" sz="2400" dirty="0" smtClean="0"/>
              <a:t>values</a:t>
            </a:r>
          </a:p>
          <a:p>
            <a:pPr marL="342900" indent="-342900" algn="just">
              <a:buFont typeface="Arial" panose="020B0604020202020204" pitchFamily="34" charset="0"/>
              <a:buChar char="•"/>
            </a:pPr>
            <a:r>
              <a:rPr lang="en-US" sz="2400" dirty="0"/>
              <a:t>	</a:t>
            </a:r>
            <a:r>
              <a:rPr lang="en-US" sz="2400" dirty="0" smtClean="0"/>
              <a:t>Elements </a:t>
            </a:r>
            <a:r>
              <a:rPr lang="en-US" sz="2400" dirty="0"/>
              <a:t>can be of different data </a:t>
            </a:r>
            <a:r>
              <a:rPr lang="en-US" sz="2400" dirty="0" smtClean="0"/>
              <a:t>types</a:t>
            </a:r>
          </a:p>
          <a:p>
            <a:pPr marL="342900" indent="-342900" algn="just">
              <a:buFont typeface="Arial" panose="020B0604020202020204" pitchFamily="34" charset="0"/>
              <a:buChar char="•"/>
            </a:pPr>
            <a:r>
              <a:rPr lang="en-US" sz="2400" dirty="0"/>
              <a:t>	</a:t>
            </a:r>
            <a:r>
              <a:rPr lang="en-US" sz="2400" dirty="0" smtClean="0"/>
              <a:t>Indexing </a:t>
            </a:r>
            <a:r>
              <a:rPr lang="en-US" sz="2400" dirty="0"/>
              <a:t>is </a:t>
            </a:r>
            <a:r>
              <a:rPr lang="en-US" sz="2400" dirty="0" smtClean="0"/>
              <a:t>supported</a:t>
            </a:r>
          </a:p>
          <a:p>
            <a:pPr algn="just"/>
            <a:r>
              <a:rPr lang="en-US" sz="2400" dirty="0" smtClean="0"/>
              <a:t>Example</a:t>
            </a:r>
            <a:endParaRPr lang="en-US" sz="2400" dirty="0"/>
          </a:p>
          <a:p>
            <a:pPr algn="just"/>
            <a:r>
              <a:rPr lang="en-US" sz="2400" dirty="0" smtClean="0"/>
              <a:t>	numbers </a:t>
            </a:r>
            <a:r>
              <a:rPr lang="en-US" sz="2400" dirty="0"/>
              <a:t>= [10, 20, 30, 40]</a:t>
            </a:r>
          </a:p>
          <a:p>
            <a:pPr algn="just"/>
            <a:r>
              <a:rPr lang="en-US" sz="2400" dirty="0" smtClean="0"/>
              <a:t>	numbers[1</a:t>
            </a:r>
            <a:r>
              <a:rPr lang="en-US" sz="2400" dirty="0"/>
              <a:t>] = 25</a:t>
            </a:r>
          </a:p>
          <a:p>
            <a:pPr algn="just"/>
            <a:r>
              <a:rPr lang="en-US" sz="2400" dirty="0" smtClean="0"/>
              <a:t>	print(numbers</a:t>
            </a:r>
            <a:r>
              <a:rPr lang="en-US" sz="2400" dirty="0"/>
              <a:t>)</a:t>
            </a:r>
            <a:endParaRPr lang="en-US" sz="2400" dirty="0" smtClean="0"/>
          </a:p>
          <a:p>
            <a:pPr algn="just"/>
            <a:r>
              <a:rPr lang="en-US" sz="2400" b="1" dirty="0" smtClean="0"/>
              <a:t>Output: </a:t>
            </a:r>
            <a:r>
              <a:rPr lang="en-US" sz="2400" dirty="0"/>
              <a:t>[10, </a:t>
            </a:r>
            <a:r>
              <a:rPr lang="en-US" sz="2400" dirty="0" smtClean="0"/>
              <a:t>25, </a:t>
            </a:r>
            <a:r>
              <a:rPr lang="en-US" sz="2400" dirty="0"/>
              <a:t>30, 40]</a:t>
            </a:r>
            <a:endParaRPr lang="en-US" sz="2400" dirty="0"/>
          </a:p>
        </p:txBody>
      </p:sp>
    </p:spTree>
    <p:extLst>
      <p:ext uri="{BB962C8B-B14F-4D97-AF65-F5344CB8AC3E}">
        <p14:creationId xmlns:p14="http://schemas.microsoft.com/office/powerpoint/2010/main" val="185611061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C040F-DEEB-3FF9-22A9-6CF6DFBCA22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9D7E2F0-47AB-6D01-5D0F-F41F9F14243F}"/>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0D560505-B850-3D2F-0678-D962B73C8585}"/>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08A869F-5BFF-96EE-F991-413B10BD858F}"/>
              </a:ext>
            </a:extLst>
          </p:cNvPr>
          <p:cNvSpPr txBox="1"/>
          <p:nvPr/>
        </p:nvSpPr>
        <p:spPr>
          <a:xfrm>
            <a:off x="446942" y="1315963"/>
            <a:ext cx="8155191" cy="4524315"/>
          </a:xfrm>
          <a:prstGeom prst="rect">
            <a:avLst/>
          </a:prstGeom>
          <a:noFill/>
        </p:spPr>
        <p:txBody>
          <a:bodyPr wrap="square">
            <a:spAutoFit/>
          </a:bodyPr>
          <a:lstStyle/>
          <a:p>
            <a:pPr algn="just"/>
            <a:r>
              <a:rPr lang="en-US" sz="2400" b="1" dirty="0"/>
              <a:t>A tuple is an ordered but immutable (unchangeable) collection</a:t>
            </a:r>
            <a:r>
              <a:rPr lang="en-US" sz="2400" b="1" dirty="0" smtClean="0"/>
              <a:t>.</a:t>
            </a:r>
          </a:p>
          <a:p>
            <a:pPr algn="just"/>
            <a:endParaRPr lang="en-US" sz="2400" b="1" dirty="0"/>
          </a:p>
          <a:p>
            <a:pPr algn="just"/>
            <a:r>
              <a:rPr lang="en-US" sz="2400" dirty="0"/>
              <a:t>Features</a:t>
            </a:r>
            <a:r>
              <a:rPr lang="en-US" sz="2400" dirty="0" smtClean="0"/>
              <a:t>:</a:t>
            </a:r>
          </a:p>
          <a:p>
            <a:pPr marL="342900" indent="-342900" algn="just">
              <a:buFont typeface="Arial" panose="020B0604020202020204" pitchFamily="34" charset="0"/>
              <a:buChar char="•"/>
            </a:pPr>
            <a:r>
              <a:rPr lang="en-US" sz="2400" dirty="0"/>
              <a:t>	Faster than </a:t>
            </a:r>
            <a:r>
              <a:rPr lang="en-US" sz="2400" dirty="0" smtClean="0"/>
              <a:t>lists</a:t>
            </a:r>
          </a:p>
          <a:p>
            <a:pPr marL="342900" indent="-342900" algn="just">
              <a:buFont typeface="Arial" panose="020B0604020202020204" pitchFamily="34" charset="0"/>
              <a:buChar char="•"/>
            </a:pPr>
            <a:r>
              <a:rPr lang="en-US" sz="2400" dirty="0" smtClean="0"/>
              <a:t>Allows </a:t>
            </a:r>
            <a:r>
              <a:rPr lang="en-US" sz="2400" dirty="0"/>
              <a:t>duplicate </a:t>
            </a:r>
            <a:r>
              <a:rPr lang="en-US" sz="2400" dirty="0" smtClean="0"/>
              <a:t>values</a:t>
            </a:r>
          </a:p>
          <a:p>
            <a:pPr marL="342900" indent="-342900" algn="just">
              <a:buFont typeface="Arial" panose="020B0604020202020204" pitchFamily="34" charset="0"/>
              <a:buChar char="•"/>
            </a:pPr>
            <a:r>
              <a:rPr lang="en-US" sz="2400" dirty="0" smtClean="0"/>
              <a:t>Cannot </a:t>
            </a:r>
            <a:r>
              <a:rPr lang="en-US" sz="2400" dirty="0"/>
              <a:t>be modified after </a:t>
            </a:r>
            <a:r>
              <a:rPr lang="en-US" sz="2400" dirty="0" smtClean="0"/>
              <a:t>creation</a:t>
            </a:r>
          </a:p>
          <a:p>
            <a:pPr marL="342900" indent="-342900" algn="just">
              <a:buFont typeface="Arial" panose="020B0604020202020204" pitchFamily="34" charset="0"/>
              <a:buChar char="•"/>
            </a:pPr>
            <a:endParaRPr lang="en-US" sz="2400" dirty="0"/>
          </a:p>
          <a:p>
            <a:pPr marL="342900" indent="-342900" algn="just">
              <a:buFont typeface="Arial" panose="020B0604020202020204" pitchFamily="34" charset="0"/>
              <a:buChar char="•"/>
            </a:pPr>
            <a:r>
              <a:rPr lang="en-US" sz="2400" dirty="0" smtClean="0"/>
              <a:t>Example					</a:t>
            </a:r>
          </a:p>
          <a:p>
            <a:pPr algn="just"/>
            <a:r>
              <a:rPr lang="en-US" sz="2400" dirty="0" smtClean="0"/>
              <a:t>	</a:t>
            </a:r>
            <a:r>
              <a:rPr lang="fr-FR" sz="2400" dirty="0" smtClean="0"/>
              <a:t>points = (1, 2, 3) </a:t>
            </a:r>
          </a:p>
          <a:p>
            <a:pPr algn="just"/>
            <a:r>
              <a:rPr lang="fr-FR" sz="2400" dirty="0" smtClean="0"/>
              <a:t>	</a:t>
            </a:r>
            <a:r>
              <a:rPr lang="fr-FR" sz="2400" dirty="0" err="1" smtClean="0"/>
              <a:t>print</a:t>
            </a:r>
            <a:r>
              <a:rPr lang="fr-FR" sz="2400" dirty="0" smtClean="0"/>
              <a:t>(points</a:t>
            </a:r>
            <a:r>
              <a:rPr lang="fr-FR" sz="2400" dirty="0"/>
              <a:t>)</a:t>
            </a:r>
            <a:r>
              <a:rPr lang="en-US" sz="2400" dirty="0" smtClean="0"/>
              <a:t>	</a:t>
            </a:r>
            <a:endParaRPr lang="en-US" sz="2400" dirty="0" smtClean="0"/>
          </a:p>
          <a:p>
            <a:pPr algn="just"/>
            <a:r>
              <a:rPr lang="en-US" sz="2400" b="1" dirty="0" smtClean="0"/>
              <a:t>Output: </a:t>
            </a:r>
            <a:r>
              <a:rPr lang="fr-FR" sz="2400" dirty="0"/>
              <a:t>(1, 2, 3)</a:t>
            </a:r>
            <a:endParaRPr lang="fr-FR" sz="2400" dirty="0"/>
          </a:p>
        </p:txBody>
      </p:sp>
    </p:spTree>
    <p:extLst>
      <p:ext uri="{BB962C8B-B14F-4D97-AF65-F5344CB8AC3E}">
        <p14:creationId xmlns:p14="http://schemas.microsoft.com/office/powerpoint/2010/main" val="119373643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C040F-DEEB-3FF9-22A9-6CF6DFBCA22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9D7E2F0-47AB-6D01-5D0F-F41F9F14243F}"/>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0D560505-B850-3D2F-0678-D962B73C8585}"/>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08A869F-5BFF-96EE-F991-413B10BD858F}"/>
              </a:ext>
            </a:extLst>
          </p:cNvPr>
          <p:cNvSpPr txBox="1"/>
          <p:nvPr/>
        </p:nvSpPr>
        <p:spPr>
          <a:xfrm>
            <a:off x="446942" y="1315963"/>
            <a:ext cx="8155191" cy="4154984"/>
          </a:xfrm>
          <a:prstGeom prst="rect">
            <a:avLst/>
          </a:prstGeom>
          <a:noFill/>
        </p:spPr>
        <p:txBody>
          <a:bodyPr wrap="square">
            <a:spAutoFit/>
          </a:bodyPr>
          <a:lstStyle/>
          <a:p>
            <a:pPr algn="just"/>
            <a:r>
              <a:rPr lang="en-US" sz="2400" b="1" dirty="0"/>
              <a:t>The range data type is used to generate a sequence of numbers</a:t>
            </a:r>
            <a:r>
              <a:rPr lang="en-US" sz="2400" b="1" dirty="0" smtClean="0"/>
              <a:t>.</a:t>
            </a:r>
          </a:p>
          <a:p>
            <a:pPr algn="just"/>
            <a:r>
              <a:rPr lang="en-US" sz="2400" b="1" dirty="0" smtClean="0"/>
              <a:t>It </a:t>
            </a:r>
            <a:r>
              <a:rPr lang="en-US" sz="2400" b="1" dirty="0"/>
              <a:t>is commonly used in loops, especially for loops</a:t>
            </a:r>
            <a:r>
              <a:rPr lang="en-US" sz="2400" b="1" dirty="0" smtClean="0"/>
              <a:t>.</a:t>
            </a:r>
          </a:p>
          <a:p>
            <a:pPr algn="just"/>
            <a:endParaRPr lang="en-US" sz="2400" b="1" dirty="0"/>
          </a:p>
          <a:p>
            <a:pPr algn="just"/>
            <a:r>
              <a:rPr lang="en-US" sz="2400" dirty="0"/>
              <a:t>range(stop</a:t>
            </a:r>
            <a:r>
              <a:rPr lang="en-US" sz="2400" dirty="0" smtClean="0"/>
              <a:t>)</a:t>
            </a:r>
          </a:p>
          <a:p>
            <a:pPr algn="just"/>
            <a:r>
              <a:rPr lang="en-US" sz="2400" dirty="0" smtClean="0"/>
              <a:t>Starts </a:t>
            </a:r>
            <a:r>
              <a:rPr lang="en-US" sz="2400" dirty="0"/>
              <a:t>from 0 and goes up to stop - 1</a:t>
            </a:r>
            <a:r>
              <a:rPr lang="en-US" sz="2400" dirty="0" smtClean="0"/>
              <a:t>.</a:t>
            </a:r>
          </a:p>
          <a:p>
            <a:pPr algn="just"/>
            <a:r>
              <a:rPr lang="en-US" sz="2400" dirty="0" smtClean="0"/>
              <a:t>E.g.</a:t>
            </a:r>
          </a:p>
          <a:p>
            <a:pPr algn="just"/>
            <a:r>
              <a:rPr lang="en-US" sz="2400" dirty="0" smtClean="0"/>
              <a:t>r </a:t>
            </a:r>
            <a:r>
              <a:rPr lang="en-US" sz="2400" dirty="0"/>
              <a:t>= range(5</a:t>
            </a:r>
            <a:r>
              <a:rPr lang="en-US" sz="2400" dirty="0" smtClean="0"/>
              <a:t>)</a:t>
            </a:r>
          </a:p>
          <a:p>
            <a:pPr algn="just"/>
            <a:r>
              <a:rPr lang="en-US" sz="2400" dirty="0" smtClean="0"/>
              <a:t>print(list(r))</a:t>
            </a:r>
          </a:p>
          <a:p>
            <a:pPr algn="just"/>
            <a:endParaRPr lang="en-US" sz="2400" dirty="0" smtClean="0"/>
          </a:p>
          <a:p>
            <a:pPr algn="just"/>
            <a:r>
              <a:rPr lang="en-US" sz="2400" b="1" dirty="0" smtClean="0"/>
              <a:t>Output: </a:t>
            </a:r>
            <a:r>
              <a:rPr lang="en-US" sz="2400" dirty="0" smtClean="0"/>
              <a:t>[0</a:t>
            </a:r>
            <a:r>
              <a:rPr lang="en-US" sz="2400" dirty="0"/>
              <a:t>, 1, 2, 3, 4]</a:t>
            </a:r>
          </a:p>
        </p:txBody>
      </p:sp>
    </p:spTree>
    <p:extLst>
      <p:ext uri="{BB962C8B-B14F-4D97-AF65-F5344CB8AC3E}">
        <p14:creationId xmlns:p14="http://schemas.microsoft.com/office/powerpoint/2010/main" val="156701235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C040F-DEEB-3FF9-22A9-6CF6DFBCA22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9D7E2F0-47AB-6D01-5D0F-F41F9F14243F}"/>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0D560505-B850-3D2F-0678-D962B73C8585}"/>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08A869F-5BFF-96EE-F991-413B10BD858F}"/>
              </a:ext>
            </a:extLst>
          </p:cNvPr>
          <p:cNvSpPr txBox="1"/>
          <p:nvPr/>
        </p:nvSpPr>
        <p:spPr>
          <a:xfrm>
            <a:off x="446942" y="1315963"/>
            <a:ext cx="8309431" cy="6370975"/>
          </a:xfrm>
          <a:prstGeom prst="rect">
            <a:avLst/>
          </a:prstGeom>
          <a:noFill/>
        </p:spPr>
        <p:txBody>
          <a:bodyPr wrap="square">
            <a:spAutoFit/>
          </a:bodyPr>
          <a:lstStyle/>
          <a:p>
            <a:pPr algn="just"/>
            <a:r>
              <a:rPr lang="en-US" sz="2400" b="1" dirty="0"/>
              <a:t>A dictionary (</a:t>
            </a:r>
            <a:r>
              <a:rPr lang="en-US" sz="2400" b="1" dirty="0" err="1"/>
              <a:t>dict</a:t>
            </a:r>
            <a:r>
              <a:rPr lang="en-US" sz="2400" b="1" dirty="0"/>
              <a:t>) is a data type used to store data in key–value pairs</a:t>
            </a:r>
            <a:r>
              <a:rPr lang="en-US" sz="2400" b="1" dirty="0" smtClean="0"/>
              <a:t>. Each </a:t>
            </a:r>
            <a:r>
              <a:rPr lang="en-US" sz="2400" b="1" dirty="0"/>
              <a:t>key is used to access its corresponding value</a:t>
            </a:r>
            <a:r>
              <a:rPr lang="en-US" sz="2400" b="1" dirty="0" smtClean="0"/>
              <a:t>.</a:t>
            </a:r>
          </a:p>
          <a:p>
            <a:pPr algn="just"/>
            <a:r>
              <a:rPr lang="en-US" sz="2400" b="1" dirty="0" smtClean="0"/>
              <a:t>Features:</a:t>
            </a:r>
          </a:p>
          <a:p>
            <a:pPr marL="342900" indent="-342900" algn="just">
              <a:buFont typeface="Arial" panose="020B0604020202020204" pitchFamily="34" charset="0"/>
              <a:buChar char="•"/>
            </a:pPr>
            <a:r>
              <a:rPr lang="en-US" sz="2400" dirty="0" smtClean="0"/>
              <a:t>Unordered </a:t>
            </a:r>
            <a:r>
              <a:rPr lang="en-US" sz="2400" dirty="0"/>
              <a:t>(ordered from Python 3.7</a:t>
            </a:r>
            <a:r>
              <a:rPr lang="en-US" sz="2400" dirty="0" smtClean="0"/>
              <a:t>+)</a:t>
            </a:r>
          </a:p>
          <a:p>
            <a:pPr marL="342900" indent="-342900" algn="just">
              <a:buFont typeface="Arial" panose="020B0604020202020204" pitchFamily="34" charset="0"/>
              <a:buChar char="•"/>
            </a:pPr>
            <a:r>
              <a:rPr lang="en-US" sz="2400" dirty="0" smtClean="0"/>
              <a:t>Keys </a:t>
            </a:r>
            <a:r>
              <a:rPr lang="en-US" sz="2400" dirty="0"/>
              <a:t>must be </a:t>
            </a:r>
            <a:r>
              <a:rPr lang="en-US" sz="2400" dirty="0" smtClean="0"/>
              <a:t>unique</a:t>
            </a:r>
          </a:p>
          <a:p>
            <a:pPr marL="342900" indent="-342900" algn="just">
              <a:buFont typeface="Arial" panose="020B0604020202020204" pitchFamily="34" charset="0"/>
              <a:buChar char="•"/>
            </a:pPr>
            <a:r>
              <a:rPr lang="en-US" sz="2400" dirty="0" smtClean="0"/>
              <a:t>Mutable</a:t>
            </a:r>
          </a:p>
          <a:p>
            <a:pPr marL="342900" indent="-342900" algn="just">
              <a:buFont typeface="Arial" panose="020B0604020202020204" pitchFamily="34" charset="0"/>
              <a:buChar char="•"/>
            </a:pPr>
            <a:endParaRPr lang="en-US" sz="2400" dirty="0"/>
          </a:p>
          <a:p>
            <a:pPr marL="342900" indent="-342900" algn="just">
              <a:buFont typeface="Arial" panose="020B0604020202020204" pitchFamily="34" charset="0"/>
              <a:buChar char="•"/>
            </a:pPr>
            <a:r>
              <a:rPr lang="en-US" sz="2400" dirty="0" smtClean="0"/>
              <a:t>Example</a:t>
            </a:r>
          </a:p>
          <a:p>
            <a:pPr lvl="1" algn="just"/>
            <a:r>
              <a:rPr lang="en-US" sz="2400" dirty="0"/>
              <a:t>student = {"name": "Alice", "age": 20}</a:t>
            </a:r>
          </a:p>
          <a:p>
            <a:pPr lvl="1" algn="just"/>
            <a:r>
              <a:rPr lang="en-US" sz="2400" dirty="0"/>
              <a:t>print(student["name"])</a:t>
            </a:r>
          </a:p>
          <a:p>
            <a:pPr algn="just"/>
            <a:r>
              <a:rPr lang="en-US" sz="2400" dirty="0"/>
              <a:t>student → dictionary </a:t>
            </a:r>
            <a:r>
              <a:rPr lang="en-US" sz="2400" dirty="0" smtClean="0"/>
              <a:t>variable</a:t>
            </a:r>
          </a:p>
          <a:p>
            <a:pPr algn="just"/>
            <a:r>
              <a:rPr lang="en-US" sz="2400" dirty="0" smtClean="0"/>
              <a:t>"</a:t>
            </a:r>
            <a:r>
              <a:rPr lang="en-US" sz="2400" dirty="0"/>
              <a:t>name" and "age" → </a:t>
            </a:r>
            <a:r>
              <a:rPr lang="en-US" sz="2400" dirty="0" smtClean="0"/>
              <a:t>keys</a:t>
            </a:r>
          </a:p>
          <a:p>
            <a:pPr algn="just"/>
            <a:r>
              <a:rPr lang="en-US" sz="2400" dirty="0" smtClean="0"/>
              <a:t>"</a:t>
            </a:r>
            <a:r>
              <a:rPr lang="en-US" sz="2400" dirty="0"/>
              <a:t>Alice" and 20 → </a:t>
            </a:r>
            <a:r>
              <a:rPr lang="en-US" sz="2400" dirty="0" smtClean="0"/>
              <a:t>values</a:t>
            </a:r>
          </a:p>
          <a:p>
            <a:pPr algn="just"/>
            <a:r>
              <a:rPr lang="en-US" sz="2400" dirty="0" smtClean="0"/>
              <a:t>student</a:t>
            </a:r>
            <a:r>
              <a:rPr lang="en-US" sz="2400" dirty="0"/>
              <a:t>["name"] → accesses the value of key "name"</a:t>
            </a:r>
          </a:p>
          <a:p>
            <a:pPr algn="just"/>
            <a:endParaRPr lang="en-US" sz="2400" b="1" dirty="0" smtClean="0"/>
          </a:p>
          <a:p>
            <a:pPr algn="just"/>
            <a:endParaRPr lang="en-US" sz="2400" b="1" dirty="0" smtClean="0"/>
          </a:p>
          <a:p>
            <a:pPr algn="just"/>
            <a:endParaRPr lang="en-US" sz="2400" b="1" dirty="0"/>
          </a:p>
        </p:txBody>
      </p:sp>
    </p:spTree>
    <p:extLst>
      <p:ext uri="{BB962C8B-B14F-4D97-AF65-F5344CB8AC3E}">
        <p14:creationId xmlns:p14="http://schemas.microsoft.com/office/powerpoint/2010/main" val="376096633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C040F-DEEB-3FF9-22A9-6CF6DFBCA22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9D7E2F0-47AB-6D01-5D0F-F41F9F14243F}"/>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0D560505-B850-3D2F-0678-D962B73C8585}"/>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08A869F-5BFF-96EE-F991-413B10BD858F}"/>
              </a:ext>
            </a:extLst>
          </p:cNvPr>
          <p:cNvSpPr txBox="1"/>
          <p:nvPr/>
        </p:nvSpPr>
        <p:spPr>
          <a:xfrm>
            <a:off x="446942" y="1315963"/>
            <a:ext cx="8309431" cy="6001643"/>
          </a:xfrm>
          <a:prstGeom prst="rect">
            <a:avLst/>
          </a:prstGeom>
          <a:noFill/>
        </p:spPr>
        <p:txBody>
          <a:bodyPr wrap="square">
            <a:spAutoFit/>
          </a:bodyPr>
          <a:lstStyle/>
          <a:p>
            <a:pPr algn="just"/>
            <a:r>
              <a:rPr lang="en-US" sz="2400" b="1" dirty="0"/>
              <a:t>A set is an unordered collection of unique elements</a:t>
            </a:r>
            <a:r>
              <a:rPr lang="en-US" sz="2400" b="1" dirty="0" smtClean="0"/>
              <a:t>.</a:t>
            </a:r>
          </a:p>
          <a:p>
            <a:pPr algn="just"/>
            <a:endParaRPr lang="en-US" sz="2400" b="1" dirty="0"/>
          </a:p>
          <a:p>
            <a:pPr algn="just"/>
            <a:r>
              <a:rPr lang="en-US" sz="2400" b="1" dirty="0" smtClean="0"/>
              <a:t>Features:</a:t>
            </a:r>
          </a:p>
          <a:p>
            <a:pPr marL="342900" indent="-342900" algn="just">
              <a:buFont typeface="Arial" panose="020B0604020202020204" pitchFamily="34" charset="0"/>
              <a:buChar char="•"/>
            </a:pPr>
            <a:r>
              <a:rPr lang="en-US" sz="2400" dirty="0"/>
              <a:t>No duplicate </a:t>
            </a:r>
            <a:r>
              <a:rPr lang="en-US" sz="2400" dirty="0" smtClean="0"/>
              <a:t>values</a:t>
            </a:r>
          </a:p>
          <a:p>
            <a:pPr marL="342900" indent="-342900" algn="just">
              <a:buFont typeface="Arial" panose="020B0604020202020204" pitchFamily="34" charset="0"/>
              <a:buChar char="•"/>
            </a:pPr>
            <a:r>
              <a:rPr lang="en-US" sz="2400" dirty="0" smtClean="0"/>
              <a:t>Mutable</a:t>
            </a:r>
          </a:p>
          <a:p>
            <a:pPr marL="342900" indent="-342900" algn="just">
              <a:buFont typeface="Arial" panose="020B0604020202020204" pitchFamily="34" charset="0"/>
              <a:buChar char="•"/>
            </a:pPr>
            <a:r>
              <a:rPr lang="en-US" sz="2400" dirty="0" smtClean="0"/>
              <a:t>No indexing</a:t>
            </a:r>
          </a:p>
          <a:p>
            <a:pPr algn="just"/>
            <a:endParaRPr lang="en-US" sz="2400" dirty="0"/>
          </a:p>
          <a:p>
            <a:pPr marL="342900" indent="-342900" algn="just">
              <a:buFont typeface="Arial" panose="020B0604020202020204" pitchFamily="34" charset="0"/>
              <a:buChar char="•"/>
            </a:pPr>
            <a:r>
              <a:rPr lang="en-US" sz="2400" dirty="0" smtClean="0"/>
              <a:t>Example</a:t>
            </a:r>
          </a:p>
          <a:p>
            <a:pPr lvl="1" algn="just"/>
            <a:r>
              <a:rPr lang="en-US" sz="2400" dirty="0"/>
              <a:t>s = {1, 2, 3, 3}</a:t>
            </a:r>
          </a:p>
          <a:p>
            <a:pPr lvl="1" algn="just"/>
            <a:r>
              <a:rPr lang="en-US" sz="2400" dirty="0"/>
              <a:t>print(s</a:t>
            </a:r>
            <a:r>
              <a:rPr lang="en-US" sz="2400" dirty="0" smtClean="0"/>
              <a:t>)</a:t>
            </a:r>
          </a:p>
          <a:p>
            <a:pPr lvl="1" algn="just"/>
            <a:endParaRPr lang="en-US" sz="2400" dirty="0"/>
          </a:p>
          <a:p>
            <a:pPr lvl="1" algn="just"/>
            <a:r>
              <a:rPr lang="en-US" sz="2400" b="1" dirty="0"/>
              <a:t>Output: </a:t>
            </a:r>
            <a:r>
              <a:rPr lang="en-US" sz="2400" dirty="0" smtClean="0"/>
              <a:t>{1</a:t>
            </a:r>
            <a:r>
              <a:rPr lang="en-US" sz="2400" dirty="0"/>
              <a:t>, 2, </a:t>
            </a:r>
            <a:r>
              <a:rPr lang="en-US" sz="2400" dirty="0" smtClean="0"/>
              <a:t>3}</a:t>
            </a:r>
            <a:endParaRPr lang="en-US" sz="2400" dirty="0"/>
          </a:p>
          <a:p>
            <a:pPr lvl="1" algn="just"/>
            <a:endParaRPr lang="en-US" sz="2400" dirty="0" smtClean="0"/>
          </a:p>
          <a:p>
            <a:pPr algn="just"/>
            <a:endParaRPr lang="en-US" sz="2400" b="1" dirty="0" smtClean="0"/>
          </a:p>
          <a:p>
            <a:pPr algn="just"/>
            <a:endParaRPr lang="en-US" sz="2400" b="1" dirty="0" smtClean="0"/>
          </a:p>
          <a:p>
            <a:pPr algn="just"/>
            <a:endParaRPr lang="en-US" sz="2400" b="1" dirty="0"/>
          </a:p>
        </p:txBody>
      </p:sp>
    </p:spTree>
    <p:extLst>
      <p:ext uri="{BB962C8B-B14F-4D97-AF65-F5344CB8AC3E}">
        <p14:creationId xmlns:p14="http://schemas.microsoft.com/office/powerpoint/2010/main" val="310478965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C040F-DEEB-3FF9-22A9-6CF6DFBCA22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9D7E2F0-47AB-6D01-5D0F-F41F9F14243F}"/>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0D560505-B850-3D2F-0678-D962B73C8585}"/>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08A869F-5BFF-96EE-F991-413B10BD858F}"/>
              </a:ext>
            </a:extLst>
          </p:cNvPr>
          <p:cNvSpPr txBox="1"/>
          <p:nvPr/>
        </p:nvSpPr>
        <p:spPr>
          <a:xfrm>
            <a:off x="446942" y="1315963"/>
            <a:ext cx="8309431" cy="4893647"/>
          </a:xfrm>
          <a:prstGeom prst="rect">
            <a:avLst/>
          </a:prstGeom>
          <a:noFill/>
        </p:spPr>
        <p:txBody>
          <a:bodyPr wrap="square">
            <a:spAutoFit/>
          </a:bodyPr>
          <a:lstStyle/>
          <a:p>
            <a:pPr algn="just"/>
            <a:r>
              <a:rPr lang="en-IN" sz="2400" b="1" dirty="0"/>
              <a:t>Bytes, </a:t>
            </a:r>
            <a:r>
              <a:rPr lang="en-IN" sz="2400" b="1" dirty="0" err="1"/>
              <a:t>Bytearray</a:t>
            </a:r>
            <a:r>
              <a:rPr lang="en-IN" sz="2400" b="1" dirty="0"/>
              <a:t>, and </a:t>
            </a:r>
            <a:r>
              <a:rPr lang="en-IN" sz="2400" b="1" dirty="0" err="1"/>
              <a:t>Memoryview</a:t>
            </a:r>
            <a:endParaRPr lang="en-US" sz="2400" b="1" dirty="0" smtClean="0"/>
          </a:p>
          <a:p>
            <a:pPr algn="just"/>
            <a:endParaRPr lang="en-US" sz="2400" b="1" dirty="0"/>
          </a:p>
          <a:p>
            <a:pPr algn="just"/>
            <a:r>
              <a:rPr lang="en-US" sz="2400" b="1" dirty="0" smtClean="0"/>
              <a:t>These </a:t>
            </a:r>
            <a:r>
              <a:rPr lang="en-US" sz="2400" b="1" dirty="0"/>
              <a:t>data types are used to handle binary data, such as images, files, and network data</a:t>
            </a:r>
            <a:r>
              <a:rPr lang="en-US" sz="2400" b="1" dirty="0" smtClean="0"/>
              <a:t>.</a:t>
            </a:r>
          </a:p>
          <a:p>
            <a:pPr algn="just"/>
            <a:endParaRPr lang="en-US" sz="2400" b="1" dirty="0"/>
          </a:p>
          <a:p>
            <a:pPr marL="457200" indent="-457200" algn="just">
              <a:buAutoNum type="arabicPeriod"/>
            </a:pPr>
            <a:r>
              <a:rPr lang="en-US" sz="2400" dirty="0" smtClean="0"/>
              <a:t>Bytes </a:t>
            </a:r>
            <a:r>
              <a:rPr lang="en-US" sz="2400" dirty="0"/>
              <a:t>(bytes)bytes is an immutable sequence of bytes (values from 0 to 255</a:t>
            </a:r>
            <a:r>
              <a:rPr lang="en-US" sz="2400" dirty="0" smtClean="0"/>
              <a:t>).</a:t>
            </a:r>
          </a:p>
          <a:p>
            <a:pPr marL="457200" indent="-457200" algn="just">
              <a:buAutoNum type="arabicPeriod"/>
            </a:pPr>
            <a:r>
              <a:rPr lang="en-US" sz="2400" dirty="0" err="1" smtClean="0"/>
              <a:t>bytearray</a:t>
            </a:r>
            <a:r>
              <a:rPr lang="en-US" sz="2400" dirty="0" smtClean="0"/>
              <a:t> </a:t>
            </a:r>
            <a:r>
              <a:rPr lang="en-US" sz="2400" dirty="0"/>
              <a:t>is a mutable sequence of bytes</a:t>
            </a:r>
            <a:r>
              <a:rPr lang="en-US" sz="2400" dirty="0" smtClean="0"/>
              <a:t>.</a:t>
            </a:r>
          </a:p>
          <a:p>
            <a:pPr marL="457200" indent="-457200" algn="just">
              <a:buAutoNum type="arabicPeriod"/>
            </a:pPr>
            <a:r>
              <a:rPr lang="en-US" sz="2400" dirty="0" err="1"/>
              <a:t>memoryview</a:t>
            </a:r>
            <a:r>
              <a:rPr lang="en-US" sz="2400" dirty="0"/>
              <a:t> allows access to the memory of bytes or </a:t>
            </a:r>
            <a:r>
              <a:rPr lang="en-US" sz="2400" dirty="0" err="1"/>
              <a:t>bytearray</a:t>
            </a:r>
            <a:r>
              <a:rPr lang="en-US" sz="2400" dirty="0"/>
              <a:t> without copying data.</a:t>
            </a:r>
            <a:endParaRPr lang="en-US" sz="2400" dirty="0" smtClean="0"/>
          </a:p>
          <a:p>
            <a:pPr algn="just"/>
            <a:endParaRPr lang="en-US" sz="2400" b="1" dirty="0" smtClean="0"/>
          </a:p>
          <a:p>
            <a:pPr algn="just"/>
            <a:endParaRPr lang="en-US" sz="2400" b="1" dirty="0" smtClean="0"/>
          </a:p>
          <a:p>
            <a:pPr algn="just"/>
            <a:endParaRPr lang="en-US" sz="2400" b="1" dirty="0"/>
          </a:p>
        </p:txBody>
      </p:sp>
    </p:spTree>
    <p:extLst>
      <p:ext uri="{BB962C8B-B14F-4D97-AF65-F5344CB8AC3E}">
        <p14:creationId xmlns:p14="http://schemas.microsoft.com/office/powerpoint/2010/main" val="242354360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E4EE7-CE02-9725-AD72-5A725CEF5B2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A2108B2-A374-0A5F-ED94-FC4E30D49EF8}"/>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04E94FD4-463D-9B98-44F8-6E0E31607C2C}"/>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C276CBA-BD67-E2F6-0F6F-4C7A13B0D756}"/>
              </a:ext>
            </a:extLst>
          </p:cNvPr>
          <p:cNvSpPr txBox="1"/>
          <p:nvPr/>
        </p:nvSpPr>
        <p:spPr>
          <a:xfrm>
            <a:off x="446942" y="1315963"/>
            <a:ext cx="8155191" cy="1200329"/>
          </a:xfrm>
          <a:prstGeom prst="rect">
            <a:avLst/>
          </a:prstGeom>
          <a:noFill/>
        </p:spPr>
        <p:txBody>
          <a:bodyPr wrap="square">
            <a:spAutoFit/>
          </a:bodyPr>
          <a:lstStyle/>
          <a:p>
            <a:r>
              <a:rPr lang="en-US" sz="2400" b="1" dirty="0"/>
              <a:t>Example:</a:t>
            </a:r>
          </a:p>
          <a:p>
            <a:endParaRPr lang="en-US" sz="2400" b="1" dirty="0"/>
          </a:p>
          <a:p>
            <a:endParaRPr lang="en-US" sz="2400" dirty="0"/>
          </a:p>
        </p:txBody>
      </p:sp>
      <p:pic>
        <p:nvPicPr>
          <p:cNvPr id="5" name="Picture 4">
            <a:extLst>
              <a:ext uri="{FF2B5EF4-FFF2-40B4-BE49-F238E27FC236}">
                <a16:creationId xmlns:a16="http://schemas.microsoft.com/office/drawing/2014/main" id="{FAD28AF7-76B8-62D4-E89C-3EDD17BD6852}"/>
              </a:ext>
            </a:extLst>
          </p:cNvPr>
          <p:cNvPicPr>
            <a:picLocks noChangeAspect="1"/>
          </p:cNvPicPr>
          <p:nvPr/>
        </p:nvPicPr>
        <p:blipFill>
          <a:blip r:embed="rId2"/>
          <a:srcRect b="8756"/>
          <a:stretch>
            <a:fillRect/>
          </a:stretch>
        </p:blipFill>
        <p:spPr>
          <a:xfrm>
            <a:off x="4642077" y="1056466"/>
            <a:ext cx="4366456" cy="5293534"/>
          </a:xfrm>
          <a:prstGeom prst="rect">
            <a:avLst/>
          </a:prstGeom>
        </p:spPr>
      </p:pic>
      <p:pic>
        <p:nvPicPr>
          <p:cNvPr id="7" name="Picture 6">
            <a:extLst>
              <a:ext uri="{FF2B5EF4-FFF2-40B4-BE49-F238E27FC236}">
                <a16:creationId xmlns:a16="http://schemas.microsoft.com/office/drawing/2014/main" id="{92B7DA13-2592-A897-4A43-3D44D0D39DA5}"/>
              </a:ext>
            </a:extLst>
          </p:cNvPr>
          <p:cNvPicPr>
            <a:picLocks noChangeAspect="1"/>
          </p:cNvPicPr>
          <p:nvPr/>
        </p:nvPicPr>
        <p:blipFill>
          <a:blip r:embed="rId3"/>
          <a:stretch>
            <a:fillRect/>
          </a:stretch>
        </p:blipFill>
        <p:spPr>
          <a:xfrm>
            <a:off x="539308" y="1867847"/>
            <a:ext cx="3962618" cy="4406805"/>
          </a:xfrm>
          <a:prstGeom prst="rect">
            <a:avLst/>
          </a:prstGeom>
        </p:spPr>
      </p:pic>
    </p:spTree>
    <p:extLst>
      <p:ext uri="{BB962C8B-B14F-4D97-AF65-F5344CB8AC3E}">
        <p14:creationId xmlns:p14="http://schemas.microsoft.com/office/powerpoint/2010/main" val="14021393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82B82-0617-FA24-7935-D28530D6A74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3378C50-C973-A2E8-B7C7-2392198606DC}"/>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9991FB1A-AA71-CED9-1B32-4AF16B5648DE}"/>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78EB37A-5C62-7893-0514-85AE0D00F877}"/>
              </a:ext>
            </a:extLst>
          </p:cNvPr>
          <p:cNvSpPr txBox="1"/>
          <p:nvPr/>
        </p:nvSpPr>
        <p:spPr>
          <a:xfrm>
            <a:off x="634232" y="1315963"/>
            <a:ext cx="8155191" cy="1938992"/>
          </a:xfrm>
          <a:prstGeom prst="rect">
            <a:avLst/>
          </a:prstGeom>
          <a:noFill/>
        </p:spPr>
        <p:txBody>
          <a:bodyPr wrap="square">
            <a:spAutoFit/>
          </a:bodyPr>
          <a:lstStyle/>
          <a:p>
            <a:r>
              <a:rPr lang="en-IN" sz="2400" b="1" dirty="0">
                <a:solidFill>
                  <a:schemeClr val="accent1">
                    <a:lumMod val="50000"/>
                  </a:schemeClr>
                </a:solidFill>
                <a:cs typeface="Arial" charset="0"/>
              </a:rPr>
              <a:t>Python Operators:</a:t>
            </a:r>
          </a:p>
          <a:p>
            <a:r>
              <a:rPr lang="en-US" sz="2400" b="1" dirty="0"/>
              <a:t>Python operators</a:t>
            </a:r>
            <a:r>
              <a:rPr lang="en-US" sz="2400" dirty="0"/>
              <a:t> are special symbols or keywords used to </a:t>
            </a:r>
            <a:r>
              <a:rPr lang="en-US" sz="2400" b="1" dirty="0"/>
              <a:t>perform operations on variables and values</a:t>
            </a:r>
            <a:r>
              <a:rPr lang="en-US" sz="2400" dirty="0"/>
              <a:t>.</a:t>
            </a:r>
            <a:endParaRPr lang="en-US" sz="2400" b="1" dirty="0"/>
          </a:p>
          <a:p>
            <a:endParaRPr lang="en-US" sz="2400" b="1" dirty="0"/>
          </a:p>
          <a:p>
            <a:endParaRPr lang="en-US" sz="2400" dirty="0"/>
          </a:p>
        </p:txBody>
      </p:sp>
      <p:sp>
        <p:nvSpPr>
          <p:cNvPr id="3" name="TextBox 2">
            <a:extLst>
              <a:ext uri="{FF2B5EF4-FFF2-40B4-BE49-F238E27FC236}">
                <a16:creationId xmlns:a16="http://schemas.microsoft.com/office/drawing/2014/main" id="{0FAC9DEB-A8D8-EB53-F277-51ABAFCD8E5B}"/>
              </a:ext>
            </a:extLst>
          </p:cNvPr>
          <p:cNvSpPr txBox="1"/>
          <p:nvPr/>
        </p:nvSpPr>
        <p:spPr>
          <a:xfrm>
            <a:off x="969433" y="2788272"/>
            <a:ext cx="7914914" cy="3046988"/>
          </a:xfrm>
          <a:prstGeom prst="rect">
            <a:avLst/>
          </a:prstGeom>
          <a:noFill/>
        </p:spPr>
        <p:txBody>
          <a:bodyPr wrap="square">
            <a:spAutoFit/>
          </a:bodyPr>
          <a:lstStyle/>
          <a:p>
            <a:pPr algn="l">
              <a:buNone/>
            </a:pPr>
            <a:r>
              <a:rPr lang="en-US" sz="2400" b="0" i="0" dirty="0">
                <a:solidFill>
                  <a:srgbClr val="000000"/>
                </a:solidFill>
                <a:effectLst/>
              </a:rPr>
              <a:t>Python divides the operators in the following groups:</a:t>
            </a:r>
          </a:p>
          <a:p>
            <a:pPr marL="457200" indent="-457200" algn="l">
              <a:buAutoNum type="arabicPeriod"/>
            </a:pPr>
            <a:r>
              <a:rPr lang="en-US" sz="2400" dirty="0">
                <a:solidFill>
                  <a:srgbClr val="000000"/>
                </a:solidFill>
              </a:rPr>
              <a:t>Arithmetic operators</a:t>
            </a:r>
          </a:p>
          <a:p>
            <a:pPr marL="457200" indent="-457200" algn="l">
              <a:buAutoNum type="arabicPeriod"/>
            </a:pPr>
            <a:r>
              <a:rPr lang="en-US" sz="2400" b="0" i="0" dirty="0">
                <a:solidFill>
                  <a:srgbClr val="000000"/>
                </a:solidFill>
                <a:effectLst/>
              </a:rPr>
              <a:t>Assignment operators</a:t>
            </a:r>
          </a:p>
          <a:p>
            <a:pPr marL="457200" indent="-457200" algn="l">
              <a:buAutoNum type="arabicPeriod"/>
            </a:pPr>
            <a:r>
              <a:rPr lang="en-US" sz="2400" b="0" i="0" dirty="0">
                <a:solidFill>
                  <a:srgbClr val="000000"/>
                </a:solidFill>
                <a:effectLst/>
              </a:rPr>
              <a:t>Comparison operators</a:t>
            </a:r>
          </a:p>
          <a:p>
            <a:pPr marL="457200" indent="-457200" algn="l">
              <a:buAutoNum type="arabicPeriod"/>
            </a:pPr>
            <a:r>
              <a:rPr lang="en-US" sz="2400" dirty="0">
                <a:solidFill>
                  <a:srgbClr val="000000"/>
                </a:solidFill>
              </a:rPr>
              <a:t>Logical operators</a:t>
            </a:r>
          </a:p>
          <a:p>
            <a:pPr marL="457200" indent="-457200" algn="l">
              <a:buAutoNum type="arabicPeriod"/>
            </a:pPr>
            <a:r>
              <a:rPr lang="en-US" sz="2400" b="0" i="0" dirty="0">
                <a:solidFill>
                  <a:srgbClr val="000000"/>
                </a:solidFill>
                <a:effectLst/>
              </a:rPr>
              <a:t>Identity operators</a:t>
            </a:r>
          </a:p>
          <a:p>
            <a:pPr marL="457200" indent="-457200" algn="l">
              <a:buAutoNum type="arabicPeriod"/>
            </a:pPr>
            <a:r>
              <a:rPr lang="en-US" sz="2400" dirty="0">
                <a:solidFill>
                  <a:srgbClr val="000000"/>
                </a:solidFill>
              </a:rPr>
              <a:t>Membership operators</a:t>
            </a:r>
          </a:p>
          <a:p>
            <a:pPr marL="457200" indent="-457200" algn="l">
              <a:buAutoNum type="arabicPeriod"/>
            </a:pPr>
            <a:r>
              <a:rPr lang="en-US" sz="2400" b="0" i="0" dirty="0">
                <a:solidFill>
                  <a:srgbClr val="000000"/>
                </a:solidFill>
                <a:effectLst/>
              </a:rPr>
              <a:t>Bitwise operators</a:t>
            </a:r>
            <a:endParaRPr lang="en-US" sz="2400" b="0" i="0" dirty="0">
              <a:solidFill>
                <a:srgbClr val="002060"/>
              </a:solidFill>
              <a:effectLst/>
            </a:endParaRPr>
          </a:p>
        </p:txBody>
      </p:sp>
    </p:spTree>
    <p:extLst>
      <p:ext uri="{BB962C8B-B14F-4D97-AF65-F5344CB8AC3E}">
        <p14:creationId xmlns:p14="http://schemas.microsoft.com/office/powerpoint/2010/main" val="15647347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C39D1-866B-3EBB-D59A-C81BF0430A8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F18C274-7D8B-1098-802A-E9A316F49B7D}"/>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013646A-1D51-1499-D11C-7B66B21C7C6C}"/>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A656F86-7A8C-33B9-D234-134B96217986}"/>
              </a:ext>
            </a:extLst>
          </p:cNvPr>
          <p:cNvSpPr txBox="1"/>
          <p:nvPr/>
        </p:nvSpPr>
        <p:spPr>
          <a:xfrm>
            <a:off x="634232" y="1315963"/>
            <a:ext cx="8155191" cy="461665"/>
          </a:xfrm>
          <a:prstGeom prst="rect">
            <a:avLst/>
          </a:prstGeom>
          <a:noFill/>
        </p:spPr>
        <p:txBody>
          <a:bodyPr wrap="square">
            <a:spAutoFit/>
          </a:bodyPr>
          <a:lstStyle/>
          <a:p>
            <a:r>
              <a:rPr lang="en-IN" sz="2400" b="1" dirty="0"/>
              <a:t>Python Operators:</a:t>
            </a:r>
            <a:endParaRPr lang="en-US" sz="2400" dirty="0"/>
          </a:p>
        </p:txBody>
      </p:sp>
      <p:sp>
        <p:nvSpPr>
          <p:cNvPr id="3" name="TextBox 2">
            <a:extLst>
              <a:ext uri="{FF2B5EF4-FFF2-40B4-BE49-F238E27FC236}">
                <a16:creationId xmlns:a16="http://schemas.microsoft.com/office/drawing/2014/main" id="{7D540AF3-D426-4B07-2125-24E93B59C946}"/>
              </a:ext>
            </a:extLst>
          </p:cNvPr>
          <p:cNvSpPr txBox="1"/>
          <p:nvPr/>
        </p:nvSpPr>
        <p:spPr>
          <a:xfrm>
            <a:off x="812800" y="1756384"/>
            <a:ext cx="7976623" cy="707886"/>
          </a:xfrm>
          <a:prstGeom prst="rect">
            <a:avLst/>
          </a:prstGeom>
          <a:noFill/>
        </p:spPr>
        <p:txBody>
          <a:bodyPr wrap="square">
            <a:spAutoFit/>
          </a:bodyPr>
          <a:lstStyle/>
          <a:p>
            <a:pPr marL="457200" indent="-457200">
              <a:buFont typeface="+mj-lt"/>
              <a:buAutoNum type="arabicPeriod"/>
            </a:pPr>
            <a:r>
              <a:rPr lang="en-US" sz="2000" b="0" i="0" u="sng" dirty="0">
                <a:solidFill>
                  <a:srgbClr val="002060"/>
                </a:solidFill>
                <a:effectLst/>
                <a:hlinkClick r:id="rId2">
                  <a:extLst>
                    <a:ext uri="{A12FA001-AC4F-418D-AE19-62706E023703}">
                      <ahyp:hlinkClr xmlns="" xmlns:ahyp="http://schemas.microsoft.com/office/drawing/2018/hyperlinkcolor" val="tx"/>
                    </a:ext>
                  </a:extLst>
                </a:hlinkClick>
              </a:rPr>
              <a:t>Arithmetic operators</a:t>
            </a:r>
            <a:r>
              <a:rPr lang="en-US" sz="2000" b="0" i="0" u="sng" dirty="0">
                <a:solidFill>
                  <a:srgbClr val="002060"/>
                </a:solidFill>
                <a:effectLst/>
              </a:rPr>
              <a:t>: </a:t>
            </a:r>
            <a:r>
              <a:rPr lang="en-US" sz="2000" dirty="0"/>
              <a:t>Arithmetic operators are used with numeric values to perform common mathematical operations:</a:t>
            </a:r>
            <a:endParaRPr lang="en-US" sz="2000" b="0" i="0" u="sng" dirty="0">
              <a:solidFill>
                <a:srgbClr val="002060"/>
              </a:solidFill>
              <a:effectLst/>
            </a:endParaRPr>
          </a:p>
        </p:txBody>
      </p:sp>
      <p:pic>
        <p:nvPicPr>
          <p:cNvPr id="5" name="Picture 4">
            <a:extLst>
              <a:ext uri="{FF2B5EF4-FFF2-40B4-BE49-F238E27FC236}">
                <a16:creationId xmlns:a16="http://schemas.microsoft.com/office/drawing/2014/main" id="{59BAC2AA-CC4B-55C9-CC3B-F8EA2ACA43DF}"/>
              </a:ext>
            </a:extLst>
          </p:cNvPr>
          <p:cNvPicPr>
            <a:picLocks noChangeAspect="1"/>
          </p:cNvPicPr>
          <p:nvPr/>
        </p:nvPicPr>
        <p:blipFill>
          <a:blip r:embed="rId3"/>
          <a:stretch>
            <a:fillRect/>
          </a:stretch>
        </p:blipFill>
        <p:spPr>
          <a:xfrm>
            <a:off x="1383177" y="2517055"/>
            <a:ext cx="6507756" cy="3829924"/>
          </a:xfrm>
          <a:prstGeom prst="rect">
            <a:avLst/>
          </a:prstGeom>
        </p:spPr>
      </p:pic>
    </p:spTree>
    <p:extLst>
      <p:ext uri="{BB962C8B-B14F-4D97-AF65-F5344CB8AC3E}">
        <p14:creationId xmlns:p14="http://schemas.microsoft.com/office/powerpoint/2010/main" val="24926448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C27BA-EE74-DB47-08EE-B6C530DF430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522E83C-6B79-1A37-8B48-EFE82BDA6F2A}"/>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1EC34E6B-D3FF-7545-DA1B-C79E2B622758}"/>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4197E1A-0779-BB65-6399-77DB57D28C20}"/>
              </a:ext>
            </a:extLst>
          </p:cNvPr>
          <p:cNvSpPr txBox="1"/>
          <p:nvPr/>
        </p:nvSpPr>
        <p:spPr>
          <a:xfrm>
            <a:off x="354577" y="1325342"/>
            <a:ext cx="7914914" cy="461665"/>
          </a:xfrm>
          <a:prstGeom prst="rect">
            <a:avLst/>
          </a:prstGeom>
          <a:noFill/>
        </p:spPr>
        <p:txBody>
          <a:bodyPr wrap="square">
            <a:spAutoFit/>
          </a:bodyPr>
          <a:lstStyle/>
          <a:p>
            <a:pPr algn="l"/>
            <a:r>
              <a:rPr lang="en-US" sz="2400" b="1" i="0" u="sng" dirty="0">
                <a:solidFill>
                  <a:srgbClr val="002060"/>
                </a:solidFill>
                <a:effectLst/>
                <a:hlinkClick r:id="rId2">
                  <a:extLst>
                    <a:ext uri="{A12FA001-AC4F-418D-AE19-62706E023703}">
                      <ahyp:hlinkClr xmlns="" xmlns:ahyp="http://schemas.microsoft.com/office/drawing/2018/hyperlinkcolor" val="tx"/>
                    </a:ext>
                  </a:extLst>
                </a:hlinkClick>
              </a:rPr>
              <a:t>Example of Arithmetic operators</a:t>
            </a:r>
            <a:endParaRPr lang="en-US" sz="2400" b="1" i="0" u="sng" dirty="0">
              <a:solidFill>
                <a:srgbClr val="002060"/>
              </a:solidFill>
              <a:effectLst/>
            </a:endParaRPr>
          </a:p>
        </p:txBody>
      </p:sp>
      <p:pic>
        <p:nvPicPr>
          <p:cNvPr id="6" name="Picture 5">
            <a:extLst>
              <a:ext uri="{FF2B5EF4-FFF2-40B4-BE49-F238E27FC236}">
                <a16:creationId xmlns:a16="http://schemas.microsoft.com/office/drawing/2014/main" id="{5568C137-AAA1-239F-CA42-BE5E60FFF763}"/>
              </a:ext>
            </a:extLst>
          </p:cNvPr>
          <p:cNvPicPr>
            <a:picLocks noChangeAspect="1"/>
          </p:cNvPicPr>
          <p:nvPr/>
        </p:nvPicPr>
        <p:blipFill>
          <a:blip r:embed="rId3"/>
          <a:stretch>
            <a:fillRect/>
          </a:stretch>
        </p:blipFill>
        <p:spPr>
          <a:xfrm>
            <a:off x="272075" y="1910116"/>
            <a:ext cx="4593342" cy="3770266"/>
          </a:xfrm>
          <a:prstGeom prst="rect">
            <a:avLst/>
          </a:prstGeom>
        </p:spPr>
      </p:pic>
      <p:pic>
        <p:nvPicPr>
          <p:cNvPr id="8" name="Picture 7">
            <a:extLst>
              <a:ext uri="{FF2B5EF4-FFF2-40B4-BE49-F238E27FC236}">
                <a16:creationId xmlns:a16="http://schemas.microsoft.com/office/drawing/2014/main" id="{FEF3A188-278D-444C-FAD7-D9DB5F1FC5FD}"/>
              </a:ext>
            </a:extLst>
          </p:cNvPr>
          <p:cNvPicPr>
            <a:picLocks noChangeAspect="1"/>
          </p:cNvPicPr>
          <p:nvPr/>
        </p:nvPicPr>
        <p:blipFill>
          <a:blip r:embed="rId4"/>
          <a:stretch>
            <a:fillRect/>
          </a:stretch>
        </p:blipFill>
        <p:spPr>
          <a:xfrm>
            <a:off x="4865416" y="1910116"/>
            <a:ext cx="4143117" cy="3941671"/>
          </a:xfrm>
          <a:prstGeom prst="rect">
            <a:avLst/>
          </a:prstGeom>
        </p:spPr>
      </p:pic>
    </p:spTree>
    <p:extLst>
      <p:ext uri="{BB962C8B-B14F-4D97-AF65-F5344CB8AC3E}">
        <p14:creationId xmlns:p14="http://schemas.microsoft.com/office/powerpoint/2010/main" val="4952812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2A17F-D816-BC7E-1E26-34690B605A9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95FFB83-65C1-2271-487E-DBF2ABFB8A43}"/>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E4398172-D846-2F99-643F-1BD6DD5ED016}"/>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CECDD51-39A8-0A7D-6388-AFBF462E0CB4}"/>
              </a:ext>
            </a:extLst>
          </p:cNvPr>
          <p:cNvSpPr txBox="1"/>
          <p:nvPr/>
        </p:nvSpPr>
        <p:spPr>
          <a:xfrm>
            <a:off x="446942" y="1329390"/>
            <a:ext cx="7914914" cy="1569660"/>
          </a:xfrm>
          <a:prstGeom prst="rect">
            <a:avLst/>
          </a:prstGeom>
          <a:noFill/>
        </p:spPr>
        <p:txBody>
          <a:bodyPr wrap="square">
            <a:spAutoFit/>
          </a:bodyPr>
          <a:lstStyle/>
          <a:p>
            <a:r>
              <a:rPr lang="en-IN" sz="2400" b="1" dirty="0">
                <a:solidFill>
                  <a:schemeClr val="accent1">
                    <a:lumMod val="50000"/>
                  </a:schemeClr>
                </a:solidFill>
                <a:cs typeface="Arial" charset="0"/>
              </a:rPr>
              <a:t>2. Assignment Operators: </a:t>
            </a:r>
            <a:r>
              <a:rPr lang="en-US" sz="2400" b="1" dirty="0"/>
              <a:t>Assignment operators</a:t>
            </a:r>
            <a:r>
              <a:rPr lang="en-US" sz="2400" dirty="0"/>
              <a:t> are used to </a:t>
            </a:r>
            <a:r>
              <a:rPr lang="en-US" sz="2400" b="1" dirty="0"/>
              <a:t>assign values to variables</a:t>
            </a:r>
            <a:r>
              <a:rPr lang="en-US" sz="2400" dirty="0"/>
              <a:t> and, in some cases, </a:t>
            </a:r>
            <a:r>
              <a:rPr lang="en-US" sz="2400" b="1" dirty="0"/>
              <a:t>perform an operation and assign the result</a:t>
            </a:r>
            <a:r>
              <a:rPr lang="en-US" sz="2400" dirty="0"/>
              <a:t> to the same variable.</a:t>
            </a:r>
            <a:endParaRPr lang="en-IN" sz="2400" u="sng" dirty="0">
              <a:solidFill>
                <a:srgbClr val="002060"/>
              </a:solidFill>
            </a:endParaRPr>
          </a:p>
          <a:p>
            <a:pPr marL="457200" indent="-457200" algn="l">
              <a:buFont typeface="+mj-lt"/>
              <a:buAutoNum type="arabicPeriod"/>
            </a:pPr>
            <a:endParaRPr lang="en-US" sz="2400" b="0" i="0" u="sng" dirty="0">
              <a:solidFill>
                <a:srgbClr val="002060"/>
              </a:solidFill>
              <a:effectLst/>
            </a:endParaRPr>
          </a:p>
        </p:txBody>
      </p:sp>
      <p:pic>
        <p:nvPicPr>
          <p:cNvPr id="7" name="Picture 6">
            <a:extLst>
              <a:ext uri="{FF2B5EF4-FFF2-40B4-BE49-F238E27FC236}">
                <a16:creationId xmlns:a16="http://schemas.microsoft.com/office/drawing/2014/main" id="{8A0748E7-2616-D37D-A369-88305BAA3945}"/>
              </a:ext>
            </a:extLst>
          </p:cNvPr>
          <p:cNvPicPr>
            <a:picLocks noChangeAspect="1"/>
          </p:cNvPicPr>
          <p:nvPr/>
        </p:nvPicPr>
        <p:blipFill>
          <a:blip r:embed="rId2"/>
          <a:srcRect b="47394"/>
          <a:stretch>
            <a:fillRect/>
          </a:stretch>
        </p:blipFill>
        <p:spPr>
          <a:xfrm>
            <a:off x="922773" y="2812292"/>
            <a:ext cx="7298453" cy="297579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9168327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993F4-65C9-F7C4-4E8F-2EF957ABBBF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0B71B6F-6F34-2DA1-3A41-4C286EA2AEA0}"/>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0E2E6808-5F83-FDC7-B8E3-710B547CEBB5}"/>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3768026-F7AA-3DA0-B8A2-FCB37CFD43DD}"/>
              </a:ext>
            </a:extLst>
          </p:cNvPr>
          <p:cNvSpPr txBox="1"/>
          <p:nvPr/>
        </p:nvSpPr>
        <p:spPr>
          <a:xfrm>
            <a:off x="634232" y="1315963"/>
            <a:ext cx="8155191" cy="461665"/>
          </a:xfrm>
          <a:prstGeom prst="rect">
            <a:avLst/>
          </a:prstGeom>
          <a:noFill/>
        </p:spPr>
        <p:txBody>
          <a:bodyPr wrap="square">
            <a:spAutoFit/>
          </a:bodyPr>
          <a:lstStyle/>
          <a:p>
            <a:r>
              <a:rPr lang="en-IN" sz="2400" b="1" dirty="0">
                <a:solidFill>
                  <a:schemeClr val="accent1">
                    <a:lumMod val="50000"/>
                  </a:schemeClr>
                </a:solidFill>
                <a:cs typeface="Arial" charset="0"/>
              </a:rPr>
              <a:t>Example:</a:t>
            </a:r>
            <a:endParaRPr lang="en-US" sz="2400" b="1" dirty="0">
              <a:solidFill>
                <a:schemeClr val="accent1">
                  <a:lumMod val="50000"/>
                </a:schemeClr>
              </a:solidFill>
              <a:cs typeface="Arial" charset="0"/>
            </a:endParaRPr>
          </a:p>
        </p:txBody>
      </p:sp>
      <p:pic>
        <p:nvPicPr>
          <p:cNvPr id="7" name="Picture 6">
            <a:extLst>
              <a:ext uri="{FF2B5EF4-FFF2-40B4-BE49-F238E27FC236}">
                <a16:creationId xmlns:a16="http://schemas.microsoft.com/office/drawing/2014/main" id="{1CB72065-29F5-3E47-51A2-3830385A3FCC}"/>
              </a:ext>
            </a:extLst>
          </p:cNvPr>
          <p:cNvPicPr>
            <a:picLocks noChangeAspect="1"/>
          </p:cNvPicPr>
          <p:nvPr/>
        </p:nvPicPr>
        <p:blipFill>
          <a:blip r:embed="rId2"/>
          <a:srcRect t="51870"/>
          <a:stretch>
            <a:fillRect/>
          </a:stretch>
        </p:blipFill>
        <p:spPr>
          <a:xfrm>
            <a:off x="733557" y="2070014"/>
            <a:ext cx="8055866" cy="347202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1879984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463A1-6F05-CEFC-4F4F-A4D1BBF3CA9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2F9642C-1147-A2BB-2531-C07FF6FC9043}"/>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B96E327C-060E-378D-7AD0-2B44FAEF0D94}"/>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1A403AD-4D53-FCB8-D77E-89EE22FD34D2}"/>
              </a:ext>
            </a:extLst>
          </p:cNvPr>
          <p:cNvSpPr txBox="1"/>
          <p:nvPr/>
        </p:nvSpPr>
        <p:spPr>
          <a:xfrm>
            <a:off x="446942" y="1208240"/>
            <a:ext cx="8155191" cy="461665"/>
          </a:xfrm>
          <a:prstGeom prst="rect">
            <a:avLst/>
          </a:prstGeom>
          <a:noFill/>
        </p:spPr>
        <p:txBody>
          <a:bodyPr wrap="square">
            <a:spAutoFit/>
          </a:bodyPr>
          <a:lstStyle/>
          <a:p>
            <a:r>
              <a:rPr lang="en-IN" sz="2400" b="1" dirty="0">
                <a:solidFill>
                  <a:schemeClr val="accent1">
                    <a:lumMod val="50000"/>
                  </a:schemeClr>
                </a:solidFill>
                <a:cs typeface="Arial" charset="0"/>
              </a:rPr>
              <a:t>Example of Assignment Operators:</a:t>
            </a:r>
            <a:endParaRPr lang="en-US" sz="2400" b="1" dirty="0">
              <a:solidFill>
                <a:schemeClr val="accent1">
                  <a:lumMod val="50000"/>
                </a:schemeClr>
              </a:solidFill>
              <a:cs typeface="Arial" charset="0"/>
            </a:endParaRPr>
          </a:p>
        </p:txBody>
      </p:sp>
      <p:pic>
        <p:nvPicPr>
          <p:cNvPr id="3" name="Picture 2">
            <a:extLst>
              <a:ext uri="{FF2B5EF4-FFF2-40B4-BE49-F238E27FC236}">
                <a16:creationId xmlns:a16="http://schemas.microsoft.com/office/drawing/2014/main" id="{5CC45CBD-FC3D-2D8B-A849-4286C68E0A2B}"/>
              </a:ext>
            </a:extLst>
          </p:cNvPr>
          <p:cNvPicPr>
            <a:picLocks noChangeAspect="1"/>
          </p:cNvPicPr>
          <p:nvPr/>
        </p:nvPicPr>
        <p:blipFill>
          <a:blip r:embed="rId2"/>
          <a:stretch>
            <a:fillRect/>
          </a:stretch>
        </p:blipFill>
        <p:spPr>
          <a:xfrm>
            <a:off x="323853" y="1943760"/>
            <a:ext cx="8496293" cy="4033704"/>
          </a:xfrm>
          <a:prstGeom prst="rect">
            <a:avLst/>
          </a:prstGeom>
        </p:spPr>
      </p:pic>
    </p:spTree>
    <p:extLst>
      <p:ext uri="{BB962C8B-B14F-4D97-AF65-F5344CB8AC3E}">
        <p14:creationId xmlns:p14="http://schemas.microsoft.com/office/powerpoint/2010/main" val="19792605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7CFCF-E088-9AF0-6544-914FC80A5B8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037DBBC-EAA0-79FB-AAB6-E267B1032547}"/>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BC7AC5E5-0EBF-3687-9F1A-7E952E2E4212}"/>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58AE522-8A90-66B3-CCDE-ED1C2319D919}"/>
              </a:ext>
            </a:extLst>
          </p:cNvPr>
          <p:cNvSpPr txBox="1"/>
          <p:nvPr/>
        </p:nvSpPr>
        <p:spPr>
          <a:xfrm>
            <a:off x="634232" y="1315963"/>
            <a:ext cx="8155191" cy="1569660"/>
          </a:xfrm>
          <a:prstGeom prst="rect">
            <a:avLst/>
          </a:prstGeom>
          <a:noFill/>
        </p:spPr>
        <p:txBody>
          <a:bodyPr wrap="square">
            <a:spAutoFit/>
          </a:bodyPr>
          <a:lstStyle/>
          <a:p>
            <a:r>
              <a:rPr lang="en-IN" sz="2400" b="1" dirty="0">
                <a:solidFill>
                  <a:schemeClr val="accent1">
                    <a:lumMod val="50000"/>
                  </a:schemeClr>
                </a:solidFill>
                <a:cs typeface="Arial" charset="0"/>
              </a:rPr>
              <a:t>3. Comparison Operators</a:t>
            </a:r>
          </a:p>
          <a:p>
            <a:r>
              <a:rPr lang="en-US" sz="2400" b="1" dirty="0"/>
              <a:t>Comparison operators are used to compare two values. </a:t>
            </a:r>
            <a:r>
              <a:rPr lang="en-US" sz="2400" dirty="0"/>
              <a:t>They return </a:t>
            </a:r>
            <a:r>
              <a:rPr lang="en-US" sz="2400" b="1" dirty="0"/>
              <a:t>True</a:t>
            </a:r>
            <a:r>
              <a:rPr lang="en-US" sz="2400" dirty="0"/>
              <a:t> or </a:t>
            </a:r>
            <a:r>
              <a:rPr lang="en-US" sz="2400" b="1" dirty="0"/>
              <a:t>False</a:t>
            </a:r>
            <a:r>
              <a:rPr lang="en-US" sz="2400" dirty="0"/>
              <a:t> based on the comparison result.</a:t>
            </a:r>
            <a:endParaRPr lang="en-IN" sz="2400" b="1" dirty="0"/>
          </a:p>
          <a:p>
            <a:endParaRPr lang="en-US" sz="2400" dirty="0"/>
          </a:p>
        </p:txBody>
      </p:sp>
      <p:pic>
        <p:nvPicPr>
          <p:cNvPr id="3" name="Picture 2">
            <a:extLst>
              <a:ext uri="{FF2B5EF4-FFF2-40B4-BE49-F238E27FC236}">
                <a16:creationId xmlns:a16="http://schemas.microsoft.com/office/drawing/2014/main" id="{FA263B4A-931C-AA0B-F96C-A194D478E5EE}"/>
              </a:ext>
            </a:extLst>
          </p:cNvPr>
          <p:cNvPicPr>
            <a:picLocks noChangeAspect="1"/>
          </p:cNvPicPr>
          <p:nvPr/>
        </p:nvPicPr>
        <p:blipFill>
          <a:blip r:embed="rId2"/>
          <a:stretch>
            <a:fillRect/>
          </a:stretch>
        </p:blipFill>
        <p:spPr>
          <a:xfrm>
            <a:off x="1221886" y="2909841"/>
            <a:ext cx="6700227" cy="3457092"/>
          </a:xfrm>
          <a:prstGeom prst="rect">
            <a:avLst/>
          </a:prstGeom>
        </p:spPr>
      </p:pic>
    </p:spTree>
    <p:extLst>
      <p:ext uri="{BB962C8B-B14F-4D97-AF65-F5344CB8AC3E}">
        <p14:creationId xmlns:p14="http://schemas.microsoft.com/office/powerpoint/2010/main" val="186450897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60E82-8485-1488-BFF7-CD6ED491579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E4B5C8C-2E08-2C38-E6B2-08B9A23EF783}"/>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C24FEADD-7705-1997-9EF9-B2A263A68038}"/>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79FCB15-4C54-1A25-157B-9D0B07BA94FA}"/>
              </a:ext>
            </a:extLst>
          </p:cNvPr>
          <p:cNvSpPr txBox="1"/>
          <p:nvPr/>
        </p:nvSpPr>
        <p:spPr>
          <a:xfrm>
            <a:off x="354577" y="1180496"/>
            <a:ext cx="8155191" cy="461665"/>
          </a:xfrm>
          <a:prstGeom prst="rect">
            <a:avLst/>
          </a:prstGeom>
          <a:noFill/>
        </p:spPr>
        <p:txBody>
          <a:bodyPr wrap="square">
            <a:spAutoFit/>
          </a:bodyPr>
          <a:lstStyle/>
          <a:p>
            <a:r>
              <a:rPr lang="en-IN" sz="2400" b="1" dirty="0">
                <a:solidFill>
                  <a:schemeClr val="accent1">
                    <a:lumMod val="50000"/>
                  </a:schemeClr>
                </a:solidFill>
                <a:cs typeface="Arial" charset="0"/>
              </a:rPr>
              <a:t>Example of Comparison Operators</a:t>
            </a:r>
            <a:r>
              <a:rPr lang="en-IN" sz="2400" b="1" dirty="0"/>
              <a:t>:</a:t>
            </a:r>
            <a:endParaRPr lang="en-US" sz="2400" dirty="0"/>
          </a:p>
        </p:txBody>
      </p:sp>
      <p:pic>
        <p:nvPicPr>
          <p:cNvPr id="3" name="Picture 2">
            <a:extLst>
              <a:ext uri="{FF2B5EF4-FFF2-40B4-BE49-F238E27FC236}">
                <a16:creationId xmlns:a16="http://schemas.microsoft.com/office/drawing/2014/main" id="{7409D3B8-2722-1FA5-25CA-20326D4B5D21}"/>
              </a:ext>
            </a:extLst>
          </p:cNvPr>
          <p:cNvPicPr>
            <a:picLocks noChangeAspect="1"/>
          </p:cNvPicPr>
          <p:nvPr/>
        </p:nvPicPr>
        <p:blipFill>
          <a:blip r:embed="rId2"/>
          <a:stretch>
            <a:fillRect/>
          </a:stretch>
        </p:blipFill>
        <p:spPr>
          <a:xfrm>
            <a:off x="965350" y="1980894"/>
            <a:ext cx="7213299" cy="4345532"/>
          </a:xfrm>
          <a:prstGeom prst="rect">
            <a:avLst/>
          </a:prstGeom>
        </p:spPr>
      </p:pic>
    </p:spTree>
    <p:extLst>
      <p:ext uri="{BB962C8B-B14F-4D97-AF65-F5344CB8AC3E}">
        <p14:creationId xmlns:p14="http://schemas.microsoft.com/office/powerpoint/2010/main" val="123817241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0E98C-4F41-E130-4F7F-9BC797F2634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70A98A3-5C33-39B2-9967-FDC7F7BD6C92}"/>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176E966F-DC4D-D83E-5F8B-4A35679B87B9}"/>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1BF02C7-C47B-9607-A98B-FDCF983AA658}"/>
              </a:ext>
            </a:extLst>
          </p:cNvPr>
          <p:cNvSpPr txBox="1"/>
          <p:nvPr/>
        </p:nvSpPr>
        <p:spPr>
          <a:xfrm>
            <a:off x="539308" y="1315963"/>
            <a:ext cx="8323501" cy="830997"/>
          </a:xfrm>
          <a:prstGeom prst="rect">
            <a:avLst/>
          </a:prstGeom>
          <a:noFill/>
        </p:spPr>
        <p:txBody>
          <a:bodyPr wrap="square">
            <a:spAutoFit/>
          </a:bodyPr>
          <a:lstStyle/>
          <a:p>
            <a:r>
              <a:rPr lang="en-IN" sz="2400" b="1" dirty="0">
                <a:solidFill>
                  <a:schemeClr val="accent1">
                    <a:lumMod val="50000"/>
                  </a:schemeClr>
                </a:solidFill>
                <a:cs typeface="Arial" charset="0"/>
              </a:rPr>
              <a:t>4. Logical Operators: </a:t>
            </a:r>
            <a:r>
              <a:rPr lang="en-US" sz="2400" b="1" dirty="0"/>
              <a:t>Logical operators are used to combine conditional statements</a:t>
            </a:r>
            <a:r>
              <a:rPr lang="en-US" sz="2400" dirty="0"/>
              <a:t> and return a </a:t>
            </a:r>
            <a:r>
              <a:rPr lang="en-US" sz="2400" b="1" dirty="0"/>
              <a:t>Boolean value (</a:t>
            </a:r>
            <a:r>
              <a:rPr lang="en-US" b="1" dirty="0"/>
              <a:t>True</a:t>
            </a:r>
            <a:r>
              <a:rPr lang="en-US" sz="2400" b="1" dirty="0"/>
              <a:t> or </a:t>
            </a:r>
            <a:r>
              <a:rPr lang="en-US" b="1" dirty="0"/>
              <a:t>False</a:t>
            </a:r>
            <a:r>
              <a:rPr lang="en-US" sz="2400" b="1" dirty="0"/>
              <a:t>)</a:t>
            </a:r>
            <a:r>
              <a:rPr lang="en-US" sz="2400" dirty="0"/>
              <a:t>.</a:t>
            </a:r>
          </a:p>
        </p:txBody>
      </p:sp>
      <p:pic>
        <p:nvPicPr>
          <p:cNvPr id="5" name="Picture 4">
            <a:extLst>
              <a:ext uri="{FF2B5EF4-FFF2-40B4-BE49-F238E27FC236}">
                <a16:creationId xmlns:a16="http://schemas.microsoft.com/office/drawing/2014/main" id="{86AAA94A-B48C-C146-49A5-4521DC62938D}"/>
              </a:ext>
            </a:extLst>
          </p:cNvPr>
          <p:cNvPicPr>
            <a:picLocks noChangeAspect="1"/>
          </p:cNvPicPr>
          <p:nvPr/>
        </p:nvPicPr>
        <p:blipFill>
          <a:blip r:embed="rId2"/>
          <a:stretch>
            <a:fillRect/>
          </a:stretch>
        </p:blipFill>
        <p:spPr>
          <a:xfrm>
            <a:off x="503118" y="2439346"/>
            <a:ext cx="8137763" cy="3536582"/>
          </a:xfrm>
          <a:prstGeom prst="rect">
            <a:avLst/>
          </a:prstGeom>
        </p:spPr>
      </p:pic>
    </p:spTree>
    <p:extLst>
      <p:ext uri="{BB962C8B-B14F-4D97-AF65-F5344CB8AC3E}">
        <p14:creationId xmlns:p14="http://schemas.microsoft.com/office/powerpoint/2010/main" val="9431390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9B634-51A8-FDBA-D99E-46ED5B01AC1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19D487F-5ADC-A4A2-36A6-BD219043F0CA}"/>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2FC565E1-B8C5-75AC-2B21-07B7350F5AB9}"/>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890AEE9-3041-650A-0D8D-D16E0E1C51A2}"/>
              </a:ext>
            </a:extLst>
          </p:cNvPr>
          <p:cNvSpPr txBox="1"/>
          <p:nvPr/>
        </p:nvSpPr>
        <p:spPr>
          <a:xfrm>
            <a:off x="354577" y="1180496"/>
            <a:ext cx="8155191" cy="830997"/>
          </a:xfrm>
          <a:prstGeom prst="rect">
            <a:avLst/>
          </a:prstGeom>
          <a:noFill/>
        </p:spPr>
        <p:txBody>
          <a:bodyPr wrap="square">
            <a:spAutoFit/>
          </a:bodyPr>
          <a:lstStyle/>
          <a:p>
            <a:r>
              <a:rPr lang="en-IN" sz="2400" b="1" dirty="0">
                <a:solidFill>
                  <a:schemeClr val="accent1">
                    <a:lumMod val="50000"/>
                  </a:schemeClr>
                </a:solidFill>
                <a:cs typeface="Arial" charset="0"/>
              </a:rPr>
              <a:t>Example of Logical Operators:</a:t>
            </a:r>
            <a:endParaRPr lang="en-US" sz="2400" b="1" dirty="0">
              <a:solidFill>
                <a:schemeClr val="accent1">
                  <a:lumMod val="50000"/>
                </a:schemeClr>
              </a:solidFill>
              <a:cs typeface="Arial" charset="0"/>
            </a:endParaRPr>
          </a:p>
          <a:p>
            <a:endParaRPr lang="en-US" sz="2400" dirty="0"/>
          </a:p>
        </p:txBody>
      </p:sp>
      <p:pic>
        <p:nvPicPr>
          <p:cNvPr id="5" name="Picture 4">
            <a:extLst>
              <a:ext uri="{FF2B5EF4-FFF2-40B4-BE49-F238E27FC236}">
                <a16:creationId xmlns:a16="http://schemas.microsoft.com/office/drawing/2014/main" id="{F4797750-F2FA-6729-40D0-D0DE6DBE90F4}"/>
              </a:ext>
            </a:extLst>
          </p:cNvPr>
          <p:cNvPicPr>
            <a:picLocks noChangeAspect="1"/>
          </p:cNvPicPr>
          <p:nvPr/>
        </p:nvPicPr>
        <p:blipFill>
          <a:blip r:embed="rId2"/>
          <a:srcRect l="1131"/>
          <a:stretch>
            <a:fillRect/>
          </a:stretch>
        </p:blipFill>
        <p:spPr>
          <a:xfrm>
            <a:off x="394539" y="1907828"/>
            <a:ext cx="8075266" cy="3769676"/>
          </a:xfrm>
          <a:prstGeom prst="rect">
            <a:avLst/>
          </a:prstGeom>
        </p:spPr>
      </p:pic>
    </p:spTree>
    <p:extLst>
      <p:ext uri="{BB962C8B-B14F-4D97-AF65-F5344CB8AC3E}">
        <p14:creationId xmlns:p14="http://schemas.microsoft.com/office/powerpoint/2010/main" val="81061671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8C53E-1259-23F0-86DA-8097F099F09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6748F12-E9BA-EFE7-1DDD-7755D702E00E}"/>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694FD1F8-912B-3D09-D3EB-A565A6D58376}"/>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75EC819-68C2-4650-1ED9-88DFE2234D5C}"/>
              </a:ext>
            </a:extLst>
          </p:cNvPr>
          <p:cNvSpPr txBox="1"/>
          <p:nvPr/>
        </p:nvSpPr>
        <p:spPr>
          <a:xfrm>
            <a:off x="410248" y="1300258"/>
            <a:ext cx="8323501" cy="1200329"/>
          </a:xfrm>
          <a:prstGeom prst="rect">
            <a:avLst/>
          </a:prstGeom>
          <a:noFill/>
        </p:spPr>
        <p:txBody>
          <a:bodyPr wrap="square">
            <a:spAutoFit/>
          </a:bodyPr>
          <a:lstStyle/>
          <a:p>
            <a:r>
              <a:rPr lang="en-IN" sz="2400" b="1" dirty="0">
                <a:solidFill>
                  <a:schemeClr val="accent1">
                    <a:lumMod val="50000"/>
                  </a:schemeClr>
                </a:solidFill>
                <a:cs typeface="Arial" charset="0"/>
              </a:rPr>
              <a:t>5. Identity Operators: </a:t>
            </a:r>
            <a:r>
              <a:rPr lang="en-US" sz="2400" b="1" dirty="0"/>
              <a:t>These operators are used to compare objects</a:t>
            </a:r>
            <a:r>
              <a:rPr lang="en-US" sz="2400" dirty="0"/>
              <a:t>, not whether they have the same value, but whether they </a:t>
            </a:r>
            <a:r>
              <a:rPr lang="en-US" sz="2400" b="1" dirty="0"/>
              <a:t>refer to the same object in memory (same memory location)</a:t>
            </a:r>
            <a:endParaRPr lang="en-US" sz="2400" dirty="0"/>
          </a:p>
        </p:txBody>
      </p:sp>
      <p:pic>
        <p:nvPicPr>
          <p:cNvPr id="3" name="Picture 2">
            <a:extLst>
              <a:ext uri="{FF2B5EF4-FFF2-40B4-BE49-F238E27FC236}">
                <a16:creationId xmlns:a16="http://schemas.microsoft.com/office/drawing/2014/main" id="{88CE9C69-477B-29DD-4CE8-59FE375E22B9}"/>
              </a:ext>
            </a:extLst>
          </p:cNvPr>
          <p:cNvPicPr>
            <a:picLocks noChangeAspect="1"/>
          </p:cNvPicPr>
          <p:nvPr/>
        </p:nvPicPr>
        <p:blipFill>
          <a:blip r:embed="rId2"/>
          <a:stretch>
            <a:fillRect/>
          </a:stretch>
        </p:blipFill>
        <p:spPr>
          <a:xfrm>
            <a:off x="379974" y="2808678"/>
            <a:ext cx="8384051" cy="2364028"/>
          </a:xfrm>
          <a:prstGeom prst="rect">
            <a:avLst/>
          </a:prstGeom>
        </p:spPr>
      </p:pic>
    </p:spTree>
    <p:extLst>
      <p:ext uri="{BB962C8B-B14F-4D97-AF65-F5344CB8AC3E}">
        <p14:creationId xmlns:p14="http://schemas.microsoft.com/office/powerpoint/2010/main" val="82317294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71A33-8FF1-CFAC-83C2-9B5E2430F67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933A7C2-8B5D-FCAD-E1EA-976774802760}"/>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4F260264-B535-0BE6-7686-1C73F329551B}"/>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1CAD269-7720-41CF-1B4B-168BD5967110}"/>
              </a:ext>
            </a:extLst>
          </p:cNvPr>
          <p:cNvSpPr txBox="1"/>
          <p:nvPr/>
        </p:nvSpPr>
        <p:spPr>
          <a:xfrm>
            <a:off x="354577" y="1180496"/>
            <a:ext cx="8155191" cy="830997"/>
          </a:xfrm>
          <a:prstGeom prst="rect">
            <a:avLst/>
          </a:prstGeom>
          <a:noFill/>
        </p:spPr>
        <p:txBody>
          <a:bodyPr wrap="square">
            <a:spAutoFit/>
          </a:bodyPr>
          <a:lstStyle/>
          <a:p>
            <a:r>
              <a:rPr lang="en-IN" sz="2400" b="1" dirty="0">
                <a:solidFill>
                  <a:schemeClr val="accent1">
                    <a:lumMod val="50000"/>
                  </a:schemeClr>
                </a:solidFill>
                <a:cs typeface="Arial" charset="0"/>
              </a:rPr>
              <a:t>Example of Identity Operators:</a:t>
            </a:r>
            <a:endParaRPr lang="en-US" sz="2400" b="1" dirty="0">
              <a:solidFill>
                <a:schemeClr val="accent1">
                  <a:lumMod val="50000"/>
                </a:schemeClr>
              </a:solidFill>
              <a:cs typeface="Arial" charset="0"/>
            </a:endParaRPr>
          </a:p>
          <a:p>
            <a:endParaRPr lang="en-US" sz="2400" dirty="0"/>
          </a:p>
        </p:txBody>
      </p:sp>
      <p:pic>
        <p:nvPicPr>
          <p:cNvPr id="7" name="Picture 6">
            <a:extLst>
              <a:ext uri="{FF2B5EF4-FFF2-40B4-BE49-F238E27FC236}">
                <a16:creationId xmlns:a16="http://schemas.microsoft.com/office/drawing/2014/main" id="{BFFEE58C-8DA8-E139-050A-4A1C6800BC76}"/>
              </a:ext>
            </a:extLst>
          </p:cNvPr>
          <p:cNvPicPr>
            <a:picLocks noChangeAspect="1"/>
          </p:cNvPicPr>
          <p:nvPr/>
        </p:nvPicPr>
        <p:blipFill>
          <a:blip r:embed="rId2"/>
          <a:stretch>
            <a:fillRect/>
          </a:stretch>
        </p:blipFill>
        <p:spPr>
          <a:xfrm>
            <a:off x="333592" y="1952226"/>
            <a:ext cx="8455831" cy="2757621"/>
          </a:xfrm>
          <a:prstGeom prst="rect">
            <a:avLst/>
          </a:prstGeom>
        </p:spPr>
      </p:pic>
    </p:spTree>
    <p:extLst>
      <p:ext uri="{BB962C8B-B14F-4D97-AF65-F5344CB8AC3E}">
        <p14:creationId xmlns:p14="http://schemas.microsoft.com/office/powerpoint/2010/main" val="329510159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2F7AD-37C7-F6F5-2E70-8361E83E544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B5698C0-E1A0-679E-DA17-653B7D848244}"/>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D5605C24-0213-7EC3-7FF0-D28DBE869348}"/>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27E665F-9E04-E9DD-2E3A-17B3506AA117}"/>
              </a:ext>
            </a:extLst>
          </p:cNvPr>
          <p:cNvSpPr txBox="1"/>
          <p:nvPr/>
        </p:nvSpPr>
        <p:spPr>
          <a:xfrm>
            <a:off x="539308" y="1315963"/>
            <a:ext cx="8323501" cy="1200329"/>
          </a:xfrm>
          <a:prstGeom prst="rect">
            <a:avLst/>
          </a:prstGeom>
          <a:noFill/>
        </p:spPr>
        <p:txBody>
          <a:bodyPr wrap="square">
            <a:spAutoFit/>
          </a:bodyPr>
          <a:lstStyle/>
          <a:p>
            <a:r>
              <a:rPr lang="en-IN" sz="2400" b="1" dirty="0">
                <a:solidFill>
                  <a:schemeClr val="accent1">
                    <a:lumMod val="50000"/>
                  </a:schemeClr>
                </a:solidFill>
                <a:cs typeface="Arial" charset="0"/>
              </a:rPr>
              <a:t>6. Membership Operators: </a:t>
            </a:r>
            <a:r>
              <a:rPr lang="en-US" sz="2400" dirty="0"/>
              <a:t>These operators are used to test whether a value is present in a sequence or not.</a:t>
            </a:r>
            <a:br>
              <a:rPr lang="en-US" sz="2400" dirty="0"/>
            </a:br>
            <a:r>
              <a:rPr lang="en-US" sz="2400" dirty="0"/>
              <a:t>They return True or False.</a:t>
            </a:r>
          </a:p>
        </p:txBody>
      </p:sp>
      <p:pic>
        <p:nvPicPr>
          <p:cNvPr id="5" name="Picture 4">
            <a:extLst>
              <a:ext uri="{FF2B5EF4-FFF2-40B4-BE49-F238E27FC236}">
                <a16:creationId xmlns:a16="http://schemas.microsoft.com/office/drawing/2014/main" id="{9843E2EA-34C4-F807-9723-162305094ADA}"/>
              </a:ext>
            </a:extLst>
          </p:cNvPr>
          <p:cNvPicPr>
            <a:picLocks noChangeAspect="1"/>
          </p:cNvPicPr>
          <p:nvPr/>
        </p:nvPicPr>
        <p:blipFill>
          <a:blip r:embed="rId2"/>
          <a:stretch>
            <a:fillRect/>
          </a:stretch>
        </p:blipFill>
        <p:spPr>
          <a:xfrm>
            <a:off x="421468" y="2593996"/>
            <a:ext cx="8301064" cy="2948041"/>
          </a:xfrm>
          <a:prstGeom prst="rect">
            <a:avLst/>
          </a:prstGeom>
        </p:spPr>
      </p:pic>
    </p:spTree>
    <p:extLst>
      <p:ext uri="{BB962C8B-B14F-4D97-AF65-F5344CB8AC3E}">
        <p14:creationId xmlns:p14="http://schemas.microsoft.com/office/powerpoint/2010/main" val="239185073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406BF-2E4B-3D3B-A44D-8F90A7245FB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B21E5C6-4C4C-9628-4A1E-CBCA8A72D2FB}"/>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07EBB88D-11DB-DC9A-B198-BD3AF4F6BAA7}"/>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F1280C2-A67F-DE20-8ADB-272FB7903088}"/>
              </a:ext>
            </a:extLst>
          </p:cNvPr>
          <p:cNvSpPr txBox="1"/>
          <p:nvPr/>
        </p:nvSpPr>
        <p:spPr>
          <a:xfrm>
            <a:off x="354577" y="1180496"/>
            <a:ext cx="8155191" cy="830997"/>
          </a:xfrm>
          <a:prstGeom prst="rect">
            <a:avLst/>
          </a:prstGeom>
          <a:noFill/>
        </p:spPr>
        <p:txBody>
          <a:bodyPr wrap="square">
            <a:spAutoFit/>
          </a:bodyPr>
          <a:lstStyle/>
          <a:p>
            <a:r>
              <a:rPr lang="en-IN" sz="2400" b="1" dirty="0">
                <a:solidFill>
                  <a:schemeClr val="accent1">
                    <a:lumMod val="50000"/>
                  </a:schemeClr>
                </a:solidFill>
                <a:cs typeface="Arial" charset="0"/>
              </a:rPr>
              <a:t>Example of Membership Operators:</a:t>
            </a:r>
            <a:endParaRPr lang="en-US" sz="2400" b="1" dirty="0">
              <a:solidFill>
                <a:schemeClr val="accent1">
                  <a:lumMod val="50000"/>
                </a:schemeClr>
              </a:solidFill>
              <a:cs typeface="Arial" charset="0"/>
            </a:endParaRPr>
          </a:p>
          <a:p>
            <a:endParaRPr lang="en-US" sz="2400" dirty="0"/>
          </a:p>
        </p:txBody>
      </p:sp>
      <p:pic>
        <p:nvPicPr>
          <p:cNvPr id="3" name="Picture 2">
            <a:extLst>
              <a:ext uri="{FF2B5EF4-FFF2-40B4-BE49-F238E27FC236}">
                <a16:creationId xmlns:a16="http://schemas.microsoft.com/office/drawing/2014/main" id="{933F5A9F-43BA-AF4D-0B30-CB6B83670B5A}"/>
              </a:ext>
            </a:extLst>
          </p:cNvPr>
          <p:cNvPicPr>
            <a:picLocks noChangeAspect="1"/>
          </p:cNvPicPr>
          <p:nvPr/>
        </p:nvPicPr>
        <p:blipFill>
          <a:blip r:embed="rId2"/>
          <a:stretch>
            <a:fillRect/>
          </a:stretch>
        </p:blipFill>
        <p:spPr>
          <a:xfrm>
            <a:off x="314942" y="1834356"/>
            <a:ext cx="8194826" cy="3012152"/>
          </a:xfrm>
          <a:prstGeom prst="rect">
            <a:avLst/>
          </a:prstGeom>
        </p:spPr>
      </p:pic>
    </p:spTree>
    <p:extLst>
      <p:ext uri="{BB962C8B-B14F-4D97-AF65-F5344CB8AC3E}">
        <p14:creationId xmlns:p14="http://schemas.microsoft.com/office/powerpoint/2010/main" val="411159283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51FA5-1530-8521-C7DD-AB25C7A06AB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B6FF6AD-50E6-5D44-8B9A-F718EE25CAB9}"/>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6EEDE3C8-E801-070E-09CD-1411B4BC96BD}"/>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60E6EFF-0526-7806-B289-832AA678AC46}"/>
              </a:ext>
            </a:extLst>
          </p:cNvPr>
          <p:cNvSpPr txBox="1"/>
          <p:nvPr/>
        </p:nvSpPr>
        <p:spPr>
          <a:xfrm>
            <a:off x="539308" y="1315963"/>
            <a:ext cx="8323501" cy="1200329"/>
          </a:xfrm>
          <a:prstGeom prst="rect">
            <a:avLst/>
          </a:prstGeom>
          <a:noFill/>
        </p:spPr>
        <p:txBody>
          <a:bodyPr wrap="square">
            <a:spAutoFit/>
          </a:bodyPr>
          <a:lstStyle/>
          <a:p>
            <a:r>
              <a:rPr lang="en-IN" sz="2400" b="1" dirty="0">
                <a:solidFill>
                  <a:schemeClr val="accent1">
                    <a:lumMod val="50000"/>
                  </a:schemeClr>
                </a:solidFill>
                <a:cs typeface="Arial" charset="0"/>
              </a:rPr>
              <a:t>7. Bitwise Operators: </a:t>
            </a:r>
            <a:r>
              <a:rPr lang="en-US" sz="2400" b="1" dirty="0"/>
              <a:t>Bitwise operators are used to perform operations on numbers at the binary (bit-by-bit) level.</a:t>
            </a:r>
            <a:r>
              <a:rPr lang="en-US" sz="2400" dirty="0"/>
              <a:t/>
            </a:r>
            <a:br>
              <a:rPr lang="en-US" sz="2400" dirty="0"/>
            </a:br>
            <a:r>
              <a:rPr lang="en-US" sz="2400" dirty="0"/>
              <a:t>They work directly on the </a:t>
            </a:r>
            <a:r>
              <a:rPr lang="en-US" sz="2400" b="1" dirty="0"/>
              <a:t>binary representation</a:t>
            </a:r>
            <a:r>
              <a:rPr lang="en-US" sz="2400" dirty="0"/>
              <a:t> of integers.</a:t>
            </a:r>
          </a:p>
        </p:txBody>
      </p:sp>
      <p:pic>
        <p:nvPicPr>
          <p:cNvPr id="3" name="Picture 2">
            <a:extLst>
              <a:ext uri="{FF2B5EF4-FFF2-40B4-BE49-F238E27FC236}">
                <a16:creationId xmlns:a16="http://schemas.microsoft.com/office/drawing/2014/main" id="{32C8ED92-E3D0-D50A-D3B0-C7597FFA34F9}"/>
              </a:ext>
            </a:extLst>
          </p:cNvPr>
          <p:cNvPicPr>
            <a:picLocks noChangeAspect="1"/>
          </p:cNvPicPr>
          <p:nvPr/>
        </p:nvPicPr>
        <p:blipFill>
          <a:blip r:embed="rId2"/>
          <a:stretch>
            <a:fillRect/>
          </a:stretch>
        </p:blipFill>
        <p:spPr>
          <a:xfrm>
            <a:off x="2246643" y="2885623"/>
            <a:ext cx="4729890" cy="3491866"/>
          </a:xfrm>
          <a:prstGeom prst="rect">
            <a:avLst/>
          </a:prstGeom>
        </p:spPr>
      </p:pic>
    </p:spTree>
    <p:extLst>
      <p:ext uri="{BB962C8B-B14F-4D97-AF65-F5344CB8AC3E}">
        <p14:creationId xmlns:p14="http://schemas.microsoft.com/office/powerpoint/2010/main" val="315919541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856A5-0151-F2F0-CB01-E75921AD806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FFF035F-A4F0-2FF9-889F-32DC0DF5FC2F}"/>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F76AB5DD-FF45-C151-AFC0-A5537F80F79C}"/>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073F7BC-3A84-040D-B646-B214296ABF56}"/>
              </a:ext>
            </a:extLst>
          </p:cNvPr>
          <p:cNvSpPr txBox="1"/>
          <p:nvPr/>
        </p:nvSpPr>
        <p:spPr>
          <a:xfrm>
            <a:off x="354577" y="1180496"/>
            <a:ext cx="8155191" cy="830997"/>
          </a:xfrm>
          <a:prstGeom prst="rect">
            <a:avLst/>
          </a:prstGeom>
          <a:noFill/>
        </p:spPr>
        <p:txBody>
          <a:bodyPr wrap="square">
            <a:spAutoFit/>
          </a:bodyPr>
          <a:lstStyle/>
          <a:p>
            <a:r>
              <a:rPr lang="en-IN" sz="2400" b="1" dirty="0"/>
              <a:t>Example of Bitwise Operators:</a:t>
            </a:r>
            <a:endParaRPr lang="en-US" sz="2400" dirty="0"/>
          </a:p>
          <a:p>
            <a:endParaRPr lang="en-US" sz="2400" dirty="0"/>
          </a:p>
        </p:txBody>
      </p:sp>
      <p:pic>
        <p:nvPicPr>
          <p:cNvPr id="5" name="Picture 4">
            <a:extLst>
              <a:ext uri="{FF2B5EF4-FFF2-40B4-BE49-F238E27FC236}">
                <a16:creationId xmlns:a16="http://schemas.microsoft.com/office/drawing/2014/main" id="{62CD8F8A-7D3A-F27E-7F7D-AB3070B8F16B}"/>
              </a:ext>
            </a:extLst>
          </p:cNvPr>
          <p:cNvPicPr>
            <a:picLocks noChangeAspect="1"/>
          </p:cNvPicPr>
          <p:nvPr/>
        </p:nvPicPr>
        <p:blipFill>
          <a:blip r:embed="rId2"/>
          <a:stretch>
            <a:fillRect/>
          </a:stretch>
        </p:blipFill>
        <p:spPr>
          <a:xfrm>
            <a:off x="354577" y="1775008"/>
            <a:ext cx="8403763" cy="4059416"/>
          </a:xfrm>
          <a:prstGeom prst="rect">
            <a:avLst/>
          </a:prstGeom>
        </p:spPr>
      </p:pic>
    </p:spTree>
    <p:extLst>
      <p:ext uri="{BB962C8B-B14F-4D97-AF65-F5344CB8AC3E}">
        <p14:creationId xmlns:p14="http://schemas.microsoft.com/office/powerpoint/2010/main" val="232923464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779E0-9298-0365-0E58-347E11C6AAA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2EAF56C-F2D5-023E-14F1-3828F3B9AA63}"/>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12798694-6225-408F-CD0F-37B06288BE11}"/>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C2AF995-8018-A1F3-A8EB-2CD0D6DEA938}"/>
              </a:ext>
            </a:extLst>
          </p:cNvPr>
          <p:cNvSpPr txBox="1"/>
          <p:nvPr/>
        </p:nvSpPr>
        <p:spPr>
          <a:xfrm>
            <a:off x="539308" y="1315963"/>
            <a:ext cx="8323501" cy="461665"/>
          </a:xfrm>
          <a:prstGeom prst="rect">
            <a:avLst/>
          </a:prstGeom>
          <a:noFill/>
        </p:spPr>
        <p:txBody>
          <a:bodyPr wrap="square">
            <a:spAutoFit/>
          </a:bodyPr>
          <a:lstStyle/>
          <a:p>
            <a:r>
              <a:rPr lang="en-IN" sz="2400" b="1" dirty="0">
                <a:solidFill>
                  <a:schemeClr val="accent1">
                    <a:lumMod val="50000"/>
                  </a:schemeClr>
                </a:solidFill>
                <a:cs typeface="Arial" charset="0"/>
              </a:rPr>
              <a:t>Expressions in Python:</a:t>
            </a:r>
          </a:p>
        </p:txBody>
      </p:sp>
      <p:sp>
        <p:nvSpPr>
          <p:cNvPr id="5" name="TextBox 4">
            <a:extLst>
              <a:ext uri="{FF2B5EF4-FFF2-40B4-BE49-F238E27FC236}">
                <a16:creationId xmlns:a16="http://schemas.microsoft.com/office/drawing/2014/main" id="{C7E3168F-DC21-66BC-B774-A3194F5F6A9D}"/>
              </a:ext>
            </a:extLst>
          </p:cNvPr>
          <p:cNvSpPr txBox="1"/>
          <p:nvPr/>
        </p:nvSpPr>
        <p:spPr>
          <a:xfrm>
            <a:off x="539307" y="1844989"/>
            <a:ext cx="8323501" cy="1938992"/>
          </a:xfrm>
          <a:prstGeom prst="rect">
            <a:avLst/>
          </a:prstGeom>
          <a:noFill/>
        </p:spPr>
        <p:txBody>
          <a:bodyPr wrap="square">
            <a:spAutoFit/>
          </a:bodyPr>
          <a:lstStyle/>
          <a:p>
            <a:pPr algn="just"/>
            <a:r>
              <a:rPr lang="en-US" sz="2000" b="0" i="0" dirty="0">
                <a:solidFill>
                  <a:srgbClr val="273239"/>
                </a:solidFill>
                <a:effectLst/>
              </a:rPr>
              <a:t>An expression is a combination of operators and operands that is interpreted to produce some other value. In any programming language, an expression is evaluated as per the precedence of its operators. So that if there is more than one operator in an expression, their precedence decides which operation will be performed first. We have many different types of expressions in Python. Let's discuss all types along with some exemplar codes :</a:t>
            </a:r>
            <a:endParaRPr lang="en-IN" sz="2000" dirty="0"/>
          </a:p>
        </p:txBody>
      </p:sp>
      <p:sp>
        <p:nvSpPr>
          <p:cNvPr id="7" name="TextBox 6">
            <a:extLst>
              <a:ext uri="{FF2B5EF4-FFF2-40B4-BE49-F238E27FC236}">
                <a16:creationId xmlns:a16="http://schemas.microsoft.com/office/drawing/2014/main" id="{792AD00A-EFC9-2386-6F9F-B6B6E5549344}"/>
              </a:ext>
            </a:extLst>
          </p:cNvPr>
          <p:cNvSpPr txBox="1"/>
          <p:nvPr/>
        </p:nvSpPr>
        <p:spPr>
          <a:xfrm>
            <a:off x="539307" y="4020619"/>
            <a:ext cx="8113626" cy="646331"/>
          </a:xfrm>
          <a:prstGeom prst="rect">
            <a:avLst/>
          </a:prstGeom>
          <a:noFill/>
        </p:spPr>
        <p:txBody>
          <a:bodyPr wrap="square">
            <a:spAutoFit/>
          </a:bodyPr>
          <a:lstStyle/>
          <a:p>
            <a:r>
              <a:rPr lang="en-US" b="1" i="0" dirty="0">
                <a:solidFill>
                  <a:srgbClr val="273239"/>
                </a:solidFill>
                <a:effectLst/>
                <a:latin typeface="Nunito" pitchFamily="2" charset="0"/>
              </a:rPr>
              <a:t>1. Constant Expressions: </a:t>
            </a:r>
            <a:r>
              <a:rPr lang="en-US" b="0" i="0" dirty="0">
                <a:solidFill>
                  <a:srgbClr val="273239"/>
                </a:solidFill>
                <a:effectLst/>
                <a:latin typeface="Nunito" pitchFamily="2" charset="0"/>
              </a:rPr>
              <a:t>These are the expressions that have constant values only.</a:t>
            </a:r>
            <a:endParaRPr lang="en-IN" dirty="0"/>
          </a:p>
        </p:txBody>
      </p:sp>
      <p:pic>
        <p:nvPicPr>
          <p:cNvPr id="9" name="Picture 8">
            <a:extLst>
              <a:ext uri="{FF2B5EF4-FFF2-40B4-BE49-F238E27FC236}">
                <a16:creationId xmlns:a16="http://schemas.microsoft.com/office/drawing/2014/main" id="{1A5F4622-AA05-F07C-DF2A-0C3A8667AA26}"/>
              </a:ext>
            </a:extLst>
          </p:cNvPr>
          <p:cNvPicPr>
            <a:picLocks noChangeAspect="1"/>
          </p:cNvPicPr>
          <p:nvPr/>
        </p:nvPicPr>
        <p:blipFill>
          <a:blip r:embed="rId2"/>
          <a:stretch>
            <a:fillRect/>
          </a:stretch>
        </p:blipFill>
        <p:spPr>
          <a:xfrm>
            <a:off x="3431569" y="4343784"/>
            <a:ext cx="2280862" cy="1942817"/>
          </a:xfrm>
          <a:prstGeom prst="rect">
            <a:avLst/>
          </a:prstGeom>
        </p:spPr>
      </p:pic>
    </p:spTree>
    <p:extLst>
      <p:ext uri="{BB962C8B-B14F-4D97-AF65-F5344CB8AC3E}">
        <p14:creationId xmlns:p14="http://schemas.microsoft.com/office/powerpoint/2010/main" val="289434053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BB15C-4243-E5AA-4993-876E0B23C66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B7782C8-4F2E-1478-517A-9FFC536209CC}"/>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A64EE8D1-B18C-66A0-0305-2B87B4776E22}"/>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C9A26F9-74E4-7547-1F0D-034CD9B09F30}"/>
              </a:ext>
            </a:extLst>
          </p:cNvPr>
          <p:cNvSpPr txBox="1"/>
          <p:nvPr/>
        </p:nvSpPr>
        <p:spPr>
          <a:xfrm>
            <a:off x="354577" y="1439073"/>
            <a:ext cx="8323501" cy="1015663"/>
          </a:xfrm>
          <a:prstGeom prst="rect">
            <a:avLst/>
          </a:prstGeom>
          <a:noFill/>
        </p:spPr>
        <p:txBody>
          <a:bodyPr wrap="square">
            <a:spAutoFit/>
          </a:bodyPr>
          <a:lstStyle/>
          <a:p>
            <a:r>
              <a:rPr lang="en-US" sz="2400" b="1" dirty="0">
                <a:solidFill>
                  <a:schemeClr val="accent1">
                    <a:lumMod val="50000"/>
                  </a:schemeClr>
                </a:solidFill>
                <a:cs typeface="Arial" charset="0"/>
              </a:rPr>
              <a:t>2. Arithmetic Expressions: </a:t>
            </a:r>
            <a:r>
              <a:rPr lang="en-US" b="0" i="0" dirty="0">
                <a:solidFill>
                  <a:srgbClr val="273239"/>
                </a:solidFill>
                <a:effectLst/>
                <a:latin typeface="Nunito" pitchFamily="2" charset="0"/>
              </a:rPr>
              <a:t>An arithmetic expression is a combination of numeric values, operators, and sometimes parenthesis. The result of this type of expression is also a numeric value. </a:t>
            </a:r>
            <a:endParaRPr lang="en-IN" dirty="0"/>
          </a:p>
        </p:txBody>
      </p:sp>
      <p:pic>
        <p:nvPicPr>
          <p:cNvPr id="8" name="Picture 7">
            <a:extLst>
              <a:ext uri="{FF2B5EF4-FFF2-40B4-BE49-F238E27FC236}">
                <a16:creationId xmlns:a16="http://schemas.microsoft.com/office/drawing/2014/main" id="{46CE166A-8129-15A3-9AC6-00A5C5487966}"/>
              </a:ext>
            </a:extLst>
          </p:cNvPr>
          <p:cNvPicPr>
            <a:picLocks noChangeAspect="1"/>
          </p:cNvPicPr>
          <p:nvPr/>
        </p:nvPicPr>
        <p:blipFill>
          <a:blip r:embed="rId2"/>
          <a:stretch>
            <a:fillRect/>
          </a:stretch>
        </p:blipFill>
        <p:spPr>
          <a:xfrm>
            <a:off x="539308" y="2436476"/>
            <a:ext cx="4793049" cy="3529163"/>
          </a:xfrm>
          <a:prstGeom prst="rect">
            <a:avLst/>
          </a:prstGeom>
        </p:spPr>
      </p:pic>
      <p:pic>
        <p:nvPicPr>
          <p:cNvPr id="15" name="Picture 14">
            <a:extLst>
              <a:ext uri="{FF2B5EF4-FFF2-40B4-BE49-F238E27FC236}">
                <a16:creationId xmlns:a16="http://schemas.microsoft.com/office/drawing/2014/main" id="{03EF3F59-273B-2DB9-45A5-D63642FC3171}"/>
              </a:ext>
            </a:extLst>
          </p:cNvPr>
          <p:cNvPicPr>
            <a:picLocks noChangeAspect="1"/>
          </p:cNvPicPr>
          <p:nvPr/>
        </p:nvPicPr>
        <p:blipFill>
          <a:blip r:embed="rId3"/>
          <a:stretch>
            <a:fillRect/>
          </a:stretch>
        </p:blipFill>
        <p:spPr>
          <a:xfrm>
            <a:off x="5803726" y="3505627"/>
            <a:ext cx="2800966" cy="2329224"/>
          </a:xfrm>
          <a:prstGeom prst="rect">
            <a:avLst/>
          </a:prstGeom>
        </p:spPr>
      </p:pic>
    </p:spTree>
    <p:extLst>
      <p:ext uri="{BB962C8B-B14F-4D97-AF65-F5344CB8AC3E}">
        <p14:creationId xmlns:p14="http://schemas.microsoft.com/office/powerpoint/2010/main" val="222443430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DD7A9-5159-5811-1007-6E81639903B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83AFF0B-2CEC-EAD3-F13F-22FFF9F1E68C}"/>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5EDDD837-0E82-E4FE-061C-549EBA2E358D}"/>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327E09C0-12B0-CA3B-0474-43BCFA00B86A}"/>
              </a:ext>
            </a:extLst>
          </p:cNvPr>
          <p:cNvSpPr txBox="1"/>
          <p:nvPr/>
        </p:nvSpPr>
        <p:spPr>
          <a:xfrm>
            <a:off x="410249" y="1462157"/>
            <a:ext cx="8323501" cy="738664"/>
          </a:xfrm>
          <a:prstGeom prst="rect">
            <a:avLst/>
          </a:prstGeom>
          <a:noFill/>
        </p:spPr>
        <p:txBody>
          <a:bodyPr wrap="square">
            <a:spAutoFit/>
          </a:bodyPr>
          <a:lstStyle/>
          <a:p>
            <a:r>
              <a:rPr lang="en-US" sz="2400" b="1" dirty="0">
                <a:solidFill>
                  <a:schemeClr val="accent1">
                    <a:lumMod val="50000"/>
                  </a:schemeClr>
                </a:solidFill>
                <a:cs typeface="Arial" charset="0"/>
              </a:rPr>
              <a:t>3. Integral Expressions: </a:t>
            </a:r>
            <a:r>
              <a:rPr lang="en-US" b="0" i="0" dirty="0">
                <a:solidFill>
                  <a:srgbClr val="273239"/>
                </a:solidFill>
                <a:effectLst/>
                <a:latin typeface="Nunito" pitchFamily="2" charset="0"/>
              </a:rPr>
              <a:t>These are the kind of expressions that produce only integer results after all computations and type conversions.</a:t>
            </a:r>
            <a:endParaRPr lang="en-IN" dirty="0"/>
          </a:p>
        </p:txBody>
      </p:sp>
      <p:pic>
        <p:nvPicPr>
          <p:cNvPr id="7" name="Picture 6">
            <a:extLst>
              <a:ext uri="{FF2B5EF4-FFF2-40B4-BE49-F238E27FC236}">
                <a16:creationId xmlns:a16="http://schemas.microsoft.com/office/drawing/2014/main" id="{E553E98A-C849-23B2-C92B-7D2C38F489D2}"/>
              </a:ext>
            </a:extLst>
          </p:cNvPr>
          <p:cNvPicPr>
            <a:picLocks noChangeAspect="1"/>
          </p:cNvPicPr>
          <p:nvPr/>
        </p:nvPicPr>
        <p:blipFill>
          <a:blip r:embed="rId2"/>
          <a:stretch>
            <a:fillRect/>
          </a:stretch>
        </p:blipFill>
        <p:spPr>
          <a:xfrm>
            <a:off x="2923902" y="2326935"/>
            <a:ext cx="2748764" cy="3928721"/>
          </a:xfrm>
          <a:prstGeom prst="rect">
            <a:avLst/>
          </a:prstGeom>
        </p:spPr>
      </p:pic>
    </p:spTree>
    <p:extLst>
      <p:ext uri="{BB962C8B-B14F-4D97-AF65-F5344CB8AC3E}">
        <p14:creationId xmlns:p14="http://schemas.microsoft.com/office/powerpoint/2010/main" val="262139376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9A72B-BBC1-5099-EEF1-1861FD232CF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965FA94-8E41-8346-2F05-932956E6454E}"/>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033D1265-0735-998F-4B7B-92B5E5066FE4}"/>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461E1CE2-B9AE-2A17-4BAC-B44F0BC9B746}"/>
              </a:ext>
            </a:extLst>
          </p:cNvPr>
          <p:cNvSpPr txBox="1"/>
          <p:nvPr/>
        </p:nvSpPr>
        <p:spPr>
          <a:xfrm>
            <a:off x="410250" y="1315963"/>
            <a:ext cx="8323500" cy="738664"/>
          </a:xfrm>
          <a:prstGeom prst="rect">
            <a:avLst/>
          </a:prstGeom>
          <a:noFill/>
        </p:spPr>
        <p:txBody>
          <a:bodyPr wrap="square">
            <a:spAutoFit/>
          </a:bodyPr>
          <a:lstStyle/>
          <a:p>
            <a:r>
              <a:rPr lang="en-US" sz="2400" b="1" dirty="0">
                <a:solidFill>
                  <a:schemeClr val="accent1">
                    <a:lumMod val="50000"/>
                  </a:schemeClr>
                </a:solidFill>
                <a:cs typeface="Arial" charset="0"/>
              </a:rPr>
              <a:t>4. Floating Expressions: </a:t>
            </a:r>
            <a:r>
              <a:rPr lang="en-US" b="0" i="0" dirty="0">
                <a:solidFill>
                  <a:srgbClr val="273239"/>
                </a:solidFill>
                <a:effectLst/>
                <a:latin typeface="Nunito" pitchFamily="2" charset="0"/>
              </a:rPr>
              <a:t>These are the kind of expressions which produce floating point numbers as result after all computations and type conversions.</a:t>
            </a:r>
            <a:endParaRPr lang="en-IN" dirty="0"/>
          </a:p>
        </p:txBody>
      </p:sp>
      <p:pic>
        <p:nvPicPr>
          <p:cNvPr id="8" name="Picture 7">
            <a:extLst>
              <a:ext uri="{FF2B5EF4-FFF2-40B4-BE49-F238E27FC236}">
                <a16:creationId xmlns:a16="http://schemas.microsoft.com/office/drawing/2014/main" id="{770800BC-BA3C-AC07-848D-4B5B6CF7345B}"/>
              </a:ext>
            </a:extLst>
          </p:cNvPr>
          <p:cNvPicPr>
            <a:picLocks noChangeAspect="1"/>
          </p:cNvPicPr>
          <p:nvPr/>
        </p:nvPicPr>
        <p:blipFill>
          <a:blip r:embed="rId2"/>
          <a:stretch>
            <a:fillRect/>
          </a:stretch>
        </p:blipFill>
        <p:spPr>
          <a:xfrm>
            <a:off x="2916063" y="2254680"/>
            <a:ext cx="2973208" cy="3923548"/>
          </a:xfrm>
          <a:prstGeom prst="rect">
            <a:avLst/>
          </a:prstGeom>
        </p:spPr>
      </p:pic>
    </p:spTree>
    <p:extLst>
      <p:ext uri="{BB962C8B-B14F-4D97-AF65-F5344CB8AC3E}">
        <p14:creationId xmlns:p14="http://schemas.microsoft.com/office/powerpoint/2010/main" val="244761122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71DE-17CF-4661-9551-C9AD57ADE0F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D7ECF16-933F-059B-9A70-0DE7E2FAE863}"/>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220EF4C7-4948-A2A1-567A-A56FD24D440F}"/>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4A9B532-6B40-049A-099C-E78B29B6F63A}"/>
              </a:ext>
            </a:extLst>
          </p:cNvPr>
          <p:cNvSpPr txBox="1"/>
          <p:nvPr/>
        </p:nvSpPr>
        <p:spPr>
          <a:xfrm>
            <a:off x="446942" y="1315963"/>
            <a:ext cx="8323501" cy="1569660"/>
          </a:xfrm>
          <a:prstGeom prst="rect">
            <a:avLst/>
          </a:prstGeom>
          <a:noFill/>
        </p:spPr>
        <p:txBody>
          <a:bodyPr wrap="square">
            <a:spAutoFit/>
          </a:bodyPr>
          <a:lstStyle/>
          <a:p>
            <a:r>
              <a:rPr lang="en-US" sz="2400" b="1" dirty="0">
                <a:solidFill>
                  <a:schemeClr val="accent1">
                    <a:lumMod val="50000"/>
                  </a:schemeClr>
                </a:solidFill>
                <a:cs typeface="Arial" charset="0"/>
              </a:rPr>
              <a:t>5. Relational Expressions: </a:t>
            </a:r>
            <a:r>
              <a:rPr lang="en-US" b="0" i="0" dirty="0">
                <a:solidFill>
                  <a:srgbClr val="273239"/>
                </a:solidFill>
                <a:effectLst/>
                <a:latin typeface="Nunito" pitchFamily="2" charset="0"/>
              </a:rPr>
              <a:t>In these types of expressions, arithmetic expressions are written on both sides of relational operator (&gt; , &lt; , &gt;= , &lt;=). Those arithmetic expressions are evaluated first, and then compared as per relational operator and produce a </a:t>
            </a:r>
            <a:r>
              <a:rPr lang="en-US" b="0" i="0" dirty="0" err="1">
                <a:solidFill>
                  <a:srgbClr val="273239"/>
                </a:solidFill>
                <a:effectLst/>
                <a:latin typeface="Nunito" pitchFamily="2" charset="0"/>
              </a:rPr>
              <a:t>boolean</a:t>
            </a:r>
            <a:r>
              <a:rPr lang="en-US" b="0" i="0" dirty="0">
                <a:solidFill>
                  <a:srgbClr val="273239"/>
                </a:solidFill>
                <a:effectLst/>
                <a:latin typeface="Nunito" pitchFamily="2" charset="0"/>
              </a:rPr>
              <a:t> output in the end. These expressions are also called Boolean expressions.</a:t>
            </a:r>
            <a:endParaRPr lang="en-IN" dirty="0"/>
          </a:p>
        </p:txBody>
      </p:sp>
      <p:pic>
        <p:nvPicPr>
          <p:cNvPr id="7" name="Picture 6">
            <a:extLst>
              <a:ext uri="{FF2B5EF4-FFF2-40B4-BE49-F238E27FC236}">
                <a16:creationId xmlns:a16="http://schemas.microsoft.com/office/drawing/2014/main" id="{A7F06B3A-B42E-0C70-76C6-F146C53276DA}"/>
              </a:ext>
            </a:extLst>
          </p:cNvPr>
          <p:cNvPicPr>
            <a:picLocks noChangeAspect="1"/>
          </p:cNvPicPr>
          <p:nvPr/>
        </p:nvPicPr>
        <p:blipFill>
          <a:blip r:embed="rId2"/>
          <a:stretch>
            <a:fillRect/>
          </a:stretch>
        </p:blipFill>
        <p:spPr>
          <a:xfrm>
            <a:off x="4572000" y="2793291"/>
            <a:ext cx="3115733" cy="3377031"/>
          </a:xfrm>
          <a:prstGeom prst="rect">
            <a:avLst/>
          </a:prstGeom>
        </p:spPr>
      </p:pic>
    </p:spTree>
    <p:extLst>
      <p:ext uri="{BB962C8B-B14F-4D97-AF65-F5344CB8AC3E}">
        <p14:creationId xmlns:p14="http://schemas.microsoft.com/office/powerpoint/2010/main" val="210926336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E2E36-5CC2-1589-0B47-9A18535487B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6F5B4C7-BDE1-AD7B-3759-91583E117AFC}"/>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FEB447C0-D2E8-4309-62B1-18300758B48C}"/>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E32C1F4-DE00-41EB-33E1-123843DBE1FA}"/>
              </a:ext>
            </a:extLst>
          </p:cNvPr>
          <p:cNvSpPr txBox="1"/>
          <p:nvPr/>
        </p:nvSpPr>
        <p:spPr>
          <a:xfrm>
            <a:off x="489787" y="1400600"/>
            <a:ext cx="8164425" cy="738664"/>
          </a:xfrm>
          <a:prstGeom prst="rect">
            <a:avLst/>
          </a:prstGeom>
          <a:noFill/>
        </p:spPr>
        <p:txBody>
          <a:bodyPr wrap="square">
            <a:spAutoFit/>
          </a:bodyPr>
          <a:lstStyle/>
          <a:p>
            <a:r>
              <a:rPr lang="en-US" sz="2400" b="1" dirty="0">
                <a:solidFill>
                  <a:schemeClr val="accent1">
                    <a:lumMod val="50000"/>
                  </a:schemeClr>
                </a:solidFill>
                <a:cs typeface="Arial" charset="0"/>
              </a:rPr>
              <a:t>6. Logical Expressions: </a:t>
            </a:r>
            <a:r>
              <a:rPr lang="en-US" b="0" i="0" dirty="0">
                <a:solidFill>
                  <a:srgbClr val="273239"/>
                </a:solidFill>
                <a:effectLst/>
                <a:latin typeface="Nunito" pitchFamily="2" charset="0"/>
              </a:rPr>
              <a:t>These are kinds of expressions that result in either </a:t>
            </a:r>
            <a:r>
              <a:rPr lang="en-US" b="0" i="1" dirty="0">
                <a:solidFill>
                  <a:srgbClr val="273239"/>
                </a:solidFill>
                <a:effectLst/>
                <a:latin typeface="Nunito" pitchFamily="2" charset="0"/>
              </a:rPr>
              <a:t>True </a:t>
            </a:r>
            <a:r>
              <a:rPr lang="en-US" b="0" i="0" dirty="0">
                <a:solidFill>
                  <a:srgbClr val="273239"/>
                </a:solidFill>
                <a:effectLst/>
                <a:latin typeface="Nunito" pitchFamily="2" charset="0"/>
              </a:rPr>
              <a:t>or </a:t>
            </a:r>
            <a:r>
              <a:rPr lang="en-US" b="0" i="1" dirty="0">
                <a:solidFill>
                  <a:srgbClr val="273239"/>
                </a:solidFill>
                <a:effectLst/>
                <a:latin typeface="Nunito" pitchFamily="2" charset="0"/>
              </a:rPr>
              <a:t>False. </a:t>
            </a:r>
            <a:r>
              <a:rPr lang="en-US" b="0" i="0" dirty="0">
                <a:solidFill>
                  <a:srgbClr val="273239"/>
                </a:solidFill>
                <a:effectLst/>
                <a:latin typeface="Nunito" pitchFamily="2" charset="0"/>
              </a:rPr>
              <a:t>It basically specifies one or more conditions</a:t>
            </a:r>
            <a:endParaRPr lang="en-IN" dirty="0"/>
          </a:p>
        </p:txBody>
      </p:sp>
      <p:pic>
        <p:nvPicPr>
          <p:cNvPr id="8" name="Picture 7">
            <a:extLst>
              <a:ext uri="{FF2B5EF4-FFF2-40B4-BE49-F238E27FC236}">
                <a16:creationId xmlns:a16="http://schemas.microsoft.com/office/drawing/2014/main" id="{0760EC01-07A7-46CC-78A9-4A9EF9144A8E}"/>
              </a:ext>
            </a:extLst>
          </p:cNvPr>
          <p:cNvPicPr>
            <a:picLocks noChangeAspect="1"/>
          </p:cNvPicPr>
          <p:nvPr/>
        </p:nvPicPr>
        <p:blipFill>
          <a:blip r:embed="rId2"/>
          <a:stretch>
            <a:fillRect/>
          </a:stretch>
        </p:blipFill>
        <p:spPr>
          <a:xfrm>
            <a:off x="2698640" y="2208401"/>
            <a:ext cx="3746718" cy="3864420"/>
          </a:xfrm>
          <a:prstGeom prst="rect">
            <a:avLst/>
          </a:prstGeom>
        </p:spPr>
      </p:pic>
    </p:spTree>
    <p:extLst>
      <p:ext uri="{BB962C8B-B14F-4D97-AF65-F5344CB8AC3E}">
        <p14:creationId xmlns:p14="http://schemas.microsoft.com/office/powerpoint/2010/main" val="158665740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C6A7E-66E5-925D-AAFD-D462AE859EC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6C25F41-3933-FD62-154D-484371B0475A}"/>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EBB46932-82CE-D634-0727-965605C440AE}"/>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AF699DAD-F99F-F830-9C07-5C551D5A3F87}"/>
              </a:ext>
            </a:extLst>
          </p:cNvPr>
          <p:cNvSpPr txBox="1"/>
          <p:nvPr/>
        </p:nvSpPr>
        <p:spPr>
          <a:xfrm>
            <a:off x="317884" y="1315963"/>
            <a:ext cx="8508232" cy="738664"/>
          </a:xfrm>
          <a:prstGeom prst="rect">
            <a:avLst/>
          </a:prstGeom>
          <a:noFill/>
        </p:spPr>
        <p:txBody>
          <a:bodyPr wrap="square">
            <a:spAutoFit/>
          </a:bodyPr>
          <a:lstStyle/>
          <a:p>
            <a:r>
              <a:rPr lang="en-US" sz="2400" b="1" dirty="0">
                <a:solidFill>
                  <a:schemeClr val="accent1">
                    <a:lumMod val="50000"/>
                  </a:schemeClr>
                </a:solidFill>
                <a:cs typeface="Arial" charset="0"/>
              </a:rPr>
              <a:t>7. Bitwise Expressions: </a:t>
            </a:r>
            <a:r>
              <a:rPr lang="en-US" b="0" i="0" dirty="0">
                <a:solidFill>
                  <a:srgbClr val="273239"/>
                </a:solidFill>
                <a:effectLst/>
                <a:latin typeface="Nunito" pitchFamily="2" charset="0"/>
              </a:rPr>
              <a:t>These are the kind of expressions in which computations are performed at bit level.</a:t>
            </a:r>
            <a:endParaRPr lang="en-IN" dirty="0"/>
          </a:p>
        </p:txBody>
      </p:sp>
      <p:pic>
        <p:nvPicPr>
          <p:cNvPr id="7" name="Picture 6">
            <a:extLst>
              <a:ext uri="{FF2B5EF4-FFF2-40B4-BE49-F238E27FC236}">
                <a16:creationId xmlns:a16="http://schemas.microsoft.com/office/drawing/2014/main" id="{D1EA7D14-185E-DD13-BF2B-B6A776A186E3}"/>
              </a:ext>
            </a:extLst>
          </p:cNvPr>
          <p:cNvPicPr>
            <a:picLocks noChangeAspect="1"/>
          </p:cNvPicPr>
          <p:nvPr/>
        </p:nvPicPr>
        <p:blipFill>
          <a:blip r:embed="rId2"/>
          <a:stretch>
            <a:fillRect/>
          </a:stretch>
        </p:blipFill>
        <p:spPr>
          <a:xfrm>
            <a:off x="3285442" y="2082328"/>
            <a:ext cx="3724958" cy="4152410"/>
          </a:xfrm>
          <a:prstGeom prst="rect">
            <a:avLst/>
          </a:prstGeom>
        </p:spPr>
      </p:pic>
    </p:spTree>
    <p:extLst>
      <p:ext uri="{BB962C8B-B14F-4D97-AF65-F5344CB8AC3E}">
        <p14:creationId xmlns:p14="http://schemas.microsoft.com/office/powerpoint/2010/main" val="19367664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DA4B5-05C7-C49F-77A9-29DA85230DA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00339A6-382C-097B-5CF1-9EF3E831F1CD}"/>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57D831CB-6FBC-17A5-F9C8-A5459560C2E7}"/>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8E47FEA-E047-2D99-7F81-D12DC9C2049A}"/>
              </a:ext>
            </a:extLst>
          </p:cNvPr>
          <p:cNvSpPr txBox="1"/>
          <p:nvPr/>
        </p:nvSpPr>
        <p:spPr>
          <a:xfrm>
            <a:off x="437500" y="1339045"/>
            <a:ext cx="8415867" cy="1015663"/>
          </a:xfrm>
          <a:prstGeom prst="rect">
            <a:avLst/>
          </a:prstGeom>
          <a:noFill/>
        </p:spPr>
        <p:txBody>
          <a:bodyPr wrap="square">
            <a:spAutoFit/>
          </a:bodyPr>
          <a:lstStyle/>
          <a:p>
            <a:r>
              <a:rPr lang="en-US" sz="2400" b="1" dirty="0">
                <a:solidFill>
                  <a:schemeClr val="accent1">
                    <a:lumMod val="50000"/>
                  </a:schemeClr>
                </a:solidFill>
                <a:cs typeface="Arial" charset="0"/>
              </a:rPr>
              <a:t>8. Combinational Expressions: </a:t>
            </a:r>
            <a:r>
              <a:rPr lang="en-US" b="0" i="0" dirty="0">
                <a:solidFill>
                  <a:srgbClr val="273239"/>
                </a:solidFill>
                <a:effectLst/>
                <a:latin typeface="Nunito" pitchFamily="2" charset="0"/>
              </a:rPr>
              <a:t>We can also use different types of expressions in a single expression, and that will be termed as combinational expressions.</a:t>
            </a:r>
            <a:endParaRPr lang="en-IN" dirty="0"/>
          </a:p>
        </p:txBody>
      </p:sp>
      <p:pic>
        <p:nvPicPr>
          <p:cNvPr id="8" name="Picture 7">
            <a:extLst>
              <a:ext uri="{FF2B5EF4-FFF2-40B4-BE49-F238E27FC236}">
                <a16:creationId xmlns:a16="http://schemas.microsoft.com/office/drawing/2014/main" id="{978D9814-6FDF-769C-9A6E-E78C8F1E54E2}"/>
              </a:ext>
            </a:extLst>
          </p:cNvPr>
          <p:cNvPicPr>
            <a:picLocks noChangeAspect="1"/>
          </p:cNvPicPr>
          <p:nvPr/>
        </p:nvPicPr>
        <p:blipFill>
          <a:blip r:embed="rId2"/>
          <a:stretch>
            <a:fillRect/>
          </a:stretch>
        </p:blipFill>
        <p:spPr>
          <a:xfrm>
            <a:off x="2841011" y="2095443"/>
            <a:ext cx="3461977" cy="3993541"/>
          </a:xfrm>
          <a:prstGeom prst="rect">
            <a:avLst/>
          </a:prstGeom>
        </p:spPr>
      </p:pic>
    </p:spTree>
    <p:extLst>
      <p:ext uri="{BB962C8B-B14F-4D97-AF65-F5344CB8AC3E}">
        <p14:creationId xmlns:p14="http://schemas.microsoft.com/office/powerpoint/2010/main" val="232781060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016E7-EDA3-2FE7-2CED-2D3E1D8F429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D9BA4F7-CE1A-89B0-D942-236FA468AD98}"/>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930344D6-E17C-ED09-7E22-D6A30ACDF643}"/>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16A89CD-674D-9DEA-F657-6884E5F310D1}"/>
              </a:ext>
            </a:extLst>
          </p:cNvPr>
          <p:cNvSpPr txBox="1"/>
          <p:nvPr/>
        </p:nvSpPr>
        <p:spPr>
          <a:xfrm>
            <a:off x="149841" y="1192852"/>
            <a:ext cx="8323501" cy="1969770"/>
          </a:xfrm>
          <a:prstGeom prst="rect">
            <a:avLst/>
          </a:prstGeom>
          <a:noFill/>
        </p:spPr>
        <p:txBody>
          <a:bodyPr wrap="square">
            <a:spAutoFit/>
          </a:bodyPr>
          <a:lstStyle/>
          <a:p>
            <a:r>
              <a:rPr lang="en-IN" sz="2400" b="1" dirty="0">
                <a:solidFill>
                  <a:schemeClr val="accent1">
                    <a:lumMod val="50000"/>
                  </a:schemeClr>
                </a:solidFill>
                <a:cs typeface="Arial" charset="0"/>
              </a:rPr>
              <a:t>Operator Precedence</a:t>
            </a:r>
          </a:p>
          <a:p>
            <a:endParaRPr lang="en-US" dirty="0"/>
          </a:p>
          <a:p>
            <a:r>
              <a:rPr lang="en-US" sz="2000" dirty="0"/>
              <a:t>Operator precedence </a:t>
            </a:r>
          </a:p>
          <a:p>
            <a:r>
              <a:rPr lang="en-US" sz="2000" dirty="0"/>
              <a:t>describes the order in </a:t>
            </a:r>
          </a:p>
          <a:p>
            <a:r>
              <a:rPr lang="en-US" sz="2000" dirty="0"/>
              <a:t>which operations are </a:t>
            </a:r>
          </a:p>
          <a:p>
            <a:r>
              <a:rPr lang="en-US" sz="2000" dirty="0"/>
              <a:t>performed.</a:t>
            </a:r>
            <a:endParaRPr lang="en-IN" sz="2000" b="1" dirty="0"/>
          </a:p>
        </p:txBody>
      </p:sp>
      <p:pic>
        <p:nvPicPr>
          <p:cNvPr id="5" name="Picture 4">
            <a:extLst>
              <a:ext uri="{FF2B5EF4-FFF2-40B4-BE49-F238E27FC236}">
                <a16:creationId xmlns:a16="http://schemas.microsoft.com/office/drawing/2014/main" id="{17355117-D964-4F0F-4E64-75489FB447C1}"/>
              </a:ext>
            </a:extLst>
          </p:cNvPr>
          <p:cNvPicPr>
            <a:picLocks noChangeAspect="1"/>
          </p:cNvPicPr>
          <p:nvPr/>
        </p:nvPicPr>
        <p:blipFill>
          <a:blip r:embed="rId2"/>
          <a:stretch>
            <a:fillRect/>
          </a:stretch>
        </p:blipFill>
        <p:spPr>
          <a:xfrm>
            <a:off x="3326225" y="1315963"/>
            <a:ext cx="5351853" cy="5118703"/>
          </a:xfrm>
          <a:prstGeom prst="rect">
            <a:avLst/>
          </a:prstGeom>
        </p:spPr>
      </p:pic>
    </p:spTree>
    <p:extLst>
      <p:ext uri="{BB962C8B-B14F-4D97-AF65-F5344CB8AC3E}">
        <p14:creationId xmlns:p14="http://schemas.microsoft.com/office/powerpoint/2010/main" val="100654656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A20EB-889C-BD5F-FD4A-6A38F79D74A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368F8EE-6FF3-3DA9-4B2D-7E8EF071A73C}"/>
              </a:ext>
            </a:extLst>
          </p:cNvPr>
          <p:cNvSpPr/>
          <p:nvPr/>
        </p:nvSpPr>
        <p:spPr>
          <a:xfrm>
            <a:off x="354577" y="1023576"/>
            <a:ext cx="184731" cy="584775"/>
          </a:xfrm>
          <a:prstGeom prst="rect">
            <a:avLst/>
          </a:prstGeom>
        </p:spPr>
        <p:txBody>
          <a:bodyPr wrap="none">
            <a:spAutoFit/>
          </a:bodyPr>
          <a:lstStyle/>
          <a:p>
            <a:endParaRPr lang="en-US" sz="3200" b="1" dirty="0">
              <a:solidFill>
                <a:schemeClr val="tx2"/>
              </a:solidFill>
            </a:endParaRPr>
          </a:p>
        </p:txBody>
      </p:sp>
      <p:cxnSp>
        <p:nvCxnSpPr>
          <p:cNvPr id="13" name="Straight Connector 12">
            <a:extLst>
              <a:ext uri="{FF2B5EF4-FFF2-40B4-BE49-F238E27FC236}">
                <a16:creationId xmlns:a16="http://schemas.microsoft.com/office/drawing/2014/main" id="{31736701-E0D1-1E1E-5A3D-EE9BBE3091B0}"/>
              </a:ext>
            </a:extLst>
          </p:cNvPr>
          <p:cNvCxnSpPr/>
          <p:nvPr/>
        </p:nvCxnSpPr>
        <p:spPr>
          <a:xfrm>
            <a:off x="0" y="1023576"/>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BEA64DC-34A7-F8B6-779E-14B3D4B47CCB}"/>
              </a:ext>
            </a:extLst>
          </p:cNvPr>
          <p:cNvSpPr txBox="1"/>
          <p:nvPr/>
        </p:nvSpPr>
        <p:spPr>
          <a:xfrm>
            <a:off x="149840" y="1115907"/>
            <a:ext cx="8323501" cy="738664"/>
          </a:xfrm>
          <a:prstGeom prst="rect">
            <a:avLst/>
          </a:prstGeom>
          <a:noFill/>
        </p:spPr>
        <p:txBody>
          <a:bodyPr wrap="square">
            <a:spAutoFit/>
          </a:bodyPr>
          <a:lstStyle/>
          <a:p>
            <a:r>
              <a:rPr lang="en-IN" sz="2400" b="1" dirty="0">
                <a:solidFill>
                  <a:schemeClr val="accent1">
                    <a:lumMod val="50000"/>
                  </a:schemeClr>
                </a:solidFill>
                <a:cs typeface="Arial" charset="0"/>
              </a:rPr>
              <a:t>Operator Precedence</a:t>
            </a:r>
          </a:p>
          <a:p>
            <a:endParaRPr lang="en-US" dirty="0"/>
          </a:p>
        </p:txBody>
      </p:sp>
      <p:pic>
        <p:nvPicPr>
          <p:cNvPr id="3" name="Picture 2">
            <a:extLst>
              <a:ext uri="{FF2B5EF4-FFF2-40B4-BE49-F238E27FC236}">
                <a16:creationId xmlns:a16="http://schemas.microsoft.com/office/drawing/2014/main" id="{3BB029B5-02EB-1E27-AB1E-EB998CD62F68}"/>
              </a:ext>
            </a:extLst>
          </p:cNvPr>
          <p:cNvPicPr>
            <a:picLocks noChangeAspect="1"/>
          </p:cNvPicPr>
          <p:nvPr/>
        </p:nvPicPr>
        <p:blipFill>
          <a:blip r:embed="rId2"/>
          <a:stretch>
            <a:fillRect/>
          </a:stretch>
        </p:blipFill>
        <p:spPr>
          <a:xfrm>
            <a:off x="149841" y="1777626"/>
            <a:ext cx="8638559" cy="1507438"/>
          </a:xfrm>
          <a:prstGeom prst="rect">
            <a:avLst/>
          </a:prstGeom>
        </p:spPr>
      </p:pic>
      <p:pic>
        <p:nvPicPr>
          <p:cNvPr id="7" name="Picture 6">
            <a:extLst>
              <a:ext uri="{FF2B5EF4-FFF2-40B4-BE49-F238E27FC236}">
                <a16:creationId xmlns:a16="http://schemas.microsoft.com/office/drawing/2014/main" id="{5F16BA6B-F25B-C241-9AE2-8BE2CD66153D}"/>
              </a:ext>
            </a:extLst>
          </p:cNvPr>
          <p:cNvPicPr>
            <a:picLocks noChangeAspect="1"/>
          </p:cNvPicPr>
          <p:nvPr/>
        </p:nvPicPr>
        <p:blipFill>
          <a:blip r:embed="rId3"/>
          <a:stretch>
            <a:fillRect/>
          </a:stretch>
        </p:blipFill>
        <p:spPr>
          <a:xfrm>
            <a:off x="149840" y="3869838"/>
            <a:ext cx="8638559" cy="1550882"/>
          </a:xfrm>
          <a:prstGeom prst="rect">
            <a:avLst/>
          </a:prstGeom>
        </p:spPr>
      </p:pic>
    </p:spTree>
    <p:extLst>
      <p:ext uri="{BB962C8B-B14F-4D97-AF65-F5344CB8AC3E}">
        <p14:creationId xmlns:p14="http://schemas.microsoft.com/office/powerpoint/2010/main" val="355108806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817817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7095</TotalTime>
  <Words>3694</Words>
  <Application>Microsoft Office PowerPoint</Application>
  <PresentationFormat>On-screen Show (4:3)</PresentationFormat>
  <Paragraphs>463</Paragraphs>
  <Slides>80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80</vt:i4>
      </vt:variant>
    </vt:vector>
  </HeadingPairs>
  <TitlesOfParts>
    <vt:vector size="89" baseType="lpstr">
      <vt:lpstr>Arial</vt:lpstr>
      <vt:lpstr>Arial Unicode MS</vt:lpstr>
      <vt:lpstr>Calibri</vt:lpstr>
      <vt:lpstr>Calibri Light</vt:lpstr>
      <vt:lpstr>Nunito</vt:lpstr>
      <vt:lpstr>Segoe UI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Brijesh Vala</cp:lastModifiedBy>
  <cp:revision>448</cp:revision>
  <dcterms:created xsi:type="dcterms:W3CDTF">2024-12-13T07:18:04Z</dcterms:created>
  <dcterms:modified xsi:type="dcterms:W3CDTF">2026-01-27T07:40:48Z</dcterms:modified>
</cp:coreProperties>
</file>